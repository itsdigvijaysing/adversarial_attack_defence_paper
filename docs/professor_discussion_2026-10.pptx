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idea" id="{5b6b47ed-7caf-22a4-820a-9478303ff37f}">
          <p14:sldIdLst>
            <p14:sldId id="256"/>
            <p14:sldId id="257"/>
            <p14:sldId id="258"/>
            <p14:sldId id="259"/>
            <p14:sldId id="260"/>
          </p14:sldIdLst>
        </p14:section>
        <p14:section name="Results" id="{fceadb02-7e8a-282d-4130-4507ef4306b5}">
          <p14:sldIdLst>
            <p14:sldId id="261"/>
            <p14:sldId id="262"/>
            <p14:sldId id="263"/>
          </p14:sldIdLst>
        </p14:section>
        <p14:section name="Reviews and next step" id="{85aaa74d-d425-a650-9950-d2ea5f2747f5}">
          <p14:sldIdLst>
            <p14:sldId id="264"/>
            <p14:sldId id="265"/>
            <p14:sldId id="266"/>
          </p14:sldIdLst>
        </p14:section>
        <p14:section name="Options" id="{76649b36-8879-28e6-7edd-76b3bf2f7f6b}">
          <p14:sldIdLst>
            <p14:sldId id="267"/>
            <p14:sldId id="268"/>
            <p14:sldId id="269"/>
          </p14:sldIdLst>
        </p14:section>
        <p14:section name="Discussion" id="{59f8020d-4f4c-3ac5-846e-ccf48a5a6201}">
          <p14:sldIdLst>
            <p14:sldId id="270"/>
          </p14:sldIdLst>
        </p14:section>
        <p14:section name="Backup" id="{5190dabb-9ceb-c440-1247-1b9b6a83f370}">
          <p14:sldIdLst>
            <p14:sldId id="271"/>
            <p14:sldId id="272"/>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24"/>
                </a:solidFill>
                <a:latin typeface="+mn-lt"/>
              </a:defRPr>
            </a:pPr>
            <a:r>
              <a:rPr sz="1400" b="0" i="0" u="none" strike="noStrike">
                <a:solidFill>
                  <a:srgbClr val="1B1F24"/>
                </a:solidFill>
                <a:latin typeface="+mn-lt"/>
              </a:rPr>
              <a:t>YOLO-World mAP (clean 0.452)</a:t>
            </a:r>
          </a:p>
        </c:rich>
      </c:tx>
      <c:layout/>
      <c:overlay val="0"/>
    </c:title>
    <c:autoTitleDeleted val="0"/>
    <c:plotArea>
      <c:layout/>
      <c:barChart>
        <c:barDir val="col"/>
        <c:grouping val="clustered"/>
        <c:varyColors val="0"/>
        <c:ser>
          <c:idx val="0"/>
          <c:order val="0"/>
          <c:tx>
            <c:strRef>
              <c:f>Sheet1!$B$1</c:f>
              <c:strCache>
                <c:ptCount val="1"/>
                <c:pt idx="0">
                  <c:v>Attacked</c:v>
                </c:pt>
              </c:strCache>
            </c:strRef>
          </c:tx>
          <c:spPr>
            <a:solidFill>
              <a:srgbClr val="D9482B"/>
            </a:solidFill>
            <a:effectLst/>
          </c:spPr>
          <c:invertIfNegative val="0"/>
          <c:dLbls>
            <c:numFmt formatCode="0.00" sourceLinked="0"/>
            <c:txPr>
              <a:bodyPr/>
              <a:lstStyle/>
              <a:p>
                <a:pPr>
                  <a:defRPr b="0" i="0" strike="noStrike" sz="1000" u="none">
                    <a:solidFill>
                      <a:srgbClr val="1B1F24"/>
                    </a:solidFill>
                    <a:latin typeface="+mn-lt"/>
                  </a:defRPr>
                </a:pPr>
              </a:p>
            </c:txPr>
            <c:showLegendKey val="0"/>
            <c:showVal val="1"/>
            <c:showCatName val="0"/>
            <c:showSerName val="0"/>
            <c:showPercent val="0"/>
            <c:showBubbleSize val="0"/>
            <c:showLeaderLines val="0"/>
          </c:dLbls>
          <c:cat>
            <c:multiLvlStrRef>
              <c:f>Sheet1!$A$2:$A$4</c:f>
              <c:multiLvlStrCache>
                <c:ptCount val="3"/>
                <c:lvl>
                  <c:pt idx="0">
                    <c:v>FGSM</c:v>
                  </c:pt>
                  <c:pt idx="1">
                    <c:v>PGD</c:v>
                  </c:pt>
                  <c:pt idx="2">
                    <c:v>Patch</c:v>
                  </c:pt>
                </c:lvl>
              </c:multiLvlStrCache>
            </c:multiLvlStrRef>
          </c:cat>
          <c:val>
            <c:numRef>
              <c:f>Sheet1!$B$2:$B$4</c:f>
              <c:numCache>
                <c:formatCode>General</c:formatCode>
                <c:ptCount val="3"/>
                <c:pt idx="0">
                  <c:v>0.2051</c:v>
                </c:pt>
                <c:pt idx="1">
                  <c:v>0.0619</c:v>
                </c:pt>
                <c:pt idx="2">
                  <c:v>0.4257</c:v>
                </c:pt>
              </c:numCache>
            </c:numRef>
          </c:val>
        </c:ser>
        <c:ser>
          <c:idx val="1"/>
          <c:order val="1"/>
          <c:tx>
            <c:strRef>
              <c:f>Sheet1!$C$1</c:f>
              <c:strCache>
                <c:ptCount val="1"/>
                <c:pt idx="0">
                  <c:v>Median (3×3)</c:v>
                </c:pt>
              </c:strCache>
            </c:strRef>
          </c:tx>
          <c:spPr>
            <a:solidFill>
              <a:srgbClr val="A8D0CB"/>
            </a:solidFill>
            <a:effectLst/>
          </c:spPr>
          <c:invertIfNegative val="0"/>
          <c:dLbls>
            <c:numFmt formatCode="0.00" sourceLinked="0"/>
            <c:txPr>
              <a:bodyPr/>
              <a:lstStyle/>
              <a:p>
                <a:pPr>
                  <a:defRPr b="0" i="0" strike="noStrike" sz="1000" u="none">
                    <a:solidFill>
                      <a:srgbClr val="1B1F24"/>
                    </a:solidFill>
                    <a:latin typeface="+mn-lt"/>
                  </a:defRPr>
                </a:pPr>
              </a:p>
            </c:txPr>
            <c:showLegendKey val="0"/>
            <c:showVal val="1"/>
            <c:showCatName val="0"/>
            <c:showSerName val="0"/>
            <c:showPercent val="0"/>
            <c:showBubbleSize val="0"/>
            <c:showLeaderLines val="0"/>
          </c:dLbls>
          <c:cat>
            <c:multiLvlStrRef>
              <c:f>Sheet1!$A$2:$A$4</c:f>
              <c:multiLvlStrCache>
                <c:ptCount val="3"/>
                <c:lvl>
                  <c:pt idx="0">
                    <c:v>FGSM</c:v>
                  </c:pt>
                  <c:pt idx="1">
                    <c:v>PGD</c:v>
                  </c:pt>
                  <c:pt idx="2">
                    <c:v>Patch</c:v>
                  </c:pt>
                </c:lvl>
              </c:multiLvlStrCache>
            </c:multiLvlStrRef>
          </c:cat>
          <c:val>
            <c:numRef>
              <c:f>Sheet1!$C$2:$C$4</c:f>
              <c:numCache>
                <c:formatCode>General</c:formatCode>
                <c:ptCount val="3"/>
                <c:pt idx="0">
                  <c:v>0.275</c:v>
                </c:pt>
                <c:pt idx="1">
                  <c:v>0.3525</c:v>
                </c:pt>
                <c:pt idx="2">
                  <c:v>0.4299</c:v>
                </c:pt>
              </c:numCache>
            </c:numRef>
          </c:val>
        </c:ser>
        <c:ser>
          <c:idx val="2"/>
          <c:order val="2"/>
          <c:tx>
            <c:strRef>
              <c:f>Sheet1!$D$1</c:f>
              <c:strCache>
                <c:ptCount val="1"/>
                <c:pt idx="0">
                  <c:v>EnsJMG</c:v>
                </c:pt>
              </c:strCache>
            </c:strRef>
          </c:tx>
          <c:spPr>
            <a:solidFill>
              <a:srgbClr val="0F7C78"/>
            </a:solidFill>
            <a:effectLst/>
          </c:spPr>
          <c:invertIfNegative val="0"/>
          <c:dLbls>
            <c:numFmt formatCode="0.00" sourceLinked="0"/>
            <c:txPr>
              <a:bodyPr/>
              <a:lstStyle/>
              <a:p>
                <a:pPr>
                  <a:defRPr b="0" i="0" strike="noStrike" sz="1000" u="none">
                    <a:solidFill>
                      <a:srgbClr val="1B1F24"/>
                    </a:solidFill>
                    <a:latin typeface="+mn-lt"/>
                  </a:defRPr>
                </a:pPr>
              </a:p>
            </c:txPr>
            <c:showLegendKey val="0"/>
            <c:showVal val="1"/>
            <c:showCatName val="0"/>
            <c:showSerName val="0"/>
            <c:showPercent val="0"/>
            <c:showBubbleSize val="0"/>
            <c:showLeaderLines val="0"/>
          </c:dLbls>
          <c:cat>
            <c:multiLvlStrRef>
              <c:f>Sheet1!$A$2:$A$4</c:f>
              <c:multiLvlStrCache>
                <c:ptCount val="3"/>
                <c:lvl>
                  <c:pt idx="0">
                    <c:v>FGSM</c:v>
                  </c:pt>
                  <c:pt idx="1">
                    <c:v>PGD</c:v>
                  </c:pt>
                  <c:pt idx="2">
                    <c:v>Patch</c:v>
                  </c:pt>
                </c:lvl>
              </c:multiLvlStrCache>
            </c:multiLvlStrRef>
          </c:cat>
          <c:val>
            <c:numRef>
              <c:f>Sheet1!$D$2:$D$4</c:f>
              <c:numCache>
                <c:formatCode>General</c:formatCode>
                <c:ptCount val="3"/>
                <c:pt idx="0">
                  <c:v>0.2882</c:v>
                </c:pt>
                <c:pt idx="1">
                  <c:v>0.3853</c:v>
                </c:pt>
                <c:pt idx="2">
                  <c:v>0.4366</c:v>
                </c:pt>
              </c:numCache>
            </c:numRef>
          </c:val>
        </c:ser>
        <c:dLbls>
          <c:numFmt formatCode="0.00" sourceLinked="0"/>
          <c:txPr>
            <a:bodyPr/>
            <a:lstStyle/>
            <a:p>
              <a:pPr>
                <a:defRPr b="0" i="0" strike="noStrike" sz="1000" u="none">
                  <a:solidFill>
                    <a:srgbClr val="1B1F24"/>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1F24"/>
                </a:solidFill>
                <a:latin typeface="+mn-lt"/>
              </a:defRPr>
            </a:pPr>
            <a:endParaRPr lang="en-US"/>
          </a:p>
        </c:txPr>
        <c:crossAx val="2094734552"/>
        <c:crosses val="autoZero"/>
        <c:auto val="1"/>
        <c:lblAlgn val="ctr"/>
        <c:noMultiLvlLbl val="1"/>
      </c:catAx>
      <c:valAx>
        <c:axId val="2094734552"/>
        <c:scaling>
          <c:orientation val="minMax"/>
          <c:max val="0.5"/>
          <c:min val="0"/>
        </c:scaling>
        <c:delete val="0"/>
        <c:axPos val="l"/>
        <c:majorGridlines>
          <c:spPr>
            <a:ln w="9525" cap="flat">
              <a:solidFill>
                <a:srgbClr val="DDE3E2"/>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785"/>
                </a:solidFill>
                <a:latin typeface="+mn-lt"/>
              </a:defRPr>
            </a:pPr>
            <a:endParaRPr lang="en-US"/>
          </a:p>
        </c:txPr>
        <c:crossAx val="2094734554"/>
        <c:crosses val="autoZero"/>
        <c:crossBetween val="between"/>
        <c:majorUnit val="0.1"/>
      </c:valAx>
      <c:spPr>
        <a:noFill/>
        <a:ln>
          <a:noFill/>
        </a:ln>
        <a:effectLst/>
      </c:spPr>
    </c:plotArea>
    <c:legend>
      <c:legendPos val="b"/>
      <c:overlay val="0"/>
      <c:txPr>
        <a:bodyPr/>
        <a:lstStyle/>
        <a:p>
          <a:pPr>
            <a:defRPr sz="1100">
              <a:solidFill>
                <a:srgbClr val="1B1F24"/>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24"/>
                </a:solidFill>
                <a:latin typeface="+mn-lt"/>
              </a:defRPr>
            </a:pPr>
            <a:r>
              <a:rPr sz="1400" b="0" i="0" u="none" strike="noStrike">
                <a:solidFill>
                  <a:srgbClr val="1B1F24"/>
                </a:solidFill>
                <a:latin typeface="+mn-lt"/>
              </a:rPr>
              <a:t>Florence-2 mAP (clean 0.330)</a:t>
            </a:r>
          </a:p>
        </c:rich>
      </c:tx>
      <c:layout/>
      <c:overlay val="0"/>
    </c:title>
    <c:autoTitleDeleted val="0"/>
    <c:plotArea>
      <c:layout/>
      <c:barChart>
        <c:barDir val="col"/>
        <c:grouping val="clustered"/>
        <c:varyColors val="0"/>
        <c:ser>
          <c:idx val="0"/>
          <c:order val="0"/>
          <c:tx>
            <c:strRef>
              <c:f>Sheet1!$B$1</c:f>
              <c:strCache>
                <c:ptCount val="1"/>
                <c:pt idx="0">
                  <c:v>Attacked</c:v>
                </c:pt>
              </c:strCache>
            </c:strRef>
          </c:tx>
          <c:spPr>
            <a:solidFill>
              <a:srgbClr val="D9482B"/>
            </a:solidFill>
            <a:effectLst/>
          </c:spPr>
          <c:invertIfNegative val="0"/>
          <c:dLbls>
            <c:numFmt formatCode="0.00" sourceLinked="0"/>
            <c:txPr>
              <a:bodyPr/>
              <a:lstStyle/>
              <a:p>
                <a:pPr>
                  <a:defRPr b="0" i="0" strike="noStrike" sz="1000" u="none">
                    <a:solidFill>
                      <a:srgbClr val="1B1F24"/>
                    </a:solidFill>
                    <a:latin typeface="+mn-lt"/>
                  </a:defRPr>
                </a:pPr>
              </a:p>
            </c:txPr>
            <c:showLegendKey val="0"/>
            <c:showVal val="1"/>
            <c:showCatName val="0"/>
            <c:showSerName val="0"/>
            <c:showPercent val="0"/>
            <c:showBubbleSize val="0"/>
            <c:showLeaderLines val="0"/>
          </c:dLbls>
          <c:cat>
            <c:multiLvlStrRef>
              <c:f>Sheet1!$A$2:$A$4</c:f>
              <c:multiLvlStrCache>
                <c:ptCount val="3"/>
                <c:lvl>
                  <c:pt idx="0">
                    <c:v>FGSM</c:v>
                  </c:pt>
                  <c:pt idx="1">
                    <c:v>PGD</c:v>
                  </c:pt>
                  <c:pt idx="2">
                    <c:v>Patch</c:v>
                  </c:pt>
                </c:lvl>
              </c:multiLvlStrCache>
            </c:multiLvlStrRef>
          </c:cat>
          <c:val>
            <c:numRef>
              <c:f>Sheet1!$B$2:$B$4</c:f>
              <c:numCache>
                <c:formatCode>General</c:formatCode>
                <c:ptCount val="3"/>
                <c:pt idx="0">
                  <c:v>0.2488</c:v>
                </c:pt>
                <c:pt idx="1">
                  <c:v>0.2005</c:v>
                </c:pt>
                <c:pt idx="2">
                  <c:v>0.2958</c:v>
                </c:pt>
              </c:numCache>
            </c:numRef>
          </c:val>
        </c:ser>
        <c:ser>
          <c:idx val="1"/>
          <c:order val="1"/>
          <c:tx>
            <c:strRef>
              <c:f>Sheet1!$C$1</c:f>
              <c:strCache>
                <c:ptCount val="1"/>
                <c:pt idx="0">
                  <c:v>Median (3×3)</c:v>
                </c:pt>
              </c:strCache>
            </c:strRef>
          </c:tx>
          <c:spPr>
            <a:solidFill>
              <a:srgbClr val="A8D0CB"/>
            </a:solidFill>
            <a:effectLst/>
          </c:spPr>
          <c:invertIfNegative val="0"/>
          <c:dLbls>
            <c:numFmt formatCode="0.00" sourceLinked="0"/>
            <c:txPr>
              <a:bodyPr/>
              <a:lstStyle/>
              <a:p>
                <a:pPr>
                  <a:defRPr b="0" i="0" strike="noStrike" sz="1000" u="none">
                    <a:solidFill>
                      <a:srgbClr val="1B1F24"/>
                    </a:solidFill>
                    <a:latin typeface="+mn-lt"/>
                  </a:defRPr>
                </a:pPr>
              </a:p>
            </c:txPr>
            <c:showLegendKey val="0"/>
            <c:showVal val="1"/>
            <c:showCatName val="0"/>
            <c:showSerName val="0"/>
            <c:showPercent val="0"/>
            <c:showBubbleSize val="0"/>
            <c:showLeaderLines val="0"/>
          </c:dLbls>
          <c:cat>
            <c:multiLvlStrRef>
              <c:f>Sheet1!$A$2:$A$4</c:f>
              <c:multiLvlStrCache>
                <c:ptCount val="3"/>
                <c:lvl>
                  <c:pt idx="0">
                    <c:v>FGSM</c:v>
                  </c:pt>
                  <c:pt idx="1">
                    <c:v>PGD</c:v>
                  </c:pt>
                  <c:pt idx="2">
                    <c:v>Patch</c:v>
                  </c:pt>
                </c:lvl>
              </c:multiLvlStrCache>
            </c:multiLvlStrRef>
          </c:cat>
          <c:val>
            <c:numRef>
              <c:f>Sheet1!$C$2:$C$4</c:f>
              <c:numCache>
                <c:formatCode>General</c:formatCode>
                <c:ptCount val="3"/>
                <c:pt idx="0">
                  <c:v>0.291</c:v>
                </c:pt>
                <c:pt idx="1">
                  <c:v>0.2881</c:v>
                </c:pt>
                <c:pt idx="2">
                  <c:v>0.3032</c:v>
                </c:pt>
              </c:numCache>
            </c:numRef>
          </c:val>
        </c:ser>
        <c:ser>
          <c:idx val="2"/>
          <c:order val="2"/>
          <c:tx>
            <c:strRef>
              <c:f>Sheet1!$D$1</c:f>
              <c:strCache>
                <c:ptCount val="1"/>
                <c:pt idx="0">
                  <c:v>EnsJMG</c:v>
                </c:pt>
              </c:strCache>
            </c:strRef>
          </c:tx>
          <c:spPr>
            <a:solidFill>
              <a:srgbClr val="0F7C78"/>
            </a:solidFill>
            <a:effectLst/>
          </c:spPr>
          <c:invertIfNegative val="0"/>
          <c:dLbls>
            <c:numFmt formatCode="0.00" sourceLinked="0"/>
            <c:txPr>
              <a:bodyPr/>
              <a:lstStyle/>
              <a:p>
                <a:pPr>
                  <a:defRPr b="0" i="0" strike="noStrike" sz="1000" u="none">
                    <a:solidFill>
                      <a:srgbClr val="1B1F24"/>
                    </a:solidFill>
                    <a:latin typeface="+mn-lt"/>
                  </a:defRPr>
                </a:pPr>
              </a:p>
            </c:txPr>
            <c:showLegendKey val="0"/>
            <c:showVal val="1"/>
            <c:showCatName val="0"/>
            <c:showSerName val="0"/>
            <c:showPercent val="0"/>
            <c:showBubbleSize val="0"/>
            <c:showLeaderLines val="0"/>
          </c:dLbls>
          <c:cat>
            <c:multiLvlStrRef>
              <c:f>Sheet1!$A$2:$A$4</c:f>
              <c:multiLvlStrCache>
                <c:ptCount val="3"/>
                <c:lvl>
                  <c:pt idx="0">
                    <c:v>FGSM</c:v>
                  </c:pt>
                  <c:pt idx="1">
                    <c:v>PGD</c:v>
                  </c:pt>
                  <c:pt idx="2">
                    <c:v>Patch</c:v>
                  </c:pt>
                </c:lvl>
              </c:multiLvlStrCache>
            </c:multiLvlStrRef>
          </c:cat>
          <c:val>
            <c:numRef>
              <c:f>Sheet1!$D$2:$D$4</c:f>
              <c:numCache>
                <c:formatCode>General</c:formatCode>
                <c:ptCount val="3"/>
                <c:pt idx="0">
                  <c:v>0.2934</c:v>
                </c:pt>
                <c:pt idx="1">
                  <c:v>0.2957</c:v>
                </c:pt>
                <c:pt idx="2">
                  <c:v>0.3057</c:v>
                </c:pt>
              </c:numCache>
            </c:numRef>
          </c:val>
        </c:ser>
        <c:dLbls>
          <c:numFmt formatCode="0.00" sourceLinked="0"/>
          <c:txPr>
            <a:bodyPr/>
            <a:lstStyle/>
            <a:p>
              <a:pPr>
                <a:defRPr b="0" i="0" strike="noStrike" sz="1000" u="none">
                  <a:solidFill>
                    <a:srgbClr val="1B1F24"/>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1F24"/>
                </a:solidFill>
                <a:latin typeface="+mn-lt"/>
              </a:defRPr>
            </a:pPr>
            <a:endParaRPr lang="en-US"/>
          </a:p>
        </c:txPr>
        <c:crossAx val="2094734552"/>
        <c:crosses val="autoZero"/>
        <c:auto val="1"/>
        <c:lblAlgn val="ctr"/>
        <c:noMultiLvlLbl val="1"/>
      </c:catAx>
      <c:valAx>
        <c:axId val="2094734552"/>
        <c:scaling>
          <c:orientation val="minMax"/>
          <c:max val="0.5"/>
          <c:min val="0"/>
        </c:scaling>
        <c:delete val="0"/>
        <c:axPos val="l"/>
        <c:majorGridlines>
          <c:spPr>
            <a:ln w="9525" cap="flat">
              <a:solidFill>
                <a:srgbClr val="DDE3E2"/>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785"/>
                </a:solidFill>
                <a:latin typeface="+mn-lt"/>
              </a:defRPr>
            </a:pPr>
            <a:endParaRPr lang="en-US"/>
          </a:p>
        </c:txPr>
        <c:crossAx val="2094734554"/>
        <c:crosses val="autoZero"/>
        <c:crossBetween val="between"/>
        <c:majorUnit val="0.1"/>
      </c:valAx>
      <c:spPr>
        <a:noFill/>
        <a:ln>
          <a:noFill/>
        </a:ln>
        <a:effectLst/>
      </c:spPr>
    </c:plotArea>
    <c:legend>
      <c:legendPos val="b"/>
      <c:overlay val="0"/>
      <c:txPr>
        <a:bodyPr/>
        <a:lstStyle/>
        <a:p>
          <a:pPr>
            <a:defRPr sz="1100">
              <a:solidFill>
                <a:srgbClr val="1B1F24"/>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24"/>
                </a:solidFill>
                <a:latin typeface="+mn-lt"/>
              </a:defRPr>
            </a:pPr>
            <a:r>
              <a:rPr sz="1400" b="0" i="0" u="none" strike="noStrike">
                <a:solidFill>
                  <a:srgbClr val="1B1F24"/>
                </a:solidFill>
                <a:latin typeface="+mn-lt"/>
              </a:rPr>
              <a:t>mAP points lost on clean images (lower is better)</a:t>
            </a:r>
          </a:p>
        </c:rich>
      </c:tx>
      <c:layout/>
      <c:overlay val="0"/>
    </c:title>
    <c:autoTitleDeleted val="0"/>
    <c:plotArea>
      <c:layout/>
      <c:barChart>
        <c:barDir val="col"/>
        <c:grouping val="clustered"/>
        <c:varyColors val="0"/>
        <c:ser>
          <c:idx val="0"/>
          <c:order val="0"/>
          <c:tx>
            <c:strRef>
              <c:f>Sheet1!$B$1</c:f>
              <c:strCache>
                <c:ptCount val="1"/>
                <c:pt idx="0">
                  <c:v>YOLO-World</c:v>
                </c:pt>
              </c:strCache>
            </c:strRef>
          </c:tx>
          <c:spPr>
            <a:solidFill>
              <a:srgbClr val="1F4E5F"/>
            </a:solidFill>
            <a:effectLst/>
          </c:spPr>
          <c:invertIfNegative val="0"/>
          <c:dLbls>
            <c:numFmt formatCode="0.0" sourceLinked="0"/>
            <c:txPr>
              <a:bodyPr/>
              <a:lstStyle/>
              <a:p>
                <a:pPr>
                  <a:defRPr b="0" i="0" strike="noStrike" sz="1000" u="none">
                    <a:solidFill>
                      <a:srgbClr val="1B1F24"/>
                    </a:solidFill>
                    <a:latin typeface="+mn-lt"/>
                  </a:defRPr>
                </a:pPr>
              </a:p>
            </c:txPr>
            <c:showLegendKey val="0"/>
            <c:showVal val="1"/>
            <c:showCatName val="0"/>
            <c:showSerName val="0"/>
            <c:showPercent val="0"/>
            <c:showBubbleSize val="0"/>
            <c:showLeaderLines val="0"/>
          </c:dLbls>
          <c:cat>
            <c:multiLvlStrRef>
              <c:f>Sheet1!$A$2:$A$9</c:f>
              <c:multiLvlStrCache>
                <c:ptCount val="8"/>
                <c:lvl>
                  <c:pt idx="0">
                    <c:v>JPEG</c:v>
                  </c:pt>
                  <c:pt idx="1">
                    <c:v>Median</c:v>
                  </c:pt>
                  <c:pt idx="2">
                    <c:v>Gaussian</c:v>
                  </c:pt>
                  <c:pt idx="3">
                    <c:v>TVM</c:v>
                  </c:pt>
                  <c:pt idx="4">
                    <c:v>Blur+TVM</c:v>
                  </c:pt>
                  <c:pt idx="5">
                    <c:v>EnsJMG</c:v>
                  </c:pt>
                  <c:pt idx="6">
                    <c:v>EnsJMT</c:v>
                  </c:pt>
                  <c:pt idx="7">
                    <c:v>EnsBTC</c:v>
                  </c:pt>
                </c:lvl>
              </c:multiLvlStrCache>
            </c:multiLvlStrRef>
          </c:cat>
          <c:val>
            <c:numRef>
              <c:f>Sheet1!$B$2:$B$9</c:f>
              <c:numCache>
                <c:formatCode>General</c:formatCode>
                <c:ptCount val="8"/>
                <c:pt idx="0">
                  <c:v>2.4</c:v>
                </c:pt>
                <c:pt idx="1">
                  <c:v>1.8</c:v>
                </c:pt>
                <c:pt idx="2">
                  <c:v>1.5</c:v>
                </c:pt>
                <c:pt idx="3">
                  <c:v>2.9</c:v>
                </c:pt>
                <c:pt idx="4">
                  <c:v>6.2</c:v>
                </c:pt>
                <c:pt idx="5">
                  <c:v>1.1</c:v>
                </c:pt>
                <c:pt idx="6">
                  <c:v>0.9</c:v>
                </c:pt>
                <c:pt idx="7">
                  <c:v>1.2</c:v>
                </c:pt>
              </c:numCache>
            </c:numRef>
          </c:val>
        </c:ser>
        <c:ser>
          <c:idx val="1"/>
          <c:order val="1"/>
          <c:tx>
            <c:strRef>
              <c:f>Sheet1!$C$1</c:f>
              <c:strCache>
                <c:ptCount val="1"/>
                <c:pt idx="0">
                  <c:v>Florence-2</c:v>
                </c:pt>
              </c:strCache>
            </c:strRef>
          </c:tx>
          <c:spPr>
            <a:solidFill>
              <a:srgbClr val="E9A23B"/>
            </a:solidFill>
            <a:effectLst/>
          </c:spPr>
          <c:invertIfNegative val="0"/>
          <c:dLbls>
            <c:numFmt formatCode="0.0" sourceLinked="0"/>
            <c:txPr>
              <a:bodyPr/>
              <a:lstStyle/>
              <a:p>
                <a:pPr>
                  <a:defRPr b="0" i="0" strike="noStrike" sz="1000" u="none">
                    <a:solidFill>
                      <a:srgbClr val="1B1F24"/>
                    </a:solidFill>
                    <a:latin typeface="+mn-lt"/>
                  </a:defRPr>
                </a:pPr>
              </a:p>
            </c:txPr>
            <c:showLegendKey val="0"/>
            <c:showVal val="1"/>
            <c:showCatName val="0"/>
            <c:showSerName val="0"/>
            <c:showPercent val="0"/>
            <c:showBubbleSize val="0"/>
            <c:showLeaderLines val="0"/>
          </c:dLbls>
          <c:cat>
            <c:multiLvlStrRef>
              <c:f>Sheet1!$A$2:$A$9</c:f>
              <c:multiLvlStrCache>
                <c:ptCount val="8"/>
                <c:lvl>
                  <c:pt idx="0">
                    <c:v>JPEG</c:v>
                  </c:pt>
                  <c:pt idx="1">
                    <c:v>Median</c:v>
                  </c:pt>
                  <c:pt idx="2">
                    <c:v>Gaussian</c:v>
                  </c:pt>
                  <c:pt idx="3">
                    <c:v>TVM</c:v>
                  </c:pt>
                  <c:pt idx="4">
                    <c:v>Blur+TVM</c:v>
                  </c:pt>
                  <c:pt idx="5">
                    <c:v>EnsJMG</c:v>
                  </c:pt>
                  <c:pt idx="6">
                    <c:v>EnsJMT</c:v>
                  </c:pt>
                  <c:pt idx="7">
                    <c:v>EnsBTC</c:v>
                  </c:pt>
                </c:lvl>
              </c:multiLvlStrCache>
            </c:multiLvlStrRef>
          </c:cat>
          <c:val>
            <c:numRef>
              <c:f>Sheet1!$C$2:$C$9</c:f>
              <c:numCache>
                <c:formatCode>General</c:formatCode>
                <c:ptCount val="8"/>
                <c:pt idx="0">
                  <c:v>0.8</c:v>
                </c:pt>
                <c:pt idx="1">
                  <c:v>0.8</c:v>
                </c:pt>
                <c:pt idx="2">
                  <c:v>6.9</c:v>
                </c:pt>
                <c:pt idx="3">
                  <c:v>7.1</c:v>
                </c:pt>
                <c:pt idx="4">
                  <c:v>9.5</c:v>
                </c:pt>
                <c:pt idx="5">
                  <c:v>0.9</c:v>
                </c:pt>
                <c:pt idx="6">
                  <c:v>0.4</c:v>
                </c:pt>
                <c:pt idx="7">
                  <c:v>0.9</c:v>
                </c:pt>
              </c:numCache>
            </c:numRef>
          </c:val>
        </c:ser>
        <c:dLbls>
          <c:numFmt formatCode="0.0" sourceLinked="0"/>
          <c:txPr>
            <a:bodyPr/>
            <a:lstStyle/>
            <a:p>
              <a:pPr>
                <a:defRPr b="0" i="0" strike="noStrike" sz="1000" u="none">
                  <a:solidFill>
                    <a:srgbClr val="1B1F24"/>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1F24"/>
                </a:solidFill>
                <a:latin typeface="+mn-lt"/>
              </a:defRPr>
            </a:pPr>
            <a:endParaRPr lang="en-US"/>
          </a:p>
        </c:txPr>
        <c:crossAx val="2094734552"/>
        <c:crosses val="autoZero"/>
        <c:auto val="1"/>
        <c:lblAlgn val="ctr"/>
        <c:noMultiLvlLbl val="1"/>
      </c:catAx>
      <c:valAx>
        <c:axId val="2094734552"/>
        <c:scaling>
          <c:orientation val="minMax"/>
          <c:max val="10"/>
          <c:min val="0"/>
        </c:scaling>
        <c:delete val="0"/>
        <c:axPos val="l"/>
        <c:majorGridlines>
          <c:spPr>
            <a:ln w="9525" cap="flat">
              <a:solidFill>
                <a:srgbClr val="DDE3E2"/>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785"/>
                </a:solidFill>
                <a:latin typeface="+mn-lt"/>
              </a:defRPr>
            </a:pPr>
            <a:endParaRPr lang="en-US"/>
          </a:p>
        </c:txPr>
        <c:crossAx val="2094734554"/>
        <c:crosses val="autoZero"/>
        <c:crossBetween val="between"/>
        <c:majorUnit val="2"/>
      </c:valAx>
      <c:spPr>
        <a:noFill/>
        <a:ln>
          <a:noFill/>
        </a:ln>
        <a:effectLst/>
      </c:spPr>
    </c:plotArea>
    <c:legend>
      <c:legendPos val="b"/>
      <c:overlay val="0"/>
      <c:txPr>
        <a:bodyPr/>
        <a:lstStyle/>
        <a:p>
          <a:pPr>
            <a:defRPr sz="1100">
              <a:solidFill>
                <a:srgbClr val="1B1F24"/>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In about 15 minutes: the idea, what we built and tried, the results, what the workshop reviewers asked for and what we did, and then the options for the next version. We would most like your view on the questions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COCO image from our paper. Left: clean detections. Middle: a PGD attack with epsilon 0.03 removes half of them, although the image looks unchanged. Right: our three-filter block brings back 11 of 12. The idea from the start: a simple pre-processing block that needs no fine-tuning and no heavy machinery, which you can put in front of any model to reduce the attack's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was our APSCON 2026 paper on Florence-2. In phase 2 we screened eight filters and four chained pipelines; every chain with NLM or random resizing failed, which pushed us from chaining filters to running them in parallel and merging the outputs. Phase 3 added YOLO-World and the OCR task, first on 1,000 images, then the full 20-defense survey on all 5,000 images, which went to the ECCV workshop. Phase 4 is the work since the reviews.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very different frozen models: Florence-2 generates tokens, including box coordinates and OCR text; YOLO-World is a CNN detector with a text-conditioned head. Same 5,000 COCO images for both. Three standard white-box attacks. Twenty defenses, none of them trained. The attacker so far is blind: it knows the model but not our block. The adaptive attacker is our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EnsJMG, the ensemble we recommend. The attacked image goes through three filters in parallel, the frozen model runs on each filtered copy, and the three box sets are merged with class-aware NMS, so it is a union: a box survives if any one branch still detects it. Each filter removes a different kind of noise, and the merge only needs one of them to succeed. The cost is three model passes instead of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5,000 images. Red is the attacked model, light teal Median alone, dark teal the EnsJMG block. PGD is the strongest attack: YOLO falls from 0.45 to 0.06 mAP, and the block brings it back to 0.39, 85 percent of clean. Florence falls less and recovers to 90 percent of clean. The digital patch does little damage to either model, so there is little to recover there. On OCR, PGD drops the similarity to 0.29 and the best filters bring it back to about 0.65.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every defense from the 5,000-image survey, as the change against the attacked model, in points. Green means it helped. The ensembles, shaded, help in all nine settings, and so does Median alone. Gaussian and JPEG help in eight of nine. NLM, bit-depth and SVD barely help or hurt, which matches what we saw in phase 2. Patch columns are all small because the patch hurt little in the first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shield you attach to any model must not cost much on clean images. We measured that for the eight defenses of our 1,000-image runs, with bootstrap confidence intervals. The ensembles cost about one mAP point on YOLO and nothing measurable on Florence. Blur-type filters alone, Gaussian, TVM and Blur+TVM, cost Florence 7 to 10 points, yet inside the ensemble the merge hides that cost: Gaussian alone loses 6.9 points, EnsJMG only 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workshop was EmergingAD at ECCV 2026. Scores 4 and 6, with low reviewer confidence. The central request was an adaptive attacker, one that knows our filters. That attack is now written and tested on CPU; it needs a GPU run. Clean-image cost and error bars are done, computed from the outputs we already had. The paper is restructured around four research questions. OCR ground truth and the venue are still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the noise was computed on the model alone, and the block was a surprise to the attacker. The reviewers asked for the adaptive case, where the attacker computes its noise through the block as well. Two standard tools make that possible: BPDA approximates the gradient of filters like JPEG and Median, and EOT optimises over all branches. Our twist: because the merge keeps a box if any branch keeps it, the usual average over branches is too weak; the fair attacker pushes down the strongest branch. That makes the test fair to our design, and it is our main novelty.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answer: we do not know yet, because the run needs the full dataset and a GPU. In favour: the attacker has to beat three different filters at once, two of which have no gradient. Against: in classification, Athalye and colleagues broke this family of input-transform defenses with exactly BPDA and EOT, and He and colleagues showed that ensembles of weak defenses are not strong. So we expect some drop; the question is how large. Every outcome gives a paper, and if it breaks there are training-free ways to harden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filters are all classic signal processing. The obvious modern addition is diffusion purification, DiffPure. It still fits the plug-and-play story, because the diffusion model is pretrained and nothing is fine-tuned, but it is slow, and it is known to be hard to attack fairly. It could be a baseline or a fourth branch in our merge. HGD is the classic learned denoiser against adversarial noise, but it is trained per model, which breaks plug-and-play. Generic denoisers are pretrained on random noise and do poorly on adversarial noise. We lean towards DiffPure.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Could one equation or one filter reproduce the ensemble, at a third of the compute? Exactly, no: the ensemble combines detections after the model, not pixels, and two of the three filters are non-linear. What is possible is averaging the three filtered images and running the model once, a fair equal-compute comparison, or chaining the filters, which we tried in phase 2 and which costs the most clean accuracy. A trained network that imitates the ensemble would be differentiable and so easier to attack. We would value your view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Side by side. A is the reviewers' request and our novelty, and the cheapest of the GPU options. B makes the comparison current but is expensive. C answers the one-filter question at low cost. D would give the OCR track real accuracy numbers from COCO-Text, if enough of our images are covered. E only matters if A breaks the block. On venue, TMLR judges correctness rather than novelty; a CVPR or ICCV workshop needs one sharp finding. The new paper must clearly extend our APSCON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decisions we would most like your advice on. The first is the most important: whether an honest adaptive test of a training-free block is enough of a contribution, or whether a strong workshop will expect a new 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slides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5,000-image detection table. EnsJMG is JPEG + Median + Gaussian; the other ensembles combine three or four of the solo filters.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OCR track. COCO has no text labels, so the score is the similarity to the model's own clean reading; that is why COCO-Text is option D. Ensembles here use a consensus vote over the branch outputs, not NMS.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Re-scored from the 1,000-image outputs with paired bootstrap intervals. On YOLO the best ensemble clearly beats Median alone. On Florence the difference is within noise, so for Florence a one-pass Median block may be the better trade. These are image-sampling intervals; each attack is one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Clean cost is the defended mAP on clean images minus the undefended clean mAP. On YOLO every defense has a small measurable cost; ensembles are the cheapest at about one point. On Florence, JPEG, Median and the ensembles have no measurable cost; the blur-type filters cost 7 to 10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models are attacked with different losses and in different pixel spaces. Florence's epsilon is in ImageNet-normalized space, about 1.7/255 in pixels; YOLO's is in raw pixels, 7.65/255, about 4.4 times larger. So the two models' damage is not directly comparable.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74520"/>
            <a:ext cx="10058400" cy="17830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886200"/>
            <a:ext cx="9875520" cy="100584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rtlCol="0"/>
          <a:lstStyle>
            <a:lvl1pPr indent="0" marL="0">
              <a:buNone/>
              <a:defRPr lang="en-US" sz="1200" b="1" spc="1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566928"/>
            <a:ext cx="11094415" cy="6858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4" name="Text 0"/>
          <p:cNvSpPr/>
          <p:nvPr/>
        </p:nvSpPr>
        <p:spPr>
          <a:xfrm>
            <a:off x="548640" y="6400800"/>
            <a:ext cx="5486400" cy="256032"/>
          </a:xfrm>
          <a:prstGeom prst="rect">
            <a:avLst/>
          </a:prstGeom>
          <a:noFill/>
          <a:ln/>
        </p:spPr>
        <p:txBody>
          <a:bodyPr wrap="square" lIns="0" tIns="0" rIns="0" bIns="0" rtlCol="0" anchor="ctr"/>
          <a:lstStyle/>
          <a:p>
            <a:pPr indent="0" marL="0">
              <a:buNone/>
            </a:pPr>
            <a:r>
              <a:rPr lang="en-US" sz="1000" dirty="0">
                <a:solidFill>
                  <a:schemeClr val="accent4"/>
                </a:solidFill>
              </a:rPr>
              <a:t>Research discussion · October 2026</a:t>
            </a:r>
            <a:endParaRPr lang="en-US" sz="1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rtlCol="0"/>
          <a:lstStyle>
            <a:lvl1pPr indent="0" marL="0">
              <a:buNone/>
              <a:defRPr lang="en-US" sz="1200" b="1" spc="100" kern="0" dirty="0">
                <a:solidFill>
                  <a:schemeClr val="accent6"/>
                </a:solidFill>
              </a:defRPr>
            </a:lvl1pPr>
          </a:lstStyle>
          <a:p>
            <a:pPr indent="0" marL="0">
              <a:buNone/>
            </a:pPr>
            <a:endParaRPr lang="en-US" sz="1200" dirty="0"/>
          </a:p>
        </p:txBody>
      </p:sp>
      <p:sp>
        <p:nvSpPr>
          <p:cNvPr id="3" name="Text 0"/>
          <p:cNvSpPr/>
          <p:nvPr>
            <p:ph idx="101" type="title" hasCustomPrompt="1"/>
          </p:nvPr>
        </p:nvSpPr>
        <p:spPr>
          <a:xfrm>
            <a:off x="548640" y="566928"/>
            <a:ext cx="11094415" cy="68580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0058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566160"/>
            <a:ext cx="10698480" cy="73152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3.xml"/><Relationship Id="rId5"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31520" y="914400"/>
            <a:ext cx="777240" cy="777240"/>
          </a:xfrm>
          <a:prstGeom prst="ellipse">
            <a:avLst/>
          </a:prstGeom>
          <a:solidFill>
            <a:schemeClr val="accent1"/>
          </a:solidFill>
          <a:ln/>
        </p:spPr>
      </p:sp>
      <p:pic>
        <p:nvPicPr>
          <p:cNvPr id="3" name="Image 0" descr="FaShieldHalved">    </p:cNvPr>
          <p:cNvPicPr>
            <a:picLocks noChangeAspect="1"/>
          </p:cNvPicPr>
          <p:nvPr/>
        </p:nvPicPr>
        <p:blipFill>
          <a:blip r:embed="rId1"/>
          <a:stretch>
            <a:fillRect/>
          </a:stretch>
        </p:blipFill>
        <p:spPr>
          <a:xfrm>
            <a:off x="918058" y="1100938"/>
            <a:ext cx="404165" cy="404165"/>
          </a:xfrm>
          <a:prstGeom prst="rect">
            <a:avLst/>
          </a:prstGeom>
        </p:spPr>
      </p:pic>
      <p:sp>
        <p:nvSpPr>
          <p:cNvPr id="4" name="Text 0"/>
          <p:cNvSpPr/>
          <p:nvPr>
            <p:ph idx="100" type="title" hasCustomPrompt="1"/>
          </p:nvPr>
        </p:nvSpPr>
        <p:spPr>
          <a:xfrm>
            <a:off x="731520" y="1874520"/>
            <a:ext cx="10058400" cy="1783080"/>
          </a:xfrm>
          <a:prstGeom prst="rect">
            <a:avLst/>
          </a:prstGeom>
          <a:noFill/>
          <a:ln/>
        </p:spPr>
        <p:txBody>
          <a:bodyPr wrap="square" lIns="0" tIns="0" rIns="0" bIns="0" rtlCol="0" anchor="b"/>
          <a:lstStyle/>
          <a:p>
            <a:pPr algn="l" indent="0" marL="0">
              <a:buNone/>
            </a:pPr>
            <a:r>
              <a:rPr lang="en-US" sz="4000" b="1" dirty="0">
                <a:solidFill>
                  <a:schemeClr val="bg1"/>
                </a:solidFill>
              </a:rPr>
              <a:t>A plug-and-play shield against adversarial attacks</a:t>
            </a:r>
            <a:endParaRPr lang="en-US" sz="4000" dirty="0"/>
          </a:p>
        </p:txBody>
      </p:sp>
      <p:sp>
        <p:nvSpPr>
          <p:cNvPr id="5" name="Text 0"/>
          <p:cNvSpPr/>
          <p:nvPr>
            <p:ph idx="101" type="body" hasCustomPrompt="1"/>
          </p:nvPr>
        </p:nvSpPr>
        <p:spPr>
          <a:xfrm>
            <a:off x="731520" y="3886200"/>
            <a:ext cx="9875520" cy="1005840"/>
          </a:xfrm>
          <a:prstGeom prst="rect">
            <a:avLst/>
          </a:prstGeom>
          <a:noFill/>
          <a:ln/>
        </p:spPr>
        <p:txBody>
          <a:bodyPr wrap="square" lIns="0" tIns="0" rIns="0" bIns="0" rtlCol="0" anchor="t"/>
          <a:lstStyle/>
          <a:p>
            <a:pPr indent="0" marL="0">
              <a:buNone/>
            </a:pPr>
            <a:r>
              <a:rPr lang="en-US" sz="1800" dirty="0">
                <a:solidFill>
                  <a:schemeClr val="accent6"/>
                </a:solidFill>
              </a:rPr>
              <a:t>Training-free input filters in front of any frozen vision model, tested on Florence-2 and YOLO-World over all 5,000 COCO val images. Where we are, and the options we are weighing.</a:t>
            </a:r>
            <a:endParaRPr lang="en-US" sz="1800" dirty="0"/>
          </a:p>
        </p:txBody>
      </p:sp>
      <p:sp>
        <p:nvSpPr>
          <p:cNvPr id="6" name="Text 3"/>
          <p:cNvSpPr txBox="1"/>
          <p:nvPr/>
        </p:nvSpPr>
        <p:spPr>
          <a:xfrm>
            <a:off x="731520" y="5989320"/>
            <a:ext cx="7315200" cy="320040"/>
          </a:xfrm>
          <a:prstGeom prst="rect">
            <a:avLst/>
          </a:prstGeom>
          <a:noFill/>
          <a:ln/>
        </p:spPr>
        <p:txBody>
          <a:bodyPr wrap="square" lIns="0" tIns="0" rIns="0" bIns="0" rtlCol="0" anchor="t"/>
          <a:lstStyle/>
          <a:p>
            <a:pPr indent="0" marL="0">
              <a:buNone/>
            </a:pPr>
            <a:r>
              <a:rPr lang="en-US" sz="1200" dirty="0">
                <a:solidFill>
                  <a:schemeClr val="accent6"/>
                </a:solidFill>
              </a:rPr>
              <a:t>Research discussion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1 · THE IDEA</a:t>
            </a:r>
            <a:endParaRPr lang="en-US" sz="1200" dirty="0"/>
          </a:p>
        </p:txBody>
      </p:sp>
      <p:sp>
        <p:nvSpPr>
          <p:cNvPr id="3" name="Text 0"/>
          <p:cNvSpPr/>
          <p:nvPr>
            <p:ph idx="101"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Can a plug-in filter block undo adversarial attacks?</a:t>
            </a:r>
            <a:endParaRPr lang="en-US" sz="3200" dirty="0"/>
          </a:p>
        </p:txBody>
      </p:sp>
      <p:pic>
        <p:nvPicPr>
          <p:cNvPr id="4" name="Image 0" descr="One COCO image: clean detections, detections after a PGD attack, and detections after the JPEG + Median + Gaussian ensemble">    </p:cNvPr>
          <p:cNvPicPr>
            <a:picLocks noChangeAspect="1"/>
          </p:cNvPicPr>
          <p:nvPr/>
        </p:nvPicPr>
        <p:blipFill>
          <a:blip r:embed="rId1"/>
          <a:stretch>
            <a:fillRect/>
          </a:stretch>
        </p:blipFill>
        <p:spPr>
          <a:xfrm>
            <a:off x="548640" y="1463040"/>
            <a:ext cx="11094415" cy="2282663"/>
          </a:xfrm>
          <a:prstGeom prst="rect">
            <a:avLst/>
          </a:prstGeom>
        </p:spPr>
      </p:pic>
      <p:sp>
        <p:nvSpPr>
          <p:cNvPr id="5" name="Text 2"/>
          <p:cNvSpPr txBox="1"/>
          <p:nvPr/>
        </p:nvSpPr>
        <p:spPr>
          <a:xfrm>
            <a:off x="548640" y="3818855"/>
            <a:ext cx="3698138" cy="292608"/>
          </a:xfrm>
          <a:prstGeom prst="rect">
            <a:avLst/>
          </a:prstGeom>
          <a:noFill/>
          <a:ln/>
        </p:spPr>
        <p:txBody>
          <a:bodyPr wrap="square" lIns="0" tIns="0" rIns="0" bIns="0" rtlCol="0" anchor="t"/>
          <a:lstStyle/>
          <a:p>
            <a:pPr algn="ctr" indent="0" marL="0">
              <a:buNone/>
            </a:pPr>
            <a:r>
              <a:rPr lang="en-US" sz="1200" b="1" dirty="0">
                <a:solidFill>
                  <a:schemeClr val="accent4"/>
                </a:solidFill>
              </a:rPr>
              <a:t>Clean · 12 detections</a:t>
            </a:r>
            <a:endParaRPr lang="en-US" sz="1200" dirty="0"/>
          </a:p>
        </p:txBody>
      </p:sp>
      <p:sp>
        <p:nvSpPr>
          <p:cNvPr id="6" name="Text 3"/>
          <p:cNvSpPr txBox="1"/>
          <p:nvPr/>
        </p:nvSpPr>
        <p:spPr>
          <a:xfrm>
            <a:off x="4246778" y="3818855"/>
            <a:ext cx="3698138" cy="292608"/>
          </a:xfrm>
          <a:prstGeom prst="rect">
            <a:avLst/>
          </a:prstGeom>
          <a:noFill/>
          <a:ln/>
        </p:spPr>
        <p:txBody>
          <a:bodyPr wrap="square" lIns="0" tIns="0" rIns="0" bIns="0" rtlCol="0" anchor="t"/>
          <a:lstStyle/>
          <a:p>
            <a:pPr algn="ctr" indent="0" marL="0">
              <a:buNone/>
            </a:pPr>
            <a:r>
              <a:rPr lang="en-US" sz="1200" b="1" dirty="0">
                <a:solidFill>
                  <a:schemeClr val="accent2"/>
                </a:solidFill>
              </a:rPr>
              <a:t>PGD attack (ε = 0.03) · 6 detections</a:t>
            </a:r>
            <a:endParaRPr lang="en-US" sz="1200" dirty="0"/>
          </a:p>
        </p:txBody>
      </p:sp>
      <p:sp>
        <p:nvSpPr>
          <p:cNvPr id="7" name="Text 4"/>
          <p:cNvSpPr txBox="1"/>
          <p:nvPr/>
        </p:nvSpPr>
        <p:spPr>
          <a:xfrm>
            <a:off x="7944917" y="3818855"/>
            <a:ext cx="3698138" cy="292608"/>
          </a:xfrm>
          <a:prstGeom prst="rect">
            <a:avLst/>
          </a:prstGeom>
          <a:noFill/>
          <a:ln/>
        </p:spPr>
        <p:txBody>
          <a:bodyPr wrap="square" lIns="0" tIns="0" rIns="0" bIns="0" rtlCol="0" anchor="t"/>
          <a:lstStyle/>
          <a:p>
            <a:pPr algn="ctr" indent="0" marL="0">
              <a:buNone/>
            </a:pPr>
            <a:r>
              <a:rPr lang="en-US" sz="1200" b="1" dirty="0">
                <a:solidFill>
                  <a:schemeClr val="accent1"/>
                </a:solidFill>
              </a:rPr>
              <a:t>Our 3-filter block · 11 detections</a:t>
            </a:r>
            <a:endParaRPr lang="en-US" sz="1200" dirty="0"/>
          </a:p>
        </p:txBody>
      </p:sp>
      <p:sp>
        <p:nvSpPr>
          <p:cNvPr id="8" name="Shape 5"/>
          <p:cNvSpPr/>
          <p:nvPr/>
        </p:nvSpPr>
        <p:spPr>
          <a:xfrm>
            <a:off x="548640" y="4343400"/>
            <a:ext cx="3545738" cy="1783080"/>
          </a:xfrm>
          <a:prstGeom prst="roundRect">
            <a:avLst>
              <a:gd name="adj" fmla="val 4103"/>
            </a:avLst>
          </a:prstGeom>
          <a:solidFill>
            <a:schemeClr val="bg2"/>
          </a:solidFill>
          <a:ln/>
          <a:effectLst>
            <a:outerShdw sx="100000" sy="100000" kx="0" ky="0" algn="bl" rotWithShape="0" blurRad="76200" dist="25400" dir="5400000">
              <a:srgbClr val="1B1F24">
                <a:alpha val="12000"/>
              </a:srgbClr>
            </a:outerShdw>
          </a:effectLst>
        </p:spPr>
      </p:sp>
      <p:sp>
        <p:nvSpPr>
          <p:cNvPr id="9" name="Shape 6"/>
          <p:cNvSpPr/>
          <p:nvPr/>
        </p:nvSpPr>
        <p:spPr>
          <a:xfrm>
            <a:off x="777240" y="4544568"/>
            <a:ext cx="475488" cy="475488"/>
          </a:xfrm>
          <a:prstGeom prst="ellipse">
            <a:avLst/>
          </a:prstGeom>
          <a:solidFill>
            <a:schemeClr val="accent2"/>
          </a:solidFill>
          <a:ln/>
        </p:spPr>
      </p:sp>
      <p:pic>
        <p:nvPicPr>
          <p:cNvPr id="10" name="Image 1" descr="FaEyeSlash">    </p:cNvPr>
          <p:cNvPicPr>
            <a:picLocks noChangeAspect="1"/>
          </p:cNvPicPr>
          <p:nvPr/>
        </p:nvPicPr>
        <p:blipFill>
          <a:blip r:embed="rId2"/>
          <a:stretch>
            <a:fillRect/>
          </a:stretch>
        </p:blipFill>
        <p:spPr>
          <a:xfrm>
            <a:off x="891357" y="4658685"/>
            <a:ext cx="247254" cy="247254"/>
          </a:xfrm>
          <a:prstGeom prst="rect">
            <a:avLst/>
          </a:prstGeom>
        </p:spPr>
      </p:pic>
      <p:sp>
        <p:nvSpPr>
          <p:cNvPr id="11" name="Text 7"/>
          <p:cNvSpPr txBox="1"/>
          <p:nvPr/>
        </p:nvSpPr>
        <p:spPr>
          <a:xfrm>
            <a:off x="1417320" y="4562856"/>
            <a:ext cx="2448458" cy="438912"/>
          </a:xfrm>
          <a:prstGeom prst="rect">
            <a:avLst/>
          </a:prstGeom>
          <a:noFill/>
          <a:ln/>
        </p:spPr>
        <p:txBody>
          <a:bodyPr wrap="square" lIns="0" tIns="0" rIns="0" bIns="0" rtlCol="0" anchor="ctr"/>
          <a:lstStyle/>
          <a:p>
            <a:pPr indent="0" marL="0">
              <a:buNone/>
            </a:pPr>
            <a:r>
              <a:rPr lang="en-US" sz="1600" b="1" dirty="0">
                <a:solidFill>
                  <a:schemeClr val="tx1"/>
                </a:solidFill>
              </a:rPr>
              <a:t>The attack</a:t>
            </a:r>
            <a:endParaRPr lang="en-US" sz="1600" dirty="0"/>
          </a:p>
        </p:txBody>
      </p:sp>
      <p:sp>
        <p:nvSpPr>
          <p:cNvPr id="12" name="Text 8"/>
          <p:cNvSpPr txBox="1"/>
          <p:nvPr/>
        </p:nvSpPr>
        <p:spPr>
          <a:xfrm>
            <a:off x="777240" y="5120640"/>
            <a:ext cx="3088538" cy="914400"/>
          </a:xfrm>
          <a:prstGeom prst="rect">
            <a:avLst/>
          </a:prstGeom>
          <a:noFill/>
          <a:ln/>
        </p:spPr>
        <p:txBody>
          <a:bodyPr wrap="square" lIns="0" tIns="0" rIns="0" bIns="0" rtlCol="0" anchor="t"/>
          <a:lstStyle/>
          <a:p>
            <a:pPr indent="0" marL="0">
              <a:buNone/>
            </a:pPr>
            <a:r>
              <a:rPr lang="en-US" sz="1400" dirty="0">
                <a:solidFill>
                  <a:schemeClr val="tx1"/>
                </a:solidFill>
              </a:rPr>
              <a:t>Invisible noise (at most 8/255 per pixel), computed from the model's own gradients.</a:t>
            </a:r>
            <a:endParaRPr lang="en-US" sz="1400" dirty="0"/>
          </a:p>
        </p:txBody>
      </p:sp>
      <p:sp>
        <p:nvSpPr>
          <p:cNvPr id="13" name="Shape 9"/>
          <p:cNvSpPr/>
          <p:nvPr/>
        </p:nvSpPr>
        <p:spPr>
          <a:xfrm>
            <a:off x="4322978" y="4343400"/>
            <a:ext cx="3545738" cy="1783080"/>
          </a:xfrm>
          <a:prstGeom prst="roundRect">
            <a:avLst>
              <a:gd name="adj" fmla="val 4103"/>
            </a:avLst>
          </a:prstGeom>
          <a:solidFill>
            <a:schemeClr val="bg2"/>
          </a:solidFill>
          <a:ln/>
          <a:effectLst>
            <a:outerShdw sx="100000" sy="100000" kx="0" ky="0" algn="bl" rotWithShape="0" blurRad="76200" dist="25400" dir="5400000">
              <a:srgbClr val="1B1F24">
                <a:alpha val="12000"/>
              </a:srgbClr>
            </a:outerShdw>
          </a:effectLst>
        </p:spPr>
      </p:sp>
      <p:sp>
        <p:nvSpPr>
          <p:cNvPr id="14" name="Shape 10"/>
          <p:cNvSpPr/>
          <p:nvPr/>
        </p:nvSpPr>
        <p:spPr>
          <a:xfrm>
            <a:off x="4551578" y="4544568"/>
            <a:ext cx="475488" cy="475488"/>
          </a:xfrm>
          <a:prstGeom prst="ellipse">
            <a:avLst/>
          </a:prstGeom>
          <a:solidFill>
            <a:schemeClr val="accent1"/>
          </a:solidFill>
          <a:ln/>
        </p:spPr>
      </p:sp>
      <p:pic>
        <p:nvPicPr>
          <p:cNvPr id="15" name="Image 2" descr="FaPuzzlePiece">    </p:cNvPr>
          <p:cNvPicPr>
            <a:picLocks noChangeAspect="1"/>
          </p:cNvPicPr>
          <p:nvPr/>
        </p:nvPicPr>
        <p:blipFill>
          <a:blip r:embed="rId3"/>
          <a:stretch>
            <a:fillRect/>
          </a:stretch>
        </p:blipFill>
        <p:spPr>
          <a:xfrm>
            <a:off x="4665696" y="4658685"/>
            <a:ext cx="247254" cy="247254"/>
          </a:xfrm>
          <a:prstGeom prst="rect">
            <a:avLst/>
          </a:prstGeom>
        </p:spPr>
      </p:pic>
      <p:sp>
        <p:nvSpPr>
          <p:cNvPr id="16" name="Text 11"/>
          <p:cNvSpPr txBox="1"/>
          <p:nvPr/>
        </p:nvSpPr>
        <p:spPr>
          <a:xfrm>
            <a:off x="5191658" y="4562856"/>
            <a:ext cx="2448458" cy="438912"/>
          </a:xfrm>
          <a:prstGeom prst="rect">
            <a:avLst/>
          </a:prstGeom>
          <a:noFill/>
          <a:ln/>
        </p:spPr>
        <p:txBody>
          <a:bodyPr wrap="square" lIns="0" tIns="0" rIns="0" bIns="0" rtlCol="0" anchor="ctr"/>
          <a:lstStyle/>
          <a:p>
            <a:pPr indent="0" marL="0">
              <a:buNone/>
            </a:pPr>
            <a:r>
              <a:rPr lang="en-US" sz="1600" b="1" dirty="0">
                <a:solidFill>
                  <a:schemeClr val="tx1"/>
                </a:solidFill>
              </a:rPr>
              <a:t>Our block</a:t>
            </a:r>
            <a:endParaRPr lang="en-US" sz="1600" dirty="0"/>
          </a:p>
        </p:txBody>
      </p:sp>
      <p:sp>
        <p:nvSpPr>
          <p:cNvPr id="17" name="Text 12"/>
          <p:cNvSpPr txBox="1"/>
          <p:nvPr/>
        </p:nvSpPr>
        <p:spPr>
          <a:xfrm>
            <a:off x="4551578" y="5120640"/>
            <a:ext cx="3088538" cy="914400"/>
          </a:xfrm>
          <a:prstGeom prst="rect">
            <a:avLst/>
          </a:prstGeom>
          <a:noFill/>
          <a:ln/>
        </p:spPr>
        <p:txBody>
          <a:bodyPr wrap="square" lIns="0" tIns="0" rIns="0" bIns="0" rtlCol="0" anchor="t"/>
          <a:lstStyle/>
          <a:p>
            <a:pPr indent="0" marL="0">
              <a:buNone/>
            </a:pPr>
            <a:r>
              <a:rPr lang="en-US" sz="1400" dirty="0">
                <a:solidFill>
                  <a:schemeClr val="tx1"/>
                </a:solidFill>
              </a:rPr>
              <a:t>Filters in front of the model. No fine-tuning, no extra network: attach it to any model.</a:t>
            </a:r>
            <a:endParaRPr lang="en-US" sz="1400" dirty="0"/>
          </a:p>
        </p:txBody>
      </p:sp>
      <p:sp>
        <p:nvSpPr>
          <p:cNvPr id="18" name="Shape 13"/>
          <p:cNvSpPr/>
          <p:nvPr/>
        </p:nvSpPr>
        <p:spPr>
          <a:xfrm>
            <a:off x="8097317" y="4343400"/>
            <a:ext cx="3545738" cy="1783080"/>
          </a:xfrm>
          <a:prstGeom prst="roundRect">
            <a:avLst>
              <a:gd name="adj" fmla="val 4103"/>
            </a:avLst>
          </a:prstGeom>
          <a:solidFill>
            <a:schemeClr val="bg2"/>
          </a:solidFill>
          <a:ln/>
          <a:effectLst>
            <a:outerShdw sx="100000" sy="100000" kx="0" ky="0" algn="bl" rotWithShape="0" blurRad="76200" dist="25400" dir="5400000">
              <a:srgbClr val="1B1F24">
                <a:alpha val="12000"/>
              </a:srgbClr>
            </a:outerShdw>
          </a:effectLst>
        </p:spPr>
      </p:sp>
      <p:sp>
        <p:nvSpPr>
          <p:cNvPr id="19" name="Shape 14"/>
          <p:cNvSpPr/>
          <p:nvPr/>
        </p:nvSpPr>
        <p:spPr>
          <a:xfrm>
            <a:off x="8325917" y="4544568"/>
            <a:ext cx="475488" cy="475488"/>
          </a:xfrm>
          <a:prstGeom prst="ellipse">
            <a:avLst/>
          </a:prstGeom>
          <a:solidFill>
            <a:schemeClr val="accent5"/>
          </a:solidFill>
          <a:ln/>
        </p:spPr>
      </p:sp>
      <p:pic>
        <p:nvPicPr>
          <p:cNvPr id="20" name="Image 3" descr="FaBullseye">    </p:cNvPr>
          <p:cNvPicPr>
            <a:picLocks noChangeAspect="1"/>
          </p:cNvPicPr>
          <p:nvPr/>
        </p:nvPicPr>
        <p:blipFill>
          <a:blip r:embed="rId4"/>
          <a:stretch>
            <a:fillRect/>
          </a:stretch>
        </p:blipFill>
        <p:spPr>
          <a:xfrm>
            <a:off x="8440034" y="4658685"/>
            <a:ext cx="247254" cy="247254"/>
          </a:xfrm>
          <a:prstGeom prst="rect">
            <a:avLst/>
          </a:prstGeom>
        </p:spPr>
      </p:pic>
      <p:sp>
        <p:nvSpPr>
          <p:cNvPr id="21" name="Text 15"/>
          <p:cNvSpPr txBox="1"/>
          <p:nvPr/>
        </p:nvSpPr>
        <p:spPr>
          <a:xfrm>
            <a:off x="8965997" y="4562856"/>
            <a:ext cx="2448458" cy="438912"/>
          </a:xfrm>
          <a:prstGeom prst="rect">
            <a:avLst/>
          </a:prstGeom>
          <a:noFill/>
          <a:ln/>
        </p:spPr>
        <p:txBody>
          <a:bodyPr wrap="square" lIns="0" tIns="0" rIns="0" bIns="0" rtlCol="0" anchor="ctr"/>
          <a:lstStyle/>
          <a:p>
            <a:pPr indent="0" marL="0">
              <a:buNone/>
            </a:pPr>
            <a:r>
              <a:rPr lang="en-US" sz="1600" b="1" dirty="0">
                <a:solidFill>
                  <a:schemeClr val="tx1"/>
                </a:solidFill>
              </a:rPr>
              <a:t>Our study</a:t>
            </a:r>
            <a:endParaRPr lang="en-US" sz="1600" dirty="0"/>
          </a:p>
        </p:txBody>
      </p:sp>
      <p:sp>
        <p:nvSpPr>
          <p:cNvPr id="22" name="Text 16"/>
          <p:cNvSpPr txBox="1"/>
          <p:nvPr/>
        </p:nvSpPr>
        <p:spPr>
          <a:xfrm>
            <a:off x="8325917" y="5120640"/>
            <a:ext cx="3088538" cy="914400"/>
          </a:xfrm>
          <a:prstGeom prst="rect">
            <a:avLst/>
          </a:prstGeom>
          <a:noFill/>
          <a:ln/>
        </p:spPr>
        <p:txBody>
          <a:bodyPr wrap="square" lIns="0" tIns="0" rIns="0" bIns="0" rtlCol="0" anchor="t"/>
          <a:lstStyle/>
          <a:p>
            <a:pPr indent="0" marL="0">
              <a:buNone/>
            </a:pPr>
            <a:r>
              <a:rPr lang="en-US" sz="1400" dirty="0">
                <a:solidFill>
                  <a:schemeClr val="tx1"/>
                </a:solidFill>
              </a:rPr>
              <a:t>Which filters, alone or combined, protect which model, task and attack?</a:t>
            </a:r>
            <a:endParaRPr lang="en-US" sz="14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1 · THE IDEA</a:t>
            </a:r>
            <a:endParaRPr lang="en-US" sz="1200" dirty="0"/>
          </a:p>
        </p:txBody>
      </p:sp>
      <p:sp>
        <p:nvSpPr>
          <p:cNvPr id="3" name="Text 0"/>
          <p:cNvSpPr/>
          <p:nvPr>
            <p:ph idx="101"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How we got here: four phases</a:t>
            </a:r>
            <a:endParaRPr lang="en-US" sz="3200" dirty="0"/>
          </a:p>
        </p:txBody>
      </p:sp>
      <p:sp>
        <p:nvSpPr>
          <p:cNvPr id="4" name="Shape 2"/>
          <p:cNvSpPr/>
          <p:nvPr/>
        </p:nvSpPr>
        <p:spPr>
          <a:xfrm>
            <a:off x="1584930" y="1828800"/>
            <a:ext cx="9021836" cy="0"/>
          </a:xfrm>
          <a:prstGeom prst="line">
            <a:avLst/>
          </a:prstGeom>
          <a:noFill/>
          <a:ln w="38100">
            <a:solidFill>
              <a:schemeClr val="accent6"/>
            </a:solidFill>
            <a:prstDash val="solid"/>
          </a:ln>
        </p:spPr>
      </p:sp>
      <p:sp>
        <p:nvSpPr>
          <p:cNvPr id="5" name="Shape 3"/>
          <p:cNvSpPr/>
          <p:nvPr/>
        </p:nvSpPr>
        <p:spPr>
          <a:xfrm>
            <a:off x="1402050" y="1645920"/>
            <a:ext cx="365760" cy="365760"/>
          </a:xfrm>
          <a:prstGeom prst="ellipse">
            <a:avLst/>
          </a:prstGeom>
          <a:solidFill>
            <a:schemeClr val="accent4"/>
          </a:solidFill>
          <a:ln w="25400">
            <a:solidFill>
              <a:schemeClr val="bg1"/>
            </a:solidFill>
            <a:prstDash val="solid"/>
          </a:ln>
        </p:spPr>
      </p:sp>
      <p:sp>
        <p:nvSpPr>
          <p:cNvPr id="6" name="Text 4"/>
          <p:cNvSpPr txBox="1"/>
          <p:nvPr/>
        </p:nvSpPr>
        <p:spPr>
          <a:xfrm>
            <a:off x="548640" y="1261872"/>
            <a:ext cx="2072579" cy="292608"/>
          </a:xfrm>
          <a:prstGeom prst="rect">
            <a:avLst/>
          </a:prstGeom>
          <a:noFill/>
          <a:ln/>
        </p:spPr>
        <p:txBody>
          <a:bodyPr wrap="square" lIns="0" tIns="0" rIns="0" bIns="0" rtlCol="0" anchor="t"/>
          <a:lstStyle/>
          <a:p>
            <a:pPr algn="ctr" indent="0" marL="0">
              <a:buNone/>
            </a:pPr>
            <a:r>
              <a:rPr lang="en-US" sz="1400" b="1" dirty="0">
                <a:solidFill>
                  <a:schemeClr val="accent4"/>
                </a:solidFill>
              </a:rPr>
              <a:t>Phase 1</a:t>
            </a:r>
            <a:endParaRPr lang="en-US" sz="1400" dirty="0"/>
          </a:p>
        </p:txBody>
      </p:sp>
      <p:sp>
        <p:nvSpPr>
          <p:cNvPr id="7" name="Shape 5"/>
          <p:cNvSpPr/>
          <p:nvPr/>
        </p:nvSpPr>
        <p:spPr>
          <a:xfrm>
            <a:off x="548640" y="2240280"/>
            <a:ext cx="2072579" cy="2148840"/>
          </a:xfrm>
          <a:prstGeom prst="roundRect">
            <a:avLst>
              <a:gd name="adj" fmla="val 3530"/>
            </a:avLst>
          </a:prstGeom>
          <a:solidFill>
            <a:schemeClr val="bg2"/>
          </a:solidFill>
          <a:ln/>
          <a:effectLst>
            <a:outerShdw sx="100000" sy="100000" kx="0" ky="0" algn="bl" rotWithShape="0" blurRad="76200" dist="25400" dir="5400000">
              <a:srgbClr val="1B1F24">
                <a:alpha val="12000"/>
              </a:srgbClr>
            </a:outerShdw>
          </a:effectLst>
        </p:spPr>
      </p:sp>
      <p:sp>
        <p:nvSpPr>
          <p:cNvPr id="8" name="Text 6"/>
          <p:cNvSpPr txBox="1"/>
          <p:nvPr/>
        </p:nvSpPr>
        <p:spPr>
          <a:xfrm>
            <a:off x="713232" y="2395728"/>
            <a:ext cx="1743395" cy="1371600"/>
          </a:xfrm>
          <a:prstGeom prst="rect">
            <a:avLst/>
          </a:prstGeom>
          <a:noFill/>
          <a:ln/>
        </p:spPr>
        <p:txBody>
          <a:bodyPr wrap="square" lIns="0" tIns="0" rIns="0" bIns="0" rtlCol="0" anchor="t"/>
          <a:lstStyle/>
          <a:p>
            <a:pPr indent="0" marL="0">
              <a:buNone/>
            </a:pPr>
            <a:r>
              <a:rPr lang="en-US" sz="1400" b="1" dirty="0">
                <a:solidFill>
                  <a:schemeClr val="tx1"/>
                </a:solidFill>
              </a:rPr>
              <a:t>Florence-2 under FGSM and PGD, first filter defenses</a:t>
            </a:r>
            <a:endParaRPr lang="en-US" sz="1400" dirty="0"/>
          </a:p>
        </p:txBody>
      </p:sp>
      <p:sp>
        <p:nvSpPr>
          <p:cNvPr id="9" name="Shape 7"/>
          <p:cNvSpPr/>
          <p:nvPr/>
        </p:nvSpPr>
        <p:spPr>
          <a:xfrm>
            <a:off x="713232" y="3474720"/>
            <a:ext cx="1743395" cy="0"/>
          </a:xfrm>
          <a:prstGeom prst="line">
            <a:avLst/>
          </a:prstGeom>
          <a:noFill/>
          <a:ln w="12700">
            <a:solidFill>
              <a:schemeClr val="accent6"/>
            </a:solidFill>
            <a:prstDash val="solid"/>
          </a:ln>
        </p:spPr>
      </p:sp>
      <p:sp>
        <p:nvSpPr>
          <p:cNvPr id="10" name="Text 8"/>
          <p:cNvSpPr txBox="1"/>
          <p:nvPr/>
        </p:nvSpPr>
        <p:spPr>
          <a:xfrm>
            <a:off x="713232" y="3566160"/>
            <a:ext cx="1743395" cy="777240"/>
          </a:xfrm>
          <a:prstGeom prst="rect">
            <a:avLst/>
          </a:prstGeom>
          <a:noFill/>
          <a:ln/>
        </p:spPr>
        <p:txBody>
          <a:bodyPr wrap="square" lIns="0" tIns="0" rIns="0" bIns="0" rtlCol="0" anchor="t"/>
          <a:lstStyle/>
          <a:p>
            <a:pPr indent="0" marL="0">
              <a:buNone/>
            </a:pPr>
            <a:r>
              <a:rPr lang="en-US" sz="1200" dirty="0">
                <a:solidFill>
                  <a:schemeClr val="accent5"/>
                </a:solidFill>
              </a:rPr>
              <a:t>Published: IEEE APSCON 2026</a:t>
            </a:r>
            <a:endParaRPr lang="en-US" sz="1200" dirty="0"/>
          </a:p>
        </p:txBody>
      </p:sp>
      <p:sp>
        <p:nvSpPr>
          <p:cNvPr id="11" name="Shape 9"/>
          <p:cNvSpPr/>
          <p:nvPr/>
        </p:nvSpPr>
        <p:spPr>
          <a:xfrm>
            <a:off x="3657509" y="1645920"/>
            <a:ext cx="365760" cy="365760"/>
          </a:xfrm>
          <a:prstGeom prst="ellipse">
            <a:avLst/>
          </a:prstGeom>
          <a:solidFill>
            <a:schemeClr val="accent4"/>
          </a:solidFill>
          <a:ln w="25400">
            <a:solidFill>
              <a:schemeClr val="bg1"/>
            </a:solidFill>
            <a:prstDash val="solid"/>
          </a:ln>
        </p:spPr>
      </p:sp>
      <p:sp>
        <p:nvSpPr>
          <p:cNvPr id="12" name="Text 10"/>
          <p:cNvSpPr txBox="1"/>
          <p:nvPr/>
        </p:nvSpPr>
        <p:spPr>
          <a:xfrm>
            <a:off x="2804099" y="1261872"/>
            <a:ext cx="2072579" cy="292608"/>
          </a:xfrm>
          <a:prstGeom prst="rect">
            <a:avLst/>
          </a:prstGeom>
          <a:noFill/>
          <a:ln/>
        </p:spPr>
        <p:txBody>
          <a:bodyPr wrap="square" lIns="0" tIns="0" rIns="0" bIns="0" rtlCol="0" anchor="t"/>
          <a:lstStyle/>
          <a:p>
            <a:pPr algn="ctr" indent="0" marL="0">
              <a:buNone/>
            </a:pPr>
            <a:r>
              <a:rPr lang="en-US" sz="1400" b="1" dirty="0">
                <a:solidFill>
                  <a:schemeClr val="accent4"/>
                </a:solidFill>
              </a:rPr>
              <a:t>Phase 2</a:t>
            </a:r>
            <a:endParaRPr lang="en-US" sz="1400" dirty="0"/>
          </a:p>
        </p:txBody>
      </p:sp>
      <p:sp>
        <p:nvSpPr>
          <p:cNvPr id="13" name="Shape 11"/>
          <p:cNvSpPr/>
          <p:nvPr/>
        </p:nvSpPr>
        <p:spPr>
          <a:xfrm>
            <a:off x="2804099" y="2240280"/>
            <a:ext cx="2072579" cy="2148840"/>
          </a:xfrm>
          <a:prstGeom prst="roundRect">
            <a:avLst>
              <a:gd name="adj" fmla="val 3530"/>
            </a:avLst>
          </a:prstGeom>
          <a:solidFill>
            <a:schemeClr val="bg2"/>
          </a:solidFill>
          <a:ln/>
          <a:effectLst>
            <a:outerShdw sx="100000" sy="100000" kx="0" ky="0" algn="bl" rotWithShape="0" blurRad="76200" dist="25400" dir="5400000">
              <a:srgbClr val="1B1F24">
                <a:alpha val="12000"/>
              </a:srgbClr>
            </a:outerShdw>
          </a:effectLst>
        </p:spPr>
      </p:sp>
      <p:sp>
        <p:nvSpPr>
          <p:cNvPr id="14" name="Text 12"/>
          <p:cNvSpPr txBox="1"/>
          <p:nvPr/>
        </p:nvSpPr>
        <p:spPr>
          <a:xfrm>
            <a:off x="2968691" y="2395728"/>
            <a:ext cx="1743395" cy="1371600"/>
          </a:xfrm>
          <a:prstGeom prst="rect">
            <a:avLst/>
          </a:prstGeom>
          <a:noFill/>
          <a:ln/>
        </p:spPr>
        <p:txBody>
          <a:bodyPr wrap="square" lIns="0" tIns="0" rIns="0" bIns="0" rtlCol="0" anchor="t"/>
          <a:lstStyle/>
          <a:p>
            <a:pPr indent="0" marL="0">
              <a:buNone/>
            </a:pPr>
            <a:r>
              <a:rPr lang="en-US" sz="1400" b="1" dirty="0">
                <a:solidFill>
                  <a:schemeClr val="tx1"/>
                </a:solidFill>
              </a:rPr>
              <a:t>Screened 8 filters and 4 chained pipelines (Florence, 1,000 images)</a:t>
            </a:r>
            <a:endParaRPr lang="en-US" sz="1400" dirty="0"/>
          </a:p>
        </p:txBody>
      </p:sp>
      <p:sp>
        <p:nvSpPr>
          <p:cNvPr id="15" name="Shape 13"/>
          <p:cNvSpPr/>
          <p:nvPr/>
        </p:nvSpPr>
        <p:spPr>
          <a:xfrm>
            <a:off x="2968691" y="3474720"/>
            <a:ext cx="1743395" cy="0"/>
          </a:xfrm>
          <a:prstGeom prst="line">
            <a:avLst/>
          </a:prstGeom>
          <a:noFill/>
          <a:ln w="12700">
            <a:solidFill>
              <a:schemeClr val="accent6"/>
            </a:solidFill>
            <a:prstDash val="solid"/>
          </a:ln>
        </p:spPr>
      </p:sp>
      <p:sp>
        <p:nvSpPr>
          <p:cNvPr id="16" name="Text 14"/>
          <p:cNvSpPr txBox="1"/>
          <p:nvPr/>
        </p:nvSpPr>
        <p:spPr>
          <a:xfrm>
            <a:off x="2968691" y="3566160"/>
            <a:ext cx="1743395" cy="777240"/>
          </a:xfrm>
          <a:prstGeom prst="rect">
            <a:avLst/>
          </a:prstGeom>
          <a:noFill/>
          <a:ln/>
        </p:spPr>
        <p:txBody>
          <a:bodyPr wrap="square" lIns="0" tIns="0" rIns="0" bIns="0" rtlCol="0" anchor="t"/>
          <a:lstStyle/>
          <a:p>
            <a:pPr indent="0" marL="0">
              <a:buNone/>
            </a:pPr>
            <a:r>
              <a:rPr lang="en-US" sz="1200" dirty="0">
                <a:solidFill>
                  <a:schemeClr val="accent5"/>
                </a:solidFill>
              </a:rPr>
              <a:t>Kept TVM, JPEG, Median; chains with NLM or resizing failed</a:t>
            </a:r>
            <a:endParaRPr lang="en-US" sz="1200" dirty="0"/>
          </a:p>
        </p:txBody>
      </p:sp>
      <p:sp>
        <p:nvSpPr>
          <p:cNvPr id="17" name="Shape 15"/>
          <p:cNvSpPr/>
          <p:nvPr/>
        </p:nvSpPr>
        <p:spPr>
          <a:xfrm>
            <a:off x="5912968" y="1645920"/>
            <a:ext cx="365760" cy="365760"/>
          </a:xfrm>
          <a:prstGeom prst="ellipse">
            <a:avLst/>
          </a:prstGeom>
          <a:solidFill>
            <a:schemeClr val="accent5"/>
          </a:solidFill>
          <a:ln w="25400">
            <a:solidFill>
              <a:schemeClr val="bg1"/>
            </a:solidFill>
            <a:prstDash val="solid"/>
          </a:ln>
        </p:spPr>
      </p:sp>
      <p:sp>
        <p:nvSpPr>
          <p:cNvPr id="18" name="Text 16"/>
          <p:cNvSpPr txBox="1"/>
          <p:nvPr/>
        </p:nvSpPr>
        <p:spPr>
          <a:xfrm>
            <a:off x="5059558" y="1261872"/>
            <a:ext cx="2072579" cy="292608"/>
          </a:xfrm>
          <a:prstGeom prst="rect">
            <a:avLst/>
          </a:prstGeom>
          <a:noFill/>
          <a:ln/>
        </p:spPr>
        <p:txBody>
          <a:bodyPr wrap="square" lIns="0" tIns="0" rIns="0" bIns="0" rtlCol="0" anchor="t"/>
          <a:lstStyle/>
          <a:p>
            <a:pPr algn="ctr" indent="0" marL="0">
              <a:buNone/>
            </a:pPr>
            <a:r>
              <a:rPr lang="en-US" sz="1400" b="1" dirty="0">
                <a:solidFill>
                  <a:schemeClr val="accent5"/>
                </a:solidFill>
              </a:rPr>
              <a:t>Phase 3a</a:t>
            </a:r>
            <a:endParaRPr lang="en-US" sz="1400" dirty="0"/>
          </a:p>
        </p:txBody>
      </p:sp>
      <p:sp>
        <p:nvSpPr>
          <p:cNvPr id="19" name="Shape 17"/>
          <p:cNvSpPr/>
          <p:nvPr/>
        </p:nvSpPr>
        <p:spPr>
          <a:xfrm>
            <a:off x="5059558" y="2240280"/>
            <a:ext cx="2072579" cy="2148840"/>
          </a:xfrm>
          <a:prstGeom prst="roundRect">
            <a:avLst>
              <a:gd name="adj" fmla="val 3530"/>
            </a:avLst>
          </a:prstGeom>
          <a:solidFill>
            <a:schemeClr val="bg2"/>
          </a:solidFill>
          <a:ln/>
          <a:effectLst>
            <a:outerShdw sx="100000" sy="100000" kx="0" ky="0" algn="bl" rotWithShape="0" blurRad="76200" dist="25400" dir="5400000">
              <a:srgbClr val="1B1F24">
                <a:alpha val="12000"/>
              </a:srgbClr>
            </a:outerShdw>
          </a:effectLst>
        </p:spPr>
      </p:sp>
      <p:sp>
        <p:nvSpPr>
          <p:cNvPr id="20" name="Text 18"/>
          <p:cNvSpPr txBox="1"/>
          <p:nvPr/>
        </p:nvSpPr>
        <p:spPr>
          <a:xfrm>
            <a:off x="5224150" y="2395728"/>
            <a:ext cx="1743395" cy="1371600"/>
          </a:xfrm>
          <a:prstGeom prst="rect">
            <a:avLst/>
          </a:prstGeom>
          <a:noFill/>
          <a:ln/>
        </p:spPr>
        <p:txBody>
          <a:bodyPr wrap="square" lIns="0" tIns="0" rIns="0" bIns="0" rtlCol="0" anchor="t"/>
          <a:lstStyle/>
          <a:p>
            <a:pPr indent="0" marL="0">
              <a:buNone/>
            </a:pPr>
            <a:r>
              <a:rPr lang="en-US" sz="1400" b="1" dirty="0">
                <a:solidFill>
                  <a:schemeClr val="tx1"/>
                </a:solidFill>
              </a:rPr>
              <a:t>Added YOLO-World and OCR: 2 models × 3 attacks = 9 settings</a:t>
            </a:r>
            <a:endParaRPr lang="en-US" sz="1400" dirty="0"/>
          </a:p>
        </p:txBody>
      </p:sp>
      <p:sp>
        <p:nvSpPr>
          <p:cNvPr id="21" name="Shape 19"/>
          <p:cNvSpPr/>
          <p:nvPr/>
        </p:nvSpPr>
        <p:spPr>
          <a:xfrm>
            <a:off x="5224150" y="3474720"/>
            <a:ext cx="1743395" cy="0"/>
          </a:xfrm>
          <a:prstGeom prst="line">
            <a:avLst/>
          </a:prstGeom>
          <a:noFill/>
          <a:ln w="12700">
            <a:solidFill>
              <a:schemeClr val="accent6"/>
            </a:solidFill>
            <a:prstDash val="solid"/>
          </a:ln>
        </p:spPr>
      </p:sp>
      <p:sp>
        <p:nvSpPr>
          <p:cNvPr id="22" name="Text 20"/>
          <p:cNvSpPr txBox="1"/>
          <p:nvPr/>
        </p:nvSpPr>
        <p:spPr>
          <a:xfrm>
            <a:off x="5224150" y="3566160"/>
            <a:ext cx="1743395" cy="777240"/>
          </a:xfrm>
          <a:prstGeom prst="rect">
            <a:avLst/>
          </a:prstGeom>
          <a:noFill/>
          <a:ln/>
        </p:spPr>
        <p:txBody>
          <a:bodyPr wrap="square" lIns="0" tIns="0" rIns="0" bIns="0" rtlCol="0" anchor="t"/>
          <a:lstStyle/>
          <a:p>
            <a:pPr indent="0" marL="0">
              <a:buNone/>
            </a:pPr>
            <a:r>
              <a:rPr lang="en-US" sz="1200" dirty="0">
                <a:solidFill>
                  <a:schemeClr val="accent5"/>
                </a:solidFill>
              </a:rPr>
              <a:t>5 filters + 3 parallel ensembles, 1,000 images</a:t>
            </a:r>
            <a:endParaRPr lang="en-US" sz="1200" dirty="0"/>
          </a:p>
        </p:txBody>
      </p:sp>
      <p:sp>
        <p:nvSpPr>
          <p:cNvPr id="23" name="Shape 21"/>
          <p:cNvSpPr/>
          <p:nvPr/>
        </p:nvSpPr>
        <p:spPr>
          <a:xfrm>
            <a:off x="8168427" y="1645920"/>
            <a:ext cx="365760" cy="365760"/>
          </a:xfrm>
          <a:prstGeom prst="ellipse">
            <a:avLst/>
          </a:prstGeom>
          <a:solidFill>
            <a:schemeClr val="accent5"/>
          </a:solidFill>
          <a:ln w="25400">
            <a:solidFill>
              <a:schemeClr val="bg1"/>
            </a:solidFill>
            <a:prstDash val="solid"/>
          </a:ln>
        </p:spPr>
      </p:sp>
      <p:sp>
        <p:nvSpPr>
          <p:cNvPr id="24" name="Text 22"/>
          <p:cNvSpPr txBox="1"/>
          <p:nvPr/>
        </p:nvSpPr>
        <p:spPr>
          <a:xfrm>
            <a:off x="7315017" y="1261872"/>
            <a:ext cx="2072579" cy="292608"/>
          </a:xfrm>
          <a:prstGeom prst="rect">
            <a:avLst/>
          </a:prstGeom>
          <a:noFill/>
          <a:ln/>
        </p:spPr>
        <p:txBody>
          <a:bodyPr wrap="square" lIns="0" tIns="0" rIns="0" bIns="0" rtlCol="0" anchor="t"/>
          <a:lstStyle/>
          <a:p>
            <a:pPr algn="ctr" indent="0" marL="0">
              <a:buNone/>
            </a:pPr>
            <a:r>
              <a:rPr lang="en-US" sz="1400" b="1" dirty="0">
                <a:solidFill>
                  <a:schemeClr val="accent5"/>
                </a:solidFill>
              </a:rPr>
              <a:t>Phase 3b</a:t>
            </a:r>
            <a:endParaRPr lang="en-US" sz="1400" dirty="0"/>
          </a:p>
        </p:txBody>
      </p:sp>
      <p:sp>
        <p:nvSpPr>
          <p:cNvPr id="25" name="Shape 23"/>
          <p:cNvSpPr/>
          <p:nvPr/>
        </p:nvSpPr>
        <p:spPr>
          <a:xfrm>
            <a:off x="7315017" y="2240280"/>
            <a:ext cx="2072579" cy="2148840"/>
          </a:xfrm>
          <a:prstGeom prst="roundRect">
            <a:avLst>
              <a:gd name="adj" fmla="val 3530"/>
            </a:avLst>
          </a:prstGeom>
          <a:solidFill>
            <a:schemeClr val="bg2"/>
          </a:solidFill>
          <a:ln/>
          <a:effectLst>
            <a:outerShdw sx="100000" sy="100000" kx="0" ky="0" algn="bl" rotWithShape="0" blurRad="76200" dist="25400" dir="5400000">
              <a:srgbClr val="1B1F24">
                <a:alpha val="12000"/>
              </a:srgbClr>
            </a:outerShdw>
          </a:effectLst>
        </p:spPr>
      </p:sp>
      <p:sp>
        <p:nvSpPr>
          <p:cNvPr id="26" name="Text 24"/>
          <p:cNvSpPr txBox="1"/>
          <p:nvPr/>
        </p:nvSpPr>
        <p:spPr>
          <a:xfrm>
            <a:off x="7479609" y="2395728"/>
            <a:ext cx="1743395" cy="1371600"/>
          </a:xfrm>
          <a:prstGeom prst="rect">
            <a:avLst/>
          </a:prstGeom>
          <a:noFill/>
          <a:ln/>
        </p:spPr>
        <p:txBody>
          <a:bodyPr wrap="square" lIns="0" tIns="0" rIns="0" bIns="0" rtlCol="0" anchor="t"/>
          <a:lstStyle/>
          <a:p>
            <a:pPr indent="0" marL="0">
              <a:buNone/>
            </a:pPr>
            <a:r>
              <a:rPr lang="en-US" sz="1400" b="1" dirty="0">
                <a:solidFill>
                  <a:schemeClr val="tx1"/>
                </a:solidFill>
              </a:rPr>
              <a:t>Full survey: 20 defenses on all 5,000 COCO val images</a:t>
            </a:r>
            <a:endParaRPr lang="en-US" sz="1400" dirty="0"/>
          </a:p>
        </p:txBody>
      </p:sp>
      <p:sp>
        <p:nvSpPr>
          <p:cNvPr id="27" name="Shape 25"/>
          <p:cNvSpPr/>
          <p:nvPr/>
        </p:nvSpPr>
        <p:spPr>
          <a:xfrm>
            <a:off x="7479609" y="3474720"/>
            <a:ext cx="1743395" cy="0"/>
          </a:xfrm>
          <a:prstGeom prst="line">
            <a:avLst/>
          </a:prstGeom>
          <a:noFill/>
          <a:ln w="12700">
            <a:solidFill>
              <a:schemeClr val="accent6"/>
            </a:solidFill>
            <a:prstDash val="solid"/>
          </a:ln>
        </p:spPr>
      </p:sp>
      <p:sp>
        <p:nvSpPr>
          <p:cNvPr id="28" name="Text 26"/>
          <p:cNvSpPr txBox="1"/>
          <p:nvPr/>
        </p:nvSpPr>
        <p:spPr>
          <a:xfrm>
            <a:off x="7479609" y="3566160"/>
            <a:ext cx="1743395" cy="777240"/>
          </a:xfrm>
          <a:prstGeom prst="rect">
            <a:avLst/>
          </a:prstGeom>
          <a:noFill/>
          <a:ln/>
        </p:spPr>
        <p:txBody>
          <a:bodyPr wrap="square" lIns="0" tIns="0" rIns="0" bIns="0" rtlCol="0" anchor="t"/>
          <a:lstStyle/>
          <a:p>
            <a:pPr indent="0" marL="0">
              <a:buNone/>
            </a:pPr>
            <a:r>
              <a:rPr lang="en-US" sz="1200" dirty="0">
                <a:solidFill>
                  <a:schemeClr val="accent5"/>
                </a:solidFill>
              </a:rPr>
              <a:t>Submitted to an ECCV 2026 workshop</a:t>
            </a:r>
            <a:endParaRPr lang="en-US" sz="1200" dirty="0"/>
          </a:p>
        </p:txBody>
      </p:sp>
      <p:sp>
        <p:nvSpPr>
          <p:cNvPr id="29" name="Shape 27"/>
          <p:cNvSpPr/>
          <p:nvPr/>
        </p:nvSpPr>
        <p:spPr>
          <a:xfrm>
            <a:off x="10423886" y="1645920"/>
            <a:ext cx="365760" cy="365760"/>
          </a:xfrm>
          <a:prstGeom prst="ellipse">
            <a:avLst/>
          </a:prstGeom>
          <a:solidFill>
            <a:schemeClr val="accent1"/>
          </a:solidFill>
          <a:ln w="25400">
            <a:solidFill>
              <a:schemeClr val="bg1"/>
            </a:solidFill>
            <a:prstDash val="solid"/>
          </a:ln>
        </p:spPr>
      </p:sp>
      <p:sp>
        <p:nvSpPr>
          <p:cNvPr id="30" name="Text 28"/>
          <p:cNvSpPr txBox="1"/>
          <p:nvPr/>
        </p:nvSpPr>
        <p:spPr>
          <a:xfrm>
            <a:off x="9570476" y="1261872"/>
            <a:ext cx="2072579" cy="292608"/>
          </a:xfrm>
          <a:prstGeom prst="rect">
            <a:avLst/>
          </a:prstGeom>
          <a:noFill/>
          <a:ln/>
        </p:spPr>
        <p:txBody>
          <a:bodyPr wrap="square" lIns="0" tIns="0" rIns="0" bIns="0" rtlCol="0" anchor="t"/>
          <a:lstStyle/>
          <a:p>
            <a:pPr algn="ctr" indent="0" marL="0">
              <a:buNone/>
            </a:pPr>
            <a:r>
              <a:rPr lang="en-US" sz="1400" b="1" dirty="0">
                <a:solidFill>
                  <a:schemeClr val="accent1"/>
                </a:solidFill>
              </a:rPr>
              <a:t>Phase 4 · now</a:t>
            </a:r>
            <a:endParaRPr lang="en-US" sz="1400" dirty="0"/>
          </a:p>
        </p:txBody>
      </p:sp>
      <p:sp>
        <p:nvSpPr>
          <p:cNvPr id="31" name="Shape 29"/>
          <p:cNvSpPr/>
          <p:nvPr/>
        </p:nvSpPr>
        <p:spPr>
          <a:xfrm>
            <a:off x="9570476" y="2240280"/>
            <a:ext cx="2072579" cy="2148840"/>
          </a:xfrm>
          <a:prstGeom prst="roundRect">
            <a:avLst>
              <a:gd name="adj" fmla="val 3530"/>
            </a:avLst>
          </a:prstGeom>
          <a:solidFill>
            <a:schemeClr val="bg2"/>
          </a:solidFill>
          <a:ln/>
          <a:effectLst>
            <a:outerShdw sx="100000" sy="100000" kx="0" ky="0" algn="bl" rotWithShape="0" blurRad="76200" dist="25400" dir="5400000">
              <a:srgbClr val="1B1F24">
                <a:alpha val="12000"/>
              </a:srgbClr>
            </a:outerShdw>
          </a:effectLst>
        </p:spPr>
      </p:sp>
      <p:sp>
        <p:nvSpPr>
          <p:cNvPr id="32" name="Text 30"/>
          <p:cNvSpPr txBox="1"/>
          <p:nvPr/>
        </p:nvSpPr>
        <p:spPr>
          <a:xfrm>
            <a:off x="9735068" y="2395728"/>
            <a:ext cx="1743395" cy="1371600"/>
          </a:xfrm>
          <a:prstGeom prst="rect">
            <a:avLst/>
          </a:prstGeom>
          <a:noFill/>
          <a:ln/>
        </p:spPr>
        <p:txBody>
          <a:bodyPr wrap="square" lIns="0" tIns="0" rIns="0" bIns="0" rtlCol="0" anchor="t"/>
          <a:lstStyle/>
          <a:p>
            <a:pPr indent="0" marL="0">
              <a:buNone/>
            </a:pPr>
            <a:r>
              <a:rPr lang="en-US" sz="1400" b="1" dirty="0">
                <a:solidFill>
                  <a:schemeClr val="tx1"/>
                </a:solidFill>
              </a:rPr>
              <a:t>Clean-image cost and error bars measured; adaptive attack built</a:t>
            </a:r>
            <a:endParaRPr lang="en-US" sz="1400" dirty="0"/>
          </a:p>
        </p:txBody>
      </p:sp>
      <p:sp>
        <p:nvSpPr>
          <p:cNvPr id="33" name="Shape 31"/>
          <p:cNvSpPr/>
          <p:nvPr/>
        </p:nvSpPr>
        <p:spPr>
          <a:xfrm>
            <a:off x="9735068" y="3474720"/>
            <a:ext cx="1743395" cy="0"/>
          </a:xfrm>
          <a:prstGeom prst="line">
            <a:avLst/>
          </a:prstGeom>
          <a:noFill/>
          <a:ln w="12700">
            <a:solidFill>
              <a:schemeClr val="accent6"/>
            </a:solidFill>
            <a:prstDash val="solid"/>
          </a:ln>
        </p:spPr>
      </p:sp>
      <p:sp>
        <p:nvSpPr>
          <p:cNvPr id="34" name="Text 32"/>
          <p:cNvSpPr txBox="1"/>
          <p:nvPr/>
        </p:nvSpPr>
        <p:spPr>
          <a:xfrm>
            <a:off x="9735068" y="3566160"/>
            <a:ext cx="1743395" cy="777240"/>
          </a:xfrm>
          <a:prstGeom prst="rect">
            <a:avLst/>
          </a:prstGeom>
          <a:noFill/>
          <a:ln/>
        </p:spPr>
        <p:txBody>
          <a:bodyPr wrap="square" lIns="0" tIns="0" rIns="0" bIns="0" rtlCol="0" anchor="t"/>
          <a:lstStyle/>
          <a:p>
            <a:pPr indent="0" marL="0">
              <a:buNone/>
            </a:pPr>
            <a:r>
              <a:rPr lang="en-US" sz="1200" dirty="0">
                <a:solidFill>
                  <a:schemeClr val="accent5"/>
                </a:solidFill>
              </a:rPr>
              <a:t>GPU runs next</a:t>
            </a:r>
            <a:endParaRPr lang="en-US" sz="1200" dirty="0"/>
          </a:p>
        </p:txBody>
      </p:sp>
      <p:sp>
        <p:nvSpPr>
          <p:cNvPr id="35" name="Shape 33"/>
          <p:cNvSpPr/>
          <p:nvPr/>
        </p:nvSpPr>
        <p:spPr>
          <a:xfrm>
            <a:off x="548640" y="4846320"/>
            <a:ext cx="11094415" cy="1097280"/>
          </a:xfrm>
          <a:prstGeom prst="roundRect">
            <a:avLst>
              <a:gd name="adj" fmla="val 6667"/>
            </a:avLst>
          </a:prstGeom>
          <a:solidFill>
            <a:schemeClr val="bg2"/>
          </a:solidFill>
          <a:ln/>
        </p:spPr>
      </p:sp>
      <p:sp>
        <p:nvSpPr>
          <p:cNvPr id="36" name="Shape 34"/>
          <p:cNvSpPr/>
          <p:nvPr/>
        </p:nvSpPr>
        <p:spPr>
          <a:xfrm>
            <a:off x="749808" y="5120640"/>
            <a:ext cx="502920" cy="502920"/>
          </a:xfrm>
          <a:prstGeom prst="ellipse">
            <a:avLst/>
          </a:prstGeom>
          <a:solidFill>
            <a:schemeClr val="accent1"/>
          </a:solidFill>
          <a:ln/>
        </p:spPr>
      </p:sp>
      <p:pic>
        <p:nvPicPr>
          <p:cNvPr id="37" name="Image 0" descr="FaRoute">    </p:cNvPr>
          <p:cNvPicPr>
            <a:picLocks noChangeAspect="1"/>
          </p:cNvPicPr>
          <p:nvPr/>
        </p:nvPicPr>
        <p:blipFill>
          <a:blip r:embed="rId1"/>
          <a:stretch>
            <a:fillRect/>
          </a:stretch>
        </p:blipFill>
        <p:spPr>
          <a:xfrm>
            <a:off x="870509" y="5241341"/>
            <a:ext cx="261518" cy="261518"/>
          </a:xfrm>
          <a:prstGeom prst="rect">
            <a:avLst/>
          </a:prstGeom>
        </p:spPr>
      </p:pic>
      <p:sp>
        <p:nvSpPr>
          <p:cNvPr id="38" name="Text 35"/>
          <p:cNvSpPr txBox="1"/>
          <p:nvPr/>
        </p:nvSpPr>
        <p:spPr>
          <a:xfrm>
            <a:off x="1463040" y="4956048"/>
            <a:ext cx="10012680" cy="896112"/>
          </a:xfrm>
          <a:prstGeom prst="rect">
            <a:avLst/>
          </a:prstGeom>
          <a:noFill/>
          <a:ln/>
        </p:spPr>
        <p:txBody>
          <a:bodyPr wrap="square" lIns="0" tIns="0" rIns="0" bIns="0" rtlCol="0" anchor="ctr"/>
          <a:lstStyle/>
          <a:p>
            <a:pPr marL="177800" indent="-177800">
              <a:spcAft>
                <a:spcPts val="400"/>
              </a:spcAft>
              <a:buSzPct val="100000"/>
              <a:buChar char="•"/>
            </a:pPr>
            <a:r>
              <a:rPr lang="en-US" sz="1400" b="1" dirty="0">
                <a:solidFill>
                  <a:schemeClr val="tx1"/>
                </a:solidFill>
              </a:rPr>
              <a:t>Lesson that shaped the block: </a:t>
            </a:r>
            <a:r>
              <a:rPr lang="en-US" sz="1400" dirty="0">
                <a:solidFill>
                  <a:schemeClr val="tx1"/>
                </a:solidFill>
              </a:rPr>
              <a:t>chaining filters in series lost accuracy, so we run them in parallel and merge after the model.</a:t>
            </a:r>
            <a:endParaRPr lang="en-US" sz="1400" dirty="0"/>
          </a:p>
          <a:p>
            <a:pPr marL="177800" indent="-177800">
              <a:spcAft>
                <a:spcPts val="400"/>
              </a:spcAft>
              <a:buSzPct val="100000"/>
              <a:buChar char="•"/>
            </a:pPr>
            <a:r>
              <a:rPr lang="en-US" sz="1400" b="1" dirty="0">
                <a:solidFill>
                  <a:schemeClr val="tx1"/>
                </a:solidFill>
              </a:rPr>
              <a:t>Set aside early: </a:t>
            </a:r>
            <a:r>
              <a:rPr lang="en-US" sz="1400" dirty="0">
                <a:solidFill>
                  <a:schemeClr val="tx1"/>
                </a:solidFill>
              </a:rPr>
              <a:t>DiffPure and SmoothVLM (built for classification and text). DiffPure comes back as option B.</a:t>
            </a:r>
            <a:endParaRPr lang="en-US" sz="14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1 · THE IDEA</a:t>
            </a:r>
            <a:endParaRPr lang="en-US" sz="1200" dirty="0"/>
          </a:p>
        </p:txBody>
      </p:sp>
      <p:sp>
        <p:nvSpPr>
          <p:cNvPr id="3" name="Text 0"/>
          <p:cNvSpPr/>
          <p:nvPr>
            <p:ph idx="101"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Setup: 2 models, 3 attacks, 20 training-free defenses</a:t>
            </a:r>
            <a:endParaRPr lang="en-US" sz="3200" dirty="0"/>
          </a:p>
        </p:txBody>
      </p:sp>
      <p:sp>
        <p:nvSpPr>
          <p:cNvPr id="4" name="Shape 2"/>
          <p:cNvSpPr/>
          <p:nvPr/>
        </p:nvSpPr>
        <p:spPr>
          <a:xfrm>
            <a:off x="548640" y="1463040"/>
            <a:ext cx="3545738" cy="2240280"/>
          </a:xfrm>
          <a:prstGeom prst="roundRect">
            <a:avLst>
              <a:gd name="adj" fmla="val 3265"/>
            </a:avLst>
          </a:prstGeom>
          <a:solidFill>
            <a:schemeClr val="bg2"/>
          </a:solidFill>
          <a:ln/>
          <a:effectLst>
            <a:outerShdw sx="100000" sy="100000" kx="0" ky="0" algn="bl" rotWithShape="0" blurRad="76200" dist="25400" dir="5400000">
              <a:srgbClr val="1B1F24">
                <a:alpha val="12000"/>
              </a:srgbClr>
            </a:outerShdw>
          </a:effectLst>
        </p:spPr>
      </p:sp>
      <p:sp>
        <p:nvSpPr>
          <p:cNvPr id="5" name="Shape 3"/>
          <p:cNvSpPr/>
          <p:nvPr/>
        </p:nvSpPr>
        <p:spPr>
          <a:xfrm>
            <a:off x="777240" y="1691640"/>
            <a:ext cx="502920" cy="502920"/>
          </a:xfrm>
          <a:prstGeom prst="ellipse">
            <a:avLst/>
          </a:prstGeom>
          <a:solidFill>
            <a:schemeClr val="accent5"/>
          </a:solidFill>
          <a:ln/>
        </p:spPr>
      </p:sp>
      <p:pic>
        <p:nvPicPr>
          <p:cNvPr id="6" name="Image 0" descr="FaBrain">    </p:cNvPr>
          <p:cNvPicPr>
            <a:picLocks noChangeAspect="1"/>
          </p:cNvPicPr>
          <p:nvPr/>
        </p:nvPicPr>
        <p:blipFill>
          <a:blip r:embed="rId1"/>
          <a:stretch>
            <a:fillRect/>
          </a:stretch>
        </p:blipFill>
        <p:spPr>
          <a:xfrm>
            <a:off x="897941" y="1812341"/>
            <a:ext cx="261518" cy="261518"/>
          </a:xfrm>
          <a:prstGeom prst="rect">
            <a:avLst/>
          </a:prstGeom>
        </p:spPr>
      </p:pic>
      <p:sp>
        <p:nvSpPr>
          <p:cNvPr id="7" name="Text 4"/>
          <p:cNvSpPr txBox="1"/>
          <p:nvPr/>
        </p:nvSpPr>
        <p:spPr>
          <a:xfrm>
            <a:off x="1417320" y="1737360"/>
            <a:ext cx="2494178" cy="411480"/>
          </a:xfrm>
          <a:prstGeom prst="rect">
            <a:avLst/>
          </a:prstGeom>
          <a:noFill/>
          <a:ln/>
        </p:spPr>
        <p:txBody>
          <a:bodyPr wrap="square" lIns="0" tIns="0" rIns="0" bIns="0" rtlCol="0" anchor="ctr"/>
          <a:lstStyle/>
          <a:p>
            <a:pPr indent="0" marL="0">
              <a:buNone/>
            </a:pPr>
            <a:r>
              <a:rPr lang="en-US" sz="1600" b="1" dirty="0">
                <a:solidFill>
                  <a:schemeClr val="tx1"/>
                </a:solidFill>
              </a:rPr>
              <a:t>Models (frozen)</a:t>
            </a:r>
            <a:endParaRPr lang="en-US" sz="1600" dirty="0"/>
          </a:p>
        </p:txBody>
      </p:sp>
      <p:sp>
        <p:nvSpPr>
          <p:cNvPr id="8" name="Text 5"/>
          <p:cNvSpPr txBox="1"/>
          <p:nvPr/>
        </p:nvSpPr>
        <p:spPr>
          <a:xfrm>
            <a:off x="777240" y="2359152"/>
            <a:ext cx="3134258" cy="118872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Florence-2-base: VLM for detection and OCR</a:t>
            </a:r>
            <a:endParaRPr lang="en-US" sz="1400" dirty="0"/>
          </a:p>
          <a:p>
            <a:pPr marL="177800" indent="-177800">
              <a:spcAft>
                <a:spcPts val="400"/>
              </a:spcAft>
              <a:buSzPct val="100000"/>
              <a:buChar char="•"/>
            </a:pPr>
            <a:r>
              <a:rPr lang="en-US" sz="1400" dirty="0">
                <a:solidFill>
                  <a:schemeClr val="tx1"/>
                </a:solidFill>
              </a:rPr>
              <a:t>YOLOv8x-worldv2: open-vocabulary detector</a:t>
            </a:r>
            <a:endParaRPr lang="en-US" sz="1400" dirty="0"/>
          </a:p>
        </p:txBody>
      </p:sp>
      <p:sp>
        <p:nvSpPr>
          <p:cNvPr id="9" name="Shape 6"/>
          <p:cNvSpPr/>
          <p:nvPr/>
        </p:nvSpPr>
        <p:spPr>
          <a:xfrm>
            <a:off x="4322978" y="1463040"/>
            <a:ext cx="3545738" cy="2240280"/>
          </a:xfrm>
          <a:prstGeom prst="roundRect">
            <a:avLst>
              <a:gd name="adj" fmla="val 3265"/>
            </a:avLst>
          </a:prstGeom>
          <a:solidFill>
            <a:schemeClr val="bg2"/>
          </a:solidFill>
          <a:ln/>
          <a:effectLst>
            <a:outerShdw sx="100000" sy="100000" kx="0" ky="0" algn="bl" rotWithShape="0" blurRad="76200" dist="25400" dir="5400000">
              <a:srgbClr val="1B1F24">
                <a:alpha val="12000"/>
              </a:srgbClr>
            </a:outerShdw>
          </a:effectLst>
        </p:spPr>
      </p:sp>
      <p:sp>
        <p:nvSpPr>
          <p:cNvPr id="10" name="Shape 7"/>
          <p:cNvSpPr/>
          <p:nvPr/>
        </p:nvSpPr>
        <p:spPr>
          <a:xfrm>
            <a:off x="4551578" y="1691640"/>
            <a:ext cx="502920" cy="502920"/>
          </a:xfrm>
          <a:prstGeom prst="ellipse">
            <a:avLst/>
          </a:prstGeom>
          <a:solidFill>
            <a:schemeClr val="accent4"/>
          </a:solidFill>
          <a:ln/>
        </p:spPr>
      </p:sp>
      <p:pic>
        <p:nvPicPr>
          <p:cNvPr id="11" name="Image 1" descr="FaDatabase">    </p:cNvPr>
          <p:cNvPicPr>
            <a:picLocks noChangeAspect="1"/>
          </p:cNvPicPr>
          <p:nvPr/>
        </p:nvPicPr>
        <p:blipFill>
          <a:blip r:embed="rId2"/>
          <a:stretch>
            <a:fillRect/>
          </a:stretch>
        </p:blipFill>
        <p:spPr>
          <a:xfrm>
            <a:off x="4672279" y="1812341"/>
            <a:ext cx="261518" cy="261518"/>
          </a:xfrm>
          <a:prstGeom prst="rect">
            <a:avLst/>
          </a:prstGeom>
        </p:spPr>
      </p:pic>
      <p:sp>
        <p:nvSpPr>
          <p:cNvPr id="12" name="Text 8"/>
          <p:cNvSpPr txBox="1"/>
          <p:nvPr/>
        </p:nvSpPr>
        <p:spPr>
          <a:xfrm>
            <a:off x="5191658" y="1737360"/>
            <a:ext cx="2494178" cy="411480"/>
          </a:xfrm>
          <a:prstGeom prst="rect">
            <a:avLst/>
          </a:prstGeom>
          <a:noFill/>
          <a:ln/>
        </p:spPr>
        <p:txBody>
          <a:bodyPr wrap="square" lIns="0" tIns="0" rIns="0" bIns="0" rtlCol="0" anchor="ctr"/>
          <a:lstStyle/>
          <a:p>
            <a:pPr indent="0" marL="0">
              <a:buNone/>
            </a:pPr>
            <a:r>
              <a:rPr lang="en-US" sz="1600" b="1" dirty="0">
                <a:solidFill>
                  <a:schemeClr val="tx1"/>
                </a:solidFill>
              </a:rPr>
              <a:t>Data</a:t>
            </a:r>
            <a:endParaRPr lang="en-US" sz="1600" dirty="0"/>
          </a:p>
        </p:txBody>
      </p:sp>
      <p:sp>
        <p:nvSpPr>
          <p:cNvPr id="13" name="Text 9"/>
          <p:cNvSpPr txBox="1"/>
          <p:nvPr/>
        </p:nvSpPr>
        <p:spPr>
          <a:xfrm>
            <a:off x="4551578" y="2359152"/>
            <a:ext cx="3134258" cy="118872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COCO val2017, all 5,000 images</a:t>
            </a:r>
            <a:endParaRPr lang="en-US" sz="1400" dirty="0"/>
          </a:p>
          <a:p>
            <a:pPr marL="177800" indent="-177800">
              <a:spcAft>
                <a:spcPts val="400"/>
              </a:spcAft>
              <a:buSzPct val="100000"/>
              <a:buChar char="•"/>
            </a:pPr>
            <a:r>
              <a:rPr lang="en-US" sz="1400" dirty="0">
                <a:solidFill>
                  <a:schemeClr val="tx1"/>
                </a:solidFill>
              </a:rPr>
              <a:t>YOLO-World prompted with the 80 COCO classes; Florence labels mapped to COCO</a:t>
            </a:r>
            <a:endParaRPr lang="en-US" sz="1400" dirty="0"/>
          </a:p>
        </p:txBody>
      </p:sp>
      <p:sp>
        <p:nvSpPr>
          <p:cNvPr id="14" name="Shape 10"/>
          <p:cNvSpPr/>
          <p:nvPr/>
        </p:nvSpPr>
        <p:spPr>
          <a:xfrm>
            <a:off x="8097317" y="1463040"/>
            <a:ext cx="3545738" cy="2240280"/>
          </a:xfrm>
          <a:prstGeom prst="roundRect">
            <a:avLst>
              <a:gd name="adj" fmla="val 3265"/>
            </a:avLst>
          </a:prstGeom>
          <a:solidFill>
            <a:schemeClr val="bg2"/>
          </a:solidFill>
          <a:ln/>
          <a:effectLst>
            <a:outerShdw sx="100000" sy="100000" kx="0" ky="0" algn="bl" rotWithShape="0" blurRad="76200" dist="25400" dir="5400000">
              <a:srgbClr val="1B1F24">
                <a:alpha val="12000"/>
              </a:srgbClr>
            </a:outerShdw>
          </a:effectLst>
        </p:spPr>
      </p:sp>
      <p:sp>
        <p:nvSpPr>
          <p:cNvPr id="15" name="Shape 11"/>
          <p:cNvSpPr/>
          <p:nvPr/>
        </p:nvSpPr>
        <p:spPr>
          <a:xfrm>
            <a:off x="8325917" y="1691640"/>
            <a:ext cx="502920" cy="502920"/>
          </a:xfrm>
          <a:prstGeom prst="ellipse">
            <a:avLst/>
          </a:prstGeom>
          <a:solidFill>
            <a:schemeClr val="accent2"/>
          </a:solidFill>
          <a:ln/>
        </p:spPr>
      </p:sp>
      <p:pic>
        <p:nvPicPr>
          <p:cNvPr id="16" name="Image 2" descr="FaBolt">    </p:cNvPr>
          <p:cNvPicPr>
            <a:picLocks noChangeAspect="1"/>
          </p:cNvPicPr>
          <p:nvPr/>
        </p:nvPicPr>
        <p:blipFill>
          <a:blip r:embed="rId3"/>
          <a:stretch>
            <a:fillRect/>
          </a:stretch>
        </p:blipFill>
        <p:spPr>
          <a:xfrm>
            <a:off x="8446618" y="1812341"/>
            <a:ext cx="261518" cy="261518"/>
          </a:xfrm>
          <a:prstGeom prst="rect">
            <a:avLst/>
          </a:prstGeom>
        </p:spPr>
      </p:pic>
      <p:sp>
        <p:nvSpPr>
          <p:cNvPr id="17" name="Text 12"/>
          <p:cNvSpPr txBox="1"/>
          <p:nvPr/>
        </p:nvSpPr>
        <p:spPr>
          <a:xfrm>
            <a:off x="8965997" y="1737360"/>
            <a:ext cx="2494178" cy="411480"/>
          </a:xfrm>
          <a:prstGeom prst="rect">
            <a:avLst/>
          </a:prstGeom>
          <a:noFill/>
          <a:ln/>
        </p:spPr>
        <p:txBody>
          <a:bodyPr wrap="square" lIns="0" tIns="0" rIns="0" bIns="0" rtlCol="0" anchor="ctr"/>
          <a:lstStyle/>
          <a:p>
            <a:pPr indent="0" marL="0">
              <a:buNone/>
            </a:pPr>
            <a:r>
              <a:rPr lang="en-US" sz="1600" b="1" dirty="0">
                <a:solidFill>
                  <a:schemeClr val="tx1"/>
                </a:solidFill>
              </a:rPr>
              <a:t>Attacks (white-box)</a:t>
            </a:r>
            <a:endParaRPr lang="en-US" sz="1600" dirty="0"/>
          </a:p>
        </p:txBody>
      </p:sp>
      <p:sp>
        <p:nvSpPr>
          <p:cNvPr id="18" name="Text 13"/>
          <p:cNvSpPr txBox="1"/>
          <p:nvPr/>
        </p:nvSpPr>
        <p:spPr>
          <a:xfrm>
            <a:off x="8325917" y="2359152"/>
            <a:ext cx="3134258" cy="118872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FGSM: 1 step, ε = 0.03</a:t>
            </a:r>
            <a:endParaRPr lang="en-US" sz="1400" dirty="0"/>
          </a:p>
          <a:p>
            <a:pPr marL="177800" indent="-177800">
              <a:spcAft>
                <a:spcPts val="400"/>
              </a:spcAft>
              <a:buSzPct val="100000"/>
              <a:buChar char="•"/>
            </a:pPr>
            <a:r>
              <a:rPr lang="en-US" sz="1400" dirty="0">
                <a:solidFill>
                  <a:schemeClr val="tx1"/>
                </a:solidFill>
              </a:rPr>
              <a:t>PGD: 10 steps, random start</a:t>
            </a:r>
            <a:endParaRPr lang="en-US" sz="1400" dirty="0"/>
          </a:p>
          <a:p>
            <a:pPr marL="177800" indent="-177800">
              <a:spcAft>
                <a:spcPts val="400"/>
              </a:spcAft>
              <a:buSzPct val="100000"/>
              <a:buChar char="•"/>
            </a:pPr>
            <a:r>
              <a:rPr lang="en-US" sz="1400" dirty="0">
                <a:solidFill>
                  <a:schemeClr val="tx1"/>
                </a:solidFill>
              </a:rPr>
              <a:t>Patch: 35×35 at the centre, 100 Adam steps</a:t>
            </a:r>
            <a:endParaRPr lang="en-US" sz="1400" dirty="0"/>
          </a:p>
        </p:txBody>
      </p:sp>
      <p:sp>
        <p:nvSpPr>
          <p:cNvPr id="19" name="Shape 14"/>
          <p:cNvSpPr/>
          <p:nvPr/>
        </p:nvSpPr>
        <p:spPr>
          <a:xfrm>
            <a:off x="548640" y="3931920"/>
            <a:ext cx="3545738" cy="2240280"/>
          </a:xfrm>
          <a:prstGeom prst="roundRect">
            <a:avLst>
              <a:gd name="adj" fmla="val 3265"/>
            </a:avLst>
          </a:prstGeom>
          <a:solidFill>
            <a:schemeClr val="bg2"/>
          </a:solidFill>
          <a:ln/>
          <a:effectLst>
            <a:outerShdw sx="100000" sy="100000" kx="0" ky="0" algn="bl" rotWithShape="0" blurRad="76200" dist="25400" dir="5400000">
              <a:srgbClr val="1B1F24">
                <a:alpha val="12000"/>
              </a:srgbClr>
            </a:outerShdw>
          </a:effectLst>
        </p:spPr>
      </p:sp>
      <p:sp>
        <p:nvSpPr>
          <p:cNvPr id="20" name="Shape 15"/>
          <p:cNvSpPr/>
          <p:nvPr/>
        </p:nvSpPr>
        <p:spPr>
          <a:xfrm>
            <a:off x="777240" y="4160520"/>
            <a:ext cx="502920" cy="502920"/>
          </a:xfrm>
          <a:prstGeom prst="ellipse">
            <a:avLst/>
          </a:prstGeom>
          <a:solidFill>
            <a:schemeClr val="accent1"/>
          </a:solidFill>
          <a:ln/>
        </p:spPr>
      </p:sp>
      <p:pic>
        <p:nvPicPr>
          <p:cNvPr id="21" name="Image 3" descr="FaShieldHalved">    </p:cNvPr>
          <p:cNvPicPr>
            <a:picLocks noChangeAspect="1"/>
          </p:cNvPicPr>
          <p:nvPr/>
        </p:nvPicPr>
        <p:blipFill>
          <a:blip r:embed="rId4"/>
          <a:stretch>
            <a:fillRect/>
          </a:stretch>
        </p:blipFill>
        <p:spPr>
          <a:xfrm>
            <a:off x="897941" y="4281221"/>
            <a:ext cx="261518" cy="261518"/>
          </a:xfrm>
          <a:prstGeom prst="rect">
            <a:avLst/>
          </a:prstGeom>
        </p:spPr>
      </p:pic>
      <p:sp>
        <p:nvSpPr>
          <p:cNvPr id="22" name="Text 16"/>
          <p:cNvSpPr txBox="1"/>
          <p:nvPr/>
        </p:nvSpPr>
        <p:spPr>
          <a:xfrm>
            <a:off x="1417320" y="4206240"/>
            <a:ext cx="2494178" cy="411480"/>
          </a:xfrm>
          <a:prstGeom prst="rect">
            <a:avLst/>
          </a:prstGeom>
          <a:noFill/>
          <a:ln/>
        </p:spPr>
        <p:txBody>
          <a:bodyPr wrap="square" lIns="0" tIns="0" rIns="0" bIns="0" rtlCol="0" anchor="ctr"/>
          <a:lstStyle/>
          <a:p>
            <a:pPr indent="0" marL="0">
              <a:buNone/>
            </a:pPr>
            <a:r>
              <a:rPr lang="en-US" sz="1600" b="1" dirty="0">
                <a:solidFill>
                  <a:schemeClr val="tx1"/>
                </a:solidFill>
              </a:rPr>
              <a:t>Defenses</a:t>
            </a:r>
            <a:endParaRPr lang="en-US" sz="1600" dirty="0"/>
          </a:p>
        </p:txBody>
      </p:sp>
      <p:sp>
        <p:nvSpPr>
          <p:cNvPr id="23" name="Text 17"/>
          <p:cNvSpPr txBox="1"/>
          <p:nvPr/>
        </p:nvSpPr>
        <p:spPr>
          <a:xfrm>
            <a:off x="777240" y="4828032"/>
            <a:ext cx="3134258" cy="118872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13 filters: JPEG, Median, Gaussian, TVM, Bilateral, NLM, BM3D, …</a:t>
            </a:r>
            <a:endParaRPr lang="en-US" sz="1400" dirty="0"/>
          </a:p>
          <a:p>
            <a:pPr marL="177800" indent="-177800">
              <a:spcAft>
                <a:spcPts val="400"/>
              </a:spcAft>
              <a:buSzPct val="100000"/>
              <a:buChar char="•"/>
            </a:pPr>
            <a:r>
              <a:rPr lang="en-US" sz="1400" dirty="0">
                <a:solidFill>
                  <a:schemeClr val="tx1"/>
                </a:solidFill>
              </a:rPr>
              <a:t>7 ensembles of 3–4 filters, merged after the model</a:t>
            </a:r>
            <a:endParaRPr lang="en-US" sz="1400" dirty="0"/>
          </a:p>
        </p:txBody>
      </p:sp>
      <p:sp>
        <p:nvSpPr>
          <p:cNvPr id="24" name="Shape 18"/>
          <p:cNvSpPr/>
          <p:nvPr/>
        </p:nvSpPr>
        <p:spPr>
          <a:xfrm>
            <a:off x="4322978" y="3931920"/>
            <a:ext cx="3545738" cy="2240280"/>
          </a:xfrm>
          <a:prstGeom prst="roundRect">
            <a:avLst>
              <a:gd name="adj" fmla="val 3265"/>
            </a:avLst>
          </a:prstGeom>
          <a:solidFill>
            <a:schemeClr val="bg2"/>
          </a:solidFill>
          <a:ln/>
          <a:effectLst>
            <a:outerShdw sx="100000" sy="100000" kx="0" ky="0" algn="bl" rotWithShape="0" blurRad="76200" dist="25400" dir="5400000">
              <a:srgbClr val="1B1F24">
                <a:alpha val="12000"/>
              </a:srgbClr>
            </a:outerShdw>
          </a:effectLst>
        </p:spPr>
      </p:sp>
      <p:sp>
        <p:nvSpPr>
          <p:cNvPr id="25" name="Shape 19"/>
          <p:cNvSpPr/>
          <p:nvPr/>
        </p:nvSpPr>
        <p:spPr>
          <a:xfrm>
            <a:off x="4551578" y="4160520"/>
            <a:ext cx="502920" cy="502920"/>
          </a:xfrm>
          <a:prstGeom prst="ellipse">
            <a:avLst/>
          </a:prstGeom>
          <a:solidFill>
            <a:schemeClr val="accent3"/>
          </a:solidFill>
          <a:ln/>
        </p:spPr>
      </p:sp>
      <p:pic>
        <p:nvPicPr>
          <p:cNvPr id="26" name="Image 4" descr="FaChartColumn">    </p:cNvPr>
          <p:cNvPicPr>
            <a:picLocks noChangeAspect="1"/>
          </p:cNvPicPr>
          <p:nvPr/>
        </p:nvPicPr>
        <p:blipFill>
          <a:blip r:embed="rId5"/>
          <a:stretch>
            <a:fillRect/>
          </a:stretch>
        </p:blipFill>
        <p:spPr>
          <a:xfrm>
            <a:off x="4672279" y="4281221"/>
            <a:ext cx="261518" cy="261518"/>
          </a:xfrm>
          <a:prstGeom prst="rect">
            <a:avLst/>
          </a:prstGeom>
        </p:spPr>
      </p:pic>
      <p:sp>
        <p:nvSpPr>
          <p:cNvPr id="27" name="Text 20"/>
          <p:cNvSpPr txBox="1"/>
          <p:nvPr/>
        </p:nvSpPr>
        <p:spPr>
          <a:xfrm>
            <a:off x="5191658" y="4206240"/>
            <a:ext cx="2494178" cy="411480"/>
          </a:xfrm>
          <a:prstGeom prst="rect">
            <a:avLst/>
          </a:prstGeom>
          <a:noFill/>
          <a:ln/>
        </p:spPr>
        <p:txBody>
          <a:bodyPr wrap="square" lIns="0" tIns="0" rIns="0" bIns="0" rtlCol="0" anchor="ctr"/>
          <a:lstStyle/>
          <a:p>
            <a:pPr indent="0" marL="0">
              <a:buNone/>
            </a:pPr>
            <a:r>
              <a:rPr lang="en-US" sz="1600" b="1" dirty="0">
                <a:solidFill>
                  <a:schemeClr val="tx1"/>
                </a:solidFill>
              </a:rPr>
              <a:t>Metrics</a:t>
            </a:r>
            <a:endParaRPr lang="en-US" sz="1600" dirty="0"/>
          </a:p>
        </p:txBody>
      </p:sp>
      <p:sp>
        <p:nvSpPr>
          <p:cNvPr id="28" name="Text 21"/>
          <p:cNvSpPr txBox="1"/>
          <p:nvPr/>
        </p:nvSpPr>
        <p:spPr>
          <a:xfrm>
            <a:off x="4551578" y="4828032"/>
            <a:ext cx="3134258" cy="118872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Detection: COCO mAP@[.5:.95]</a:t>
            </a:r>
            <a:endParaRPr lang="en-US" sz="1400" dirty="0"/>
          </a:p>
          <a:p>
            <a:pPr marL="177800" indent="-177800">
              <a:spcAft>
                <a:spcPts val="400"/>
              </a:spcAft>
              <a:buSzPct val="100000"/>
              <a:buChar char="•"/>
            </a:pPr>
            <a:r>
              <a:rPr lang="en-US" sz="1400" dirty="0">
                <a:solidFill>
                  <a:schemeClr val="tx1"/>
                </a:solidFill>
              </a:rPr>
              <a:t>OCR: similarity to the model's own clean output</a:t>
            </a:r>
            <a:endParaRPr lang="en-US" sz="1400" dirty="0"/>
          </a:p>
        </p:txBody>
      </p:sp>
      <p:sp>
        <p:nvSpPr>
          <p:cNvPr id="29" name="Shape 22"/>
          <p:cNvSpPr/>
          <p:nvPr/>
        </p:nvSpPr>
        <p:spPr>
          <a:xfrm>
            <a:off x="8097317" y="3931920"/>
            <a:ext cx="3545738" cy="2240280"/>
          </a:xfrm>
          <a:prstGeom prst="roundRect">
            <a:avLst>
              <a:gd name="adj" fmla="val 3265"/>
            </a:avLst>
          </a:prstGeom>
          <a:solidFill>
            <a:schemeClr val="bg2"/>
          </a:solidFill>
          <a:ln/>
          <a:effectLst>
            <a:outerShdw sx="100000" sy="100000" kx="0" ky="0" algn="bl" rotWithShape="0" blurRad="76200" dist="25400" dir="5400000">
              <a:srgbClr val="1B1F24">
                <a:alpha val="12000"/>
              </a:srgbClr>
            </a:outerShdw>
          </a:effectLst>
        </p:spPr>
      </p:sp>
      <p:sp>
        <p:nvSpPr>
          <p:cNvPr id="30" name="Shape 23"/>
          <p:cNvSpPr/>
          <p:nvPr/>
        </p:nvSpPr>
        <p:spPr>
          <a:xfrm>
            <a:off x="8325917" y="4160520"/>
            <a:ext cx="502920" cy="502920"/>
          </a:xfrm>
          <a:prstGeom prst="ellipse">
            <a:avLst/>
          </a:prstGeom>
          <a:solidFill>
            <a:schemeClr val="accent4"/>
          </a:solidFill>
          <a:ln/>
        </p:spPr>
      </p:sp>
      <p:pic>
        <p:nvPicPr>
          <p:cNvPr id="31" name="Image 5" descr="FaUserSecret">    </p:cNvPr>
          <p:cNvPicPr>
            <a:picLocks noChangeAspect="1"/>
          </p:cNvPicPr>
          <p:nvPr/>
        </p:nvPicPr>
        <p:blipFill>
          <a:blip r:embed="rId6"/>
          <a:stretch>
            <a:fillRect/>
          </a:stretch>
        </p:blipFill>
        <p:spPr>
          <a:xfrm>
            <a:off x="8446618" y="4281221"/>
            <a:ext cx="261518" cy="261518"/>
          </a:xfrm>
          <a:prstGeom prst="rect">
            <a:avLst/>
          </a:prstGeom>
        </p:spPr>
      </p:pic>
      <p:sp>
        <p:nvSpPr>
          <p:cNvPr id="32" name="Text 24"/>
          <p:cNvSpPr txBox="1"/>
          <p:nvPr/>
        </p:nvSpPr>
        <p:spPr>
          <a:xfrm>
            <a:off x="8965997" y="4206240"/>
            <a:ext cx="2494178" cy="411480"/>
          </a:xfrm>
          <a:prstGeom prst="rect">
            <a:avLst/>
          </a:prstGeom>
          <a:noFill/>
          <a:ln/>
        </p:spPr>
        <p:txBody>
          <a:bodyPr wrap="square" lIns="0" tIns="0" rIns="0" bIns="0" rtlCol="0" anchor="ctr"/>
          <a:lstStyle/>
          <a:p>
            <a:pPr indent="0" marL="0">
              <a:buNone/>
            </a:pPr>
            <a:r>
              <a:rPr lang="en-US" sz="1600" b="1" dirty="0">
                <a:solidFill>
                  <a:schemeClr val="tx1"/>
                </a:solidFill>
              </a:rPr>
              <a:t>Attacker</a:t>
            </a:r>
            <a:endParaRPr lang="en-US" sz="1600" dirty="0"/>
          </a:p>
        </p:txBody>
      </p:sp>
      <p:sp>
        <p:nvSpPr>
          <p:cNvPr id="33" name="Text 25"/>
          <p:cNvSpPr txBox="1"/>
          <p:nvPr/>
        </p:nvSpPr>
        <p:spPr>
          <a:xfrm>
            <a:off x="8325917" y="4828032"/>
            <a:ext cx="3134258" cy="118872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So far: blind, knows the model but not the block</a:t>
            </a:r>
            <a:endParaRPr lang="en-US" sz="1400" dirty="0"/>
          </a:p>
          <a:p>
            <a:pPr marL="177800" indent="-177800">
              <a:spcAft>
                <a:spcPts val="400"/>
              </a:spcAft>
              <a:buSzPct val="100000"/>
              <a:buChar char="•"/>
            </a:pPr>
            <a:r>
              <a:rPr lang="en-US" sz="1400" dirty="0">
                <a:solidFill>
                  <a:schemeClr val="tx1"/>
                </a:solidFill>
              </a:rPr>
              <a:t>Next: adaptive, knows the block too (section 3)</a:t>
            </a:r>
            <a:endParaRPr lang="en-US" sz="14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1 · THE IDEA</a:t>
            </a:r>
            <a:endParaRPr lang="en-US" sz="1200" dirty="0"/>
          </a:p>
        </p:txBody>
      </p:sp>
      <p:sp>
        <p:nvSpPr>
          <p:cNvPr id="3" name="Text 0"/>
          <p:cNvSpPr/>
          <p:nvPr>
            <p:ph idx="101"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How the block works: filter, run, merge</a:t>
            </a:r>
            <a:endParaRPr lang="en-US" sz="3200" dirty="0"/>
          </a:p>
        </p:txBody>
      </p:sp>
      <p:sp>
        <p:nvSpPr>
          <p:cNvPr id="4" name="Shape 2"/>
          <p:cNvSpPr/>
          <p:nvPr/>
        </p:nvSpPr>
        <p:spPr>
          <a:xfrm>
            <a:off x="548640" y="2331720"/>
            <a:ext cx="1325880" cy="822960"/>
          </a:xfrm>
          <a:prstGeom prst="roundRect">
            <a:avLst>
              <a:gd name="adj" fmla="val 6667"/>
            </a:avLst>
          </a:prstGeom>
          <a:solidFill>
            <a:schemeClr val="bg2"/>
          </a:solidFill>
          <a:ln/>
        </p:spPr>
      </p:sp>
      <p:sp>
        <p:nvSpPr>
          <p:cNvPr id="5" name="Text 3"/>
          <p:cNvSpPr txBox="1"/>
          <p:nvPr/>
        </p:nvSpPr>
        <p:spPr>
          <a:xfrm>
            <a:off x="548640" y="2331720"/>
            <a:ext cx="1325880" cy="822960"/>
          </a:xfrm>
          <a:prstGeom prst="rect">
            <a:avLst/>
          </a:prstGeom>
          <a:noFill/>
          <a:ln/>
        </p:spPr>
        <p:txBody>
          <a:bodyPr wrap="square" lIns="0" tIns="0" rIns="0" bIns="0" rtlCol="0" anchor="ctr"/>
          <a:lstStyle/>
          <a:p>
            <a:pPr algn="ctr" indent="0" marL="0">
              <a:buNone/>
            </a:pPr>
            <a:r>
              <a:rPr lang="en-US" sz="1400" b="1" dirty="0">
                <a:solidFill>
                  <a:schemeClr val="tx1"/>
                </a:solidFill>
              </a:rPr>
              <a:t>Image</a:t>
            </a:r>
            <a:endParaRPr lang="en-US" sz="1400" dirty="0"/>
          </a:p>
        </p:txBody>
      </p:sp>
      <p:sp>
        <p:nvSpPr>
          <p:cNvPr id="6" name="Shape 4"/>
          <p:cNvSpPr/>
          <p:nvPr/>
        </p:nvSpPr>
        <p:spPr>
          <a:xfrm>
            <a:off x="1874520" y="2743200"/>
            <a:ext cx="274320" cy="0"/>
          </a:xfrm>
          <a:prstGeom prst="line">
            <a:avLst/>
          </a:prstGeom>
          <a:noFill/>
          <a:ln w="19050">
            <a:solidFill>
              <a:schemeClr val="accent4"/>
            </a:solidFill>
            <a:prstDash val="solid"/>
            <a:tailEnd type="triangle"/>
          </a:ln>
        </p:spPr>
      </p:sp>
      <p:sp>
        <p:nvSpPr>
          <p:cNvPr id="7" name="Shape 5"/>
          <p:cNvSpPr/>
          <p:nvPr/>
        </p:nvSpPr>
        <p:spPr>
          <a:xfrm>
            <a:off x="2148840" y="2240280"/>
            <a:ext cx="1600200" cy="1005840"/>
          </a:xfrm>
          <a:prstGeom prst="roundRect">
            <a:avLst>
              <a:gd name="adj" fmla="val 5455"/>
            </a:avLst>
          </a:prstGeom>
          <a:solidFill>
            <a:schemeClr val="accent2"/>
          </a:solidFill>
          <a:ln/>
        </p:spPr>
      </p:sp>
      <p:sp>
        <p:nvSpPr>
          <p:cNvPr id="8" name="Text 6"/>
          <p:cNvSpPr txBox="1"/>
          <p:nvPr/>
        </p:nvSpPr>
        <p:spPr>
          <a:xfrm>
            <a:off x="2148840" y="2240280"/>
            <a:ext cx="1600200" cy="1005840"/>
          </a:xfrm>
          <a:prstGeom prst="rect">
            <a:avLst/>
          </a:prstGeom>
          <a:noFill/>
          <a:ln/>
        </p:spPr>
        <p:txBody>
          <a:bodyPr wrap="square" lIns="0" tIns="0" rIns="0" bIns="0" rtlCol="0" anchor="ctr"/>
          <a:lstStyle/>
          <a:p>
            <a:pPr algn="ctr" indent="0" marL="0">
              <a:buNone/>
            </a:pPr>
            <a:r>
              <a:rPr lang="en-US" sz="1500" b="1" dirty="0">
                <a:solidFill>
                  <a:schemeClr val="bg1"/>
                </a:solidFill>
              </a:rPr>
              <a:t>Attack</a:t>
            </a:r>
            <a:endParaRPr lang="en-US" sz="1400" dirty="0"/>
          </a:p>
          <a:p>
            <a:pPr algn="ctr" indent="0" marL="0">
              <a:buNone/>
            </a:pPr>
            <a:r>
              <a:rPr lang="en-US" sz="1200" b="1" dirty="0">
                <a:solidFill>
                  <a:schemeClr val="bg1"/>
                </a:solidFill>
              </a:rPr>
              <a:t>FGSM · PGD · Patch</a:t>
            </a:r>
            <a:endParaRPr lang="en-US" sz="1400" dirty="0"/>
          </a:p>
        </p:txBody>
      </p:sp>
      <p:sp>
        <p:nvSpPr>
          <p:cNvPr id="9" name="Shape 7"/>
          <p:cNvSpPr/>
          <p:nvPr/>
        </p:nvSpPr>
        <p:spPr>
          <a:xfrm>
            <a:off x="4206240" y="1481328"/>
            <a:ext cx="5760720" cy="2523744"/>
          </a:xfrm>
          <a:prstGeom prst="roundRect">
            <a:avLst>
              <a:gd name="adj" fmla="val 2899"/>
            </a:avLst>
          </a:prstGeom>
          <a:ln w="15875">
            <a:solidFill>
              <a:schemeClr val="accent1"/>
            </a:solidFill>
            <a:prstDash val="dash"/>
          </a:ln>
        </p:spPr>
      </p:sp>
      <p:sp>
        <p:nvSpPr>
          <p:cNvPr id="10" name="Shape 8"/>
          <p:cNvSpPr/>
          <p:nvPr/>
        </p:nvSpPr>
        <p:spPr>
          <a:xfrm>
            <a:off x="3749040" y="2743200"/>
            <a:ext cx="320040" cy="0"/>
          </a:xfrm>
          <a:prstGeom prst="line">
            <a:avLst/>
          </a:prstGeom>
          <a:noFill/>
          <a:ln w="19050">
            <a:solidFill>
              <a:schemeClr val="accent4"/>
            </a:solidFill>
            <a:prstDash val="solid"/>
          </a:ln>
        </p:spPr>
      </p:sp>
      <p:sp>
        <p:nvSpPr>
          <p:cNvPr id="11" name="Shape 9"/>
          <p:cNvSpPr/>
          <p:nvPr/>
        </p:nvSpPr>
        <p:spPr>
          <a:xfrm>
            <a:off x="4069080" y="1965960"/>
            <a:ext cx="0" cy="1554480"/>
          </a:xfrm>
          <a:prstGeom prst="line">
            <a:avLst/>
          </a:prstGeom>
          <a:noFill/>
          <a:ln w="19050">
            <a:solidFill>
              <a:schemeClr val="accent4"/>
            </a:solidFill>
            <a:prstDash val="solid"/>
          </a:ln>
        </p:spPr>
      </p:sp>
      <p:sp>
        <p:nvSpPr>
          <p:cNvPr id="12" name="Shape 10"/>
          <p:cNvSpPr/>
          <p:nvPr/>
        </p:nvSpPr>
        <p:spPr>
          <a:xfrm>
            <a:off x="4069080" y="1965960"/>
            <a:ext cx="274320" cy="0"/>
          </a:xfrm>
          <a:prstGeom prst="line">
            <a:avLst/>
          </a:prstGeom>
          <a:noFill/>
          <a:ln w="19050">
            <a:solidFill>
              <a:schemeClr val="accent4"/>
            </a:solidFill>
            <a:prstDash val="solid"/>
            <a:tailEnd type="triangle"/>
          </a:ln>
        </p:spPr>
      </p:sp>
      <p:sp>
        <p:nvSpPr>
          <p:cNvPr id="13" name="Shape 11"/>
          <p:cNvSpPr/>
          <p:nvPr/>
        </p:nvSpPr>
        <p:spPr>
          <a:xfrm>
            <a:off x="4343400" y="1682496"/>
            <a:ext cx="1554480" cy="566928"/>
          </a:xfrm>
          <a:prstGeom prst="roundRect">
            <a:avLst>
              <a:gd name="adj" fmla="val 9677"/>
            </a:avLst>
          </a:prstGeom>
          <a:solidFill>
            <a:schemeClr val="bg2"/>
          </a:solidFill>
          <a:ln w="12700">
            <a:solidFill>
              <a:schemeClr val="accent1"/>
            </a:solidFill>
            <a:prstDash val="solid"/>
          </a:ln>
        </p:spPr>
      </p:sp>
      <p:sp>
        <p:nvSpPr>
          <p:cNvPr id="14" name="Text 12"/>
          <p:cNvSpPr txBox="1"/>
          <p:nvPr/>
        </p:nvSpPr>
        <p:spPr>
          <a:xfrm>
            <a:off x="4343400" y="1682496"/>
            <a:ext cx="1554480" cy="566928"/>
          </a:xfrm>
          <a:prstGeom prst="rect">
            <a:avLst/>
          </a:prstGeom>
          <a:noFill/>
          <a:ln/>
        </p:spPr>
        <p:txBody>
          <a:bodyPr wrap="square" lIns="0" tIns="0" rIns="0" bIns="0" rtlCol="0" anchor="ctr"/>
          <a:lstStyle/>
          <a:p>
            <a:pPr algn="ctr" indent="0" marL="0">
              <a:buNone/>
            </a:pPr>
            <a:r>
              <a:rPr lang="en-US" sz="1300" b="1" dirty="0">
                <a:solidFill>
                  <a:schemeClr val="tx1"/>
                </a:solidFill>
              </a:rPr>
              <a:t>JPEG (q = 75)</a:t>
            </a:r>
            <a:endParaRPr lang="en-US" sz="1300" dirty="0"/>
          </a:p>
        </p:txBody>
      </p:sp>
      <p:sp>
        <p:nvSpPr>
          <p:cNvPr id="15" name="Shape 13"/>
          <p:cNvSpPr/>
          <p:nvPr/>
        </p:nvSpPr>
        <p:spPr>
          <a:xfrm>
            <a:off x="5897880" y="1965960"/>
            <a:ext cx="365760" cy="0"/>
          </a:xfrm>
          <a:prstGeom prst="line">
            <a:avLst/>
          </a:prstGeom>
          <a:noFill/>
          <a:ln w="19050">
            <a:solidFill>
              <a:schemeClr val="accent4"/>
            </a:solidFill>
            <a:prstDash val="solid"/>
            <a:tailEnd type="triangle"/>
          </a:ln>
        </p:spPr>
      </p:sp>
      <p:sp>
        <p:nvSpPr>
          <p:cNvPr id="16" name="Shape 14"/>
          <p:cNvSpPr/>
          <p:nvPr/>
        </p:nvSpPr>
        <p:spPr>
          <a:xfrm>
            <a:off x="6263640" y="1682496"/>
            <a:ext cx="1371600" cy="566928"/>
          </a:xfrm>
          <a:prstGeom prst="roundRect">
            <a:avLst>
              <a:gd name="adj" fmla="val 9677"/>
            </a:avLst>
          </a:prstGeom>
          <a:solidFill>
            <a:schemeClr val="accent5"/>
          </a:solidFill>
          <a:ln/>
        </p:spPr>
      </p:sp>
      <p:sp>
        <p:nvSpPr>
          <p:cNvPr id="17" name="Text 15"/>
          <p:cNvSpPr txBox="1"/>
          <p:nvPr/>
        </p:nvSpPr>
        <p:spPr>
          <a:xfrm>
            <a:off x="6263640" y="1682496"/>
            <a:ext cx="1371600" cy="566928"/>
          </a:xfrm>
          <a:prstGeom prst="rect">
            <a:avLst/>
          </a:prstGeom>
          <a:noFill/>
          <a:ln/>
        </p:spPr>
        <p:txBody>
          <a:bodyPr wrap="square" lIns="0" tIns="0" rIns="0" bIns="0" rtlCol="0" anchor="ctr"/>
          <a:lstStyle/>
          <a:p>
            <a:pPr algn="ctr" indent="0" marL="0">
              <a:buNone/>
            </a:pPr>
            <a:r>
              <a:rPr lang="en-US" sz="1300" b="1" dirty="0">
                <a:solidFill>
                  <a:schemeClr val="bg1"/>
                </a:solidFill>
              </a:rPr>
              <a:t>Model</a:t>
            </a:r>
            <a:endParaRPr lang="en-US" sz="1300" dirty="0"/>
          </a:p>
        </p:txBody>
      </p:sp>
      <p:sp>
        <p:nvSpPr>
          <p:cNvPr id="18" name="Shape 16"/>
          <p:cNvSpPr/>
          <p:nvPr/>
        </p:nvSpPr>
        <p:spPr>
          <a:xfrm>
            <a:off x="7635240" y="1965960"/>
            <a:ext cx="365760" cy="0"/>
          </a:xfrm>
          <a:prstGeom prst="line">
            <a:avLst/>
          </a:prstGeom>
          <a:noFill/>
          <a:ln w="19050">
            <a:solidFill>
              <a:schemeClr val="accent4"/>
            </a:solidFill>
            <a:prstDash val="solid"/>
            <a:tailEnd type="triangle"/>
          </a:ln>
        </p:spPr>
      </p:sp>
      <p:sp>
        <p:nvSpPr>
          <p:cNvPr id="19" name="Shape 17"/>
          <p:cNvSpPr/>
          <p:nvPr/>
        </p:nvSpPr>
        <p:spPr>
          <a:xfrm>
            <a:off x="4069080" y="2743200"/>
            <a:ext cx="274320" cy="0"/>
          </a:xfrm>
          <a:prstGeom prst="line">
            <a:avLst/>
          </a:prstGeom>
          <a:noFill/>
          <a:ln w="19050">
            <a:solidFill>
              <a:schemeClr val="accent4"/>
            </a:solidFill>
            <a:prstDash val="solid"/>
            <a:tailEnd type="triangle"/>
          </a:ln>
        </p:spPr>
      </p:sp>
      <p:sp>
        <p:nvSpPr>
          <p:cNvPr id="20" name="Shape 18"/>
          <p:cNvSpPr/>
          <p:nvPr/>
        </p:nvSpPr>
        <p:spPr>
          <a:xfrm>
            <a:off x="4343400" y="2459736"/>
            <a:ext cx="1554480" cy="566928"/>
          </a:xfrm>
          <a:prstGeom prst="roundRect">
            <a:avLst>
              <a:gd name="adj" fmla="val 9677"/>
            </a:avLst>
          </a:prstGeom>
          <a:solidFill>
            <a:schemeClr val="bg2"/>
          </a:solidFill>
          <a:ln w="12700">
            <a:solidFill>
              <a:schemeClr val="accent1"/>
            </a:solidFill>
            <a:prstDash val="solid"/>
          </a:ln>
        </p:spPr>
      </p:sp>
      <p:sp>
        <p:nvSpPr>
          <p:cNvPr id="21" name="Text 19"/>
          <p:cNvSpPr txBox="1"/>
          <p:nvPr/>
        </p:nvSpPr>
        <p:spPr>
          <a:xfrm>
            <a:off x="4343400" y="2459736"/>
            <a:ext cx="1554480" cy="566928"/>
          </a:xfrm>
          <a:prstGeom prst="rect">
            <a:avLst/>
          </a:prstGeom>
          <a:noFill/>
          <a:ln/>
        </p:spPr>
        <p:txBody>
          <a:bodyPr wrap="square" lIns="0" tIns="0" rIns="0" bIns="0" rtlCol="0" anchor="ctr"/>
          <a:lstStyle/>
          <a:p>
            <a:pPr algn="ctr" indent="0" marL="0">
              <a:buNone/>
            </a:pPr>
            <a:r>
              <a:rPr lang="en-US" sz="1300" b="1" dirty="0">
                <a:solidFill>
                  <a:schemeClr val="tx1"/>
                </a:solidFill>
              </a:rPr>
              <a:t>Median (3×3)</a:t>
            </a:r>
            <a:endParaRPr lang="en-US" sz="1300" dirty="0"/>
          </a:p>
        </p:txBody>
      </p:sp>
      <p:sp>
        <p:nvSpPr>
          <p:cNvPr id="22" name="Shape 20"/>
          <p:cNvSpPr/>
          <p:nvPr/>
        </p:nvSpPr>
        <p:spPr>
          <a:xfrm>
            <a:off x="5897880" y="2743200"/>
            <a:ext cx="365760" cy="0"/>
          </a:xfrm>
          <a:prstGeom prst="line">
            <a:avLst/>
          </a:prstGeom>
          <a:noFill/>
          <a:ln w="19050">
            <a:solidFill>
              <a:schemeClr val="accent4"/>
            </a:solidFill>
            <a:prstDash val="solid"/>
            <a:tailEnd type="triangle"/>
          </a:ln>
        </p:spPr>
      </p:sp>
      <p:sp>
        <p:nvSpPr>
          <p:cNvPr id="23" name="Shape 21"/>
          <p:cNvSpPr/>
          <p:nvPr/>
        </p:nvSpPr>
        <p:spPr>
          <a:xfrm>
            <a:off x="6263640" y="2459736"/>
            <a:ext cx="1371600" cy="566928"/>
          </a:xfrm>
          <a:prstGeom prst="roundRect">
            <a:avLst>
              <a:gd name="adj" fmla="val 9677"/>
            </a:avLst>
          </a:prstGeom>
          <a:solidFill>
            <a:schemeClr val="accent5"/>
          </a:solidFill>
          <a:ln/>
        </p:spPr>
      </p:sp>
      <p:sp>
        <p:nvSpPr>
          <p:cNvPr id="24" name="Text 22"/>
          <p:cNvSpPr txBox="1"/>
          <p:nvPr/>
        </p:nvSpPr>
        <p:spPr>
          <a:xfrm>
            <a:off x="6263640" y="2459736"/>
            <a:ext cx="1371600" cy="566928"/>
          </a:xfrm>
          <a:prstGeom prst="rect">
            <a:avLst/>
          </a:prstGeom>
          <a:noFill/>
          <a:ln/>
        </p:spPr>
        <p:txBody>
          <a:bodyPr wrap="square" lIns="0" tIns="0" rIns="0" bIns="0" rtlCol="0" anchor="ctr"/>
          <a:lstStyle/>
          <a:p>
            <a:pPr algn="ctr" indent="0" marL="0">
              <a:buNone/>
            </a:pPr>
            <a:r>
              <a:rPr lang="en-US" sz="1300" b="1" dirty="0">
                <a:solidFill>
                  <a:schemeClr val="bg1"/>
                </a:solidFill>
              </a:rPr>
              <a:t>Model</a:t>
            </a:r>
            <a:endParaRPr lang="en-US" sz="1300" dirty="0"/>
          </a:p>
        </p:txBody>
      </p:sp>
      <p:sp>
        <p:nvSpPr>
          <p:cNvPr id="25" name="Shape 23"/>
          <p:cNvSpPr/>
          <p:nvPr/>
        </p:nvSpPr>
        <p:spPr>
          <a:xfrm>
            <a:off x="7635240" y="2743200"/>
            <a:ext cx="365760" cy="0"/>
          </a:xfrm>
          <a:prstGeom prst="line">
            <a:avLst/>
          </a:prstGeom>
          <a:noFill/>
          <a:ln w="19050">
            <a:solidFill>
              <a:schemeClr val="accent4"/>
            </a:solidFill>
            <a:prstDash val="solid"/>
            <a:tailEnd type="triangle"/>
          </a:ln>
        </p:spPr>
      </p:sp>
      <p:sp>
        <p:nvSpPr>
          <p:cNvPr id="26" name="Shape 24"/>
          <p:cNvSpPr/>
          <p:nvPr/>
        </p:nvSpPr>
        <p:spPr>
          <a:xfrm>
            <a:off x="4069080" y="3520440"/>
            <a:ext cx="274320" cy="0"/>
          </a:xfrm>
          <a:prstGeom prst="line">
            <a:avLst/>
          </a:prstGeom>
          <a:noFill/>
          <a:ln w="19050">
            <a:solidFill>
              <a:schemeClr val="accent4"/>
            </a:solidFill>
            <a:prstDash val="solid"/>
            <a:tailEnd type="triangle"/>
          </a:ln>
        </p:spPr>
      </p:sp>
      <p:sp>
        <p:nvSpPr>
          <p:cNvPr id="27" name="Shape 25"/>
          <p:cNvSpPr/>
          <p:nvPr/>
        </p:nvSpPr>
        <p:spPr>
          <a:xfrm>
            <a:off x="4343400" y="3236976"/>
            <a:ext cx="1554480" cy="566928"/>
          </a:xfrm>
          <a:prstGeom prst="roundRect">
            <a:avLst>
              <a:gd name="adj" fmla="val 9677"/>
            </a:avLst>
          </a:prstGeom>
          <a:solidFill>
            <a:schemeClr val="bg2"/>
          </a:solidFill>
          <a:ln w="12700">
            <a:solidFill>
              <a:schemeClr val="accent1"/>
            </a:solidFill>
            <a:prstDash val="solid"/>
          </a:ln>
        </p:spPr>
      </p:sp>
      <p:sp>
        <p:nvSpPr>
          <p:cNvPr id="28" name="Text 26"/>
          <p:cNvSpPr txBox="1"/>
          <p:nvPr/>
        </p:nvSpPr>
        <p:spPr>
          <a:xfrm>
            <a:off x="4343400" y="3236976"/>
            <a:ext cx="1554480" cy="566928"/>
          </a:xfrm>
          <a:prstGeom prst="rect">
            <a:avLst/>
          </a:prstGeom>
          <a:noFill/>
          <a:ln/>
        </p:spPr>
        <p:txBody>
          <a:bodyPr wrap="square" lIns="0" tIns="0" rIns="0" bIns="0" rtlCol="0" anchor="ctr"/>
          <a:lstStyle/>
          <a:p>
            <a:pPr algn="ctr" indent="0" marL="0">
              <a:buNone/>
            </a:pPr>
            <a:r>
              <a:rPr lang="en-US" sz="1300" b="1" dirty="0">
                <a:solidFill>
                  <a:schemeClr val="tx1"/>
                </a:solidFill>
              </a:rPr>
              <a:t>Gaussian (σ = 1)</a:t>
            </a:r>
            <a:endParaRPr lang="en-US" sz="1300" dirty="0"/>
          </a:p>
        </p:txBody>
      </p:sp>
      <p:sp>
        <p:nvSpPr>
          <p:cNvPr id="29" name="Shape 27"/>
          <p:cNvSpPr/>
          <p:nvPr/>
        </p:nvSpPr>
        <p:spPr>
          <a:xfrm>
            <a:off x="5897880" y="3520440"/>
            <a:ext cx="365760" cy="0"/>
          </a:xfrm>
          <a:prstGeom prst="line">
            <a:avLst/>
          </a:prstGeom>
          <a:noFill/>
          <a:ln w="19050">
            <a:solidFill>
              <a:schemeClr val="accent4"/>
            </a:solidFill>
            <a:prstDash val="solid"/>
            <a:tailEnd type="triangle"/>
          </a:ln>
        </p:spPr>
      </p:sp>
      <p:sp>
        <p:nvSpPr>
          <p:cNvPr id="30" name="Shape 28"/>
          <p:cNvSpPr/>
          <p:nvPr/>
        </p:nvSpPr>
        <p:spPr>
          <a:xfrm>
            <a:off x="6263640" y="3236976"/>
            <a:ext cx="1371600" cy="566928"/>
          </a:xfrm>
          <a:prstGeom prst="roundRect">
            <a:avLst>
              <a:gd name="adj" fmla="val 9677"/>
            </a:avLst>
          </a:prstGeom>
          <a:solidFill>
            <a:schemeClr val="accent5"/>
          </a:solidFill>
          <a:ln/>
        </p:spPr>
      </p:sp>
      <p:sp>
        <p:nvSpPr>
          <p:cNvPr id="31" name="Text 29"/>
          <p:cNvSpPr txBox="1"/>
          <p:nvPr/>
        </p:nvSpPr>
        <p:spPr>
          <a:xfrm>
            <a:off x="6263640" y="3236976"/>
            <a:ext cx="1371600" cy="566928"/>
          </a:xfrm>
          <a:prstGeom prst="rect">
            <a:avLst/>
          </a:prstGeom>
          <a:noFill/>
          <a:ln/>
        </p:spPr>
        <p:txBody>
          <a:bodyPr wrap="square" lIns="0" tIns="0" rIns="0" bIns="0" rtlCol="0" anchor="ctr"/>
          <a:lstStyle/>
          <a:p>
            <a:pPr algn="ctr" indent="0" marL="0">
              <a:buNone/>
            </a:pPr>
            <a:r>
              <a:rPr lang="en-US" sz="1300" b="1" dirty="0">
                <a:solidFill>
                  <a:schemeClr val="bg1"/>
                </a:solidFill>
              </a:rPr>
              <a:t>Model</a:t>
            </a:r>
            <a:endParaRPr lang="en-US" sz="1300" dirty="0"/>
          </a:p>
        </p:txBody>
      </p:sp>
      <p:sp>
        <p:nvSpPr>
          <p:cNvPr id="32" name="Shape 30"/>
          <p:cNvSpPr/>
          <p:nvPr/>
        </p:nvSpPr>
        <p:spPr>
          <a:xfrm>
            <a:off x="7635240" y="3520440"/>
            <a:ext cx="365760" cy="0"/>
          </a:xfrm>
          <a:prstGeom prst="line">
            <a:avLst/>
          </a:prstGeom>
          <a:noFill/>
          <a:ln w="19050">
            <a:solidFill>
              <a:schemeClr val="accent4"/>
            </a:solidFill>
            <a:prstDash val="solid"/>
            <a:tailEnd type="triangle"/>
          </a:ln>
        </p:spPr>
      </p:sp>
      <p:sp>
        <p:nvSpPr>
          <p:cNvPr id="33" name="Shape 31"/>
          <p:cNvSpPr/>
          <p:nvPr/>
        </p:nvSpPr>
        <p:spPr>
          <a:xfrm>
            <a:off x="8001000" y="1682496"/>
            <a:ext cx="1828800" cy="2121408"/>
          </a:xfrm>
          <a:prstGeom prst="roundRect">
            <a:avLst>
              <a:gd name="adj" fmla="val 3000"/>
            </a:avLst>
          </a:prstGeom>
          <a:solidFill>
            <a:schemeClr val="accent1"/>
          </a:solidFill>
          <a:ln/>
        </p:spPr>
      </p:sp>
      <p:sp>
        <p:nvSpPr>
          <p:cNvPr id="34" name="Text 32"/>
          <p:cNvSpPr txBox="1"/>
          <p:nvPr/>
        </p:nvSpPr>
        <p:spPr>
          <a:xfrm>
            <a:off x="8001000" y="1682496"/>
            <a:ext cx="1828800" cy="2121408"/>
          </a:xfrm>
          <a:prstGeom prst="rect">
            <a:avLst/>
          </a:prstGeom>
          <a:noFill/>
          <a:ln/>
        </p:spPr>
        <p:txBody>
          <a:bodyPr wrap="square" lIns="0" tIns="0" rIns="0" bIns="0" rtlCol="0" anchor="ctr"/>
          <a:lstStyle/>
          <a:p>
            <a:pPr algn="ctr" indent="0" marL="0">
              <a:buNone/>
            </a:pPr>
            <a:r>
              <a:rPr lang="en-US" sz="1500" b="1" dirty="0">
                <a:solidFill>
                  <a:schemeClr val="bg1"/>
                </a:solidFill>
              </a:rPr>
              <a:t>Merge boxes</a:t>
            </a:r>
            <a:endParaRPr lang="en-US" sz="1400" dirty="0"/>
          </a:p>
          <a:p>
            <a:pPr algn="ctr" indent="0" marL="0">
              <a:buNone/>
            </a:pPr>
            <a:r>
              <a:rPr lang="en-US" sz="1200" b="1" dirty="0">
                <a:solidFill>
                  <a:schemeClr val="bg1"/>
                </a:solidFill>
              </a:rPr>
              <a:t>class-aware NMS</a:t>
            </a:r>
            <a:endParaRPr lang="en-US" sz="1400" dirty="0"/>
          </a:p>
          <a:p>
            <a:pPr algn="ctr" indent="0" marL="0">
              <a:buNone/>
            </a:pPr>
            <a:r>
              <a:rPr lang="en-US" sz="1200" b="1" dirty="0">
                <a:solidFill>
                  <a:schemeClr val="bg1"/>
                </a:solidFill>
              </a:rPr>
              <a:t>(union)</a:t>
            </a:r>
            <a:endParaRPr lang="en-US" sz="1400" dirty="0"/>
          </a:p>
        </p:txBody>
      </p:sp>
      <p:sp>
        <p:nvSpPr>
          <p:cNvPr id="35" name="Shape 33"/>
          <p:cNvSpPr/>
          <p:nvPr/>
        </p:nvSpPr>
        <p:spPr>
          <a:xfrm>
            <a:off x="9829800" y="2743200"/>
            <a:ext cx="320040" cy="0"/>
          </a:xfrm>
          <a:prstGeom prst="line">
            <a:avLst/>
          </a:prstGeom>
          <a:noFill/>
          <a:ln w="19050">
            <a:solidFill>
              <a:schemeClr val="accent4"/>
            </a:solidFill>
            <a:prstDash val="solid"/>
            <a:tailEnd type="triangle"/>
          </a:ln>
        </p:spPr>
      </p:sp>
      <p:sp>
        <p:nvSpPr>
          <p:cNvPr id="36" name="Shape 34"/>
          <p:cNvSpPr/>
          <p:nvPr/>
        </p:nvSpPr>
        <p:spPr>
          <a:xfrm>
            <a:off x="10149840" y="2240280"/>
            <a:ext cx="1490472" cy="1005840"/>
          </a:xfrm>
          <a:prstGeom prst="roundRect">
            <a:avLst>
              <a:gd name="adj" fmla="val 5455"/>
            </a:avLst>
          </a:prstGeom>
          <a:solidFill>
            <a:schemeClr val="bg2"/>
          </a:solidFill>
          <a:ln/>
        </p:spPr>
      </p:sp>
      <p:sp>
        <p:nvSpPr>
          <p:cNvPr id="37" name="Text 35"/>
          <p:cNvSpPr txBox="1"/>
          <p:nvPr/>
        </p:nvSpPr>
        <p:spPr>
          <a:xfrm>
            <a:off x="10149840" y="2240280"/>
            <a:ext cx="1490472" cy="1005840"/>
          </a:xfrm>
          <a:prstGeom prst="rect">
            <a:avLst/>
          </a:prstGeom>
          <a:noFill/>
          <a:ln/>
        </p:spPr>
        <p:txBody>
          <a:bodyPr wrap="square" lIns="0" tIns="0" rIns="0" bIns="0" rtlCol="0" anchor="ctr"/>
          <a:lstStyle/>
          <a:p>
            <a:pPr algn="ctr" indent="0" marL="0">
              <a:buNone/>
            </a:pPr>
            <a:r>
              <a:rPr lang="en-US" sz="1400" b="1" dirty="0">
                <a:solidFill>
                  <a:schemeClr val="tx1"/>
                </a:solidFill>
              </a:rPr>
              <a:t>Detections</a:t>
            </a:r>
            <a:endParaRPr lang="en-US" sz="1400" dirty="0"/>
          </a:p>
          <a:p>
            <a:pPr algn="ctr" indent="0" marL="0">
              <a:buNone/>
            </a:pPr>
            <a:r>
              <a:rPr lang="en-US" sz="1200" b="1" dirty="0">
                <a:solidFill>
                  <a:schemeClr val="tx1"/>
                </a:solidFill>
              </a:rPr>
              <a:t>→ mAP</a:t>
            </a:r>
            <a:endParaRPr lang="en-US" sz="1400" dirty="0"/>
          </a:p>
        </p:txBody>
      </p:sp>
      <p:sp>
        <p:nvSpPr>
          <p:cNvPr id="38" name="Text 36"/>
          <p:cNvSpPr txBox="1"/>
          <p:nvPr/>
        </p:nvSpPr>
        <p:spPr>
          <a:xfrm>
            <a:off x="4206240" y="4069080"/>
            <a:ext cx="5760720" cy="274320"/>
          </a:xfrm>
          <a:prstGeom prst="rect">
            <a:avLst/>
          </a:prstGeom>
          <a:noFill/>
          <a:ln/>
        </p:spPr>
        <p:txBody>
          <a:bodyPr wrap="square" lIns="0" tIns="0" rIns="0" bIns="0" rtlCol="0" anchor="t"/>
          <a:lstStyle/>
          <a:p>
            <a:pPr algn="ctr" indent="0" marL="0">
              <a:buNone/>
            </a:pPr>
            <a:r>
              <a:rPr lang="en-US" sz="1200" i="1" dirty="0">
                <a:solidFill>
                  <a:schemeClr val="accent1"/>
                </a:solidFill>
              </a:rPr>
              <a:t>Our block (EnsJMG shown): the model itself is untouched</a:t>
            </a:r>
            <a:endParaRPr lang="en-US" sz="1200" dirty="0"/>
          </a:p>
        </p:txBody>
      </p:sp>
      <p:sp>
        <p:nvSpPr>
          <p:cNvPr id="39" name="Shape 37"/>
          <p:cNvSpPr/>
          <p:nvPr/>
        </p:nvSpPr>
        <p:spPr>
          <a:xfrm>
            <a:off x="548640" y="4526280"/>
            <a:ext cx="5432908" cy="1600200"/>
          </a:xfrm>
          <a:prstGeom prst="roundRect">
            <a:avLst>
              <a:gd name="adj" fmla="val 4571"/>
            </a:avLst>
          </a:prstGeom>
          <a:solidFill>
            <a:schemeClr val="bg2"/>
          </a:solidFill>
          <a:ln/>
          <a:effectLst>
            <a:outerShdw sx="100000" sy="100000" kx="0" ky="0" algn="bl" rotWithShape="0" blurRad="76200" dist="25400" dir="5400000">
              <a:srgbClr val="1B1F24">
                <a:alpha val="12000"/>
              </a:srgbClr>
            </a:outerShdw>
          </a:effectLst>
        </p:spPr>
      </p:sp>
      <p:sp>
        <p:nvSpPr>
          <p:cNvPr id="40" name="Shape 38"/>
          <p:cNvSpPr/>
          <p:nvPr/>
        </p:nvSpPr>
        <p:spPr>
          <a:xfrm>
            <a:off x="777240" y="4800600"/>
            <a:ext cx="502920" cy="502920"/>
          </a:xfrm>
          <a:prstGeom prst="ellipse">
            <a:avLst/>
          </a:prstGeom>
          <a:solidFill>
            <a:schemeClr val="accent1"/>
          </a:solidFill>
          <a:ln/>
        </p:spPr>
      </p:sp>
      <p:pic>
        <p:nvPicPr>
          <p:cNvPr id="41" name="Image 0" descr="FaPuzzlePiece">    </p:cNvPr>
          <p:cNvPicPr>
            <a:picLocks noChangeAspect="1"/>
          </p:cNvPicPr>
          <p:nvPr/>
        </p:nvPicPr>
        <p:blipFill>
          <a:blip r:embed="rId1"/>
          <a:stretch>
            <a:fillRect/>
          </a:stretch>
        </p:blipFill>
        <p:spPr>
          <a:xfrm>
            <a:off x="897941" y="4921301"/>
            <a:ext cx="261518" cy="261518"/>
          </a:xfrm>
          <a:prstGeom prst="rect">
            <a:avLst/>
          </a:prstGeom>
        </p:spPr>
      </p:pic>
      <p:sp>
        <p:nvSpPr>
          <p:cNvPr id="42" name="Text 39"/>
          <p:cNvSpPr txBox="1"/>
          <p:nvPr/>
        </p:nvSpPr>
        <p:spPr>
          <a:xfrm>
            <a:off x="1463040" y="4754880"/>
            <a:ext cx="4289908" cy="365760"/>
          </a:xfrm>
          <a:prstGeom prst="rect">
            <a:avLst/>
          </a:prstGeom>
          <a:noFill/>
          <a:ln/>
        </p:spPr>
        <p:txBody>
          <a:bodyPr wrap="square" lIns="0" tIns="0" rIns="0" bIns="0" rtlCol="0" anchor="t"/>
          <a:lstStyle/>
          <a:p>
            <a:pPr indent="0" marL="0">
              <a:buNone/>
            </a:pPr>
            <a:r>
              <a:rPr lang="en-US" sz="1600" b="1" dirty="0">
                <a:solidFill>
                  <a:schemeClr val="tx1"/>
                </a:solidFill>
              </a:rPr>
              <a:t>Plug-and-play</a:t>
            </a:r>
            <a:endParaRPr lang="en-US" sz="1600" dirty="0"/>
          </a:p>
        </p:txBody>
      </p:sp>
      <p:sp>
        <p:nvSpPr>
          <p:cNvPr id="43" name="Text 40"/>
          <p:cNvSpPr txBox="1"/>
          <p:nvPr/>
        </p:nvSpPr>
        <p:spPr>
          <a:xfrm>
            <a:off x="1463040" y="5166360"/>
            <a:ext cx="4289908" cy="822960"/>
          </a:xfrm>
          <a:prstGeom prst="rect">
            <a:avLst/>
          </a:prstGeom>
          <a:noFill/>
          <a:ln/>
        </p:spPr>
        <p:txBody>
          <a:bodyPr wrap="square" lIns="0" tIns="0" rIns="0" bIns="0" rtlCol="0" anchor="t"/>
          <a:lstStyle/>
          <a:p>
            <a:pPr indent="0" marL="0">
              <a:buNone/>
            </a:pPr>
            <a:r>
              <a:rPr lang="en-US" sz="1400" dirty="0">
                <a:solidFill>
                  <a:schemeClr val="tx1"/>
                </a:solidFill>
              </a:rPr>
              <a:t>No training and no change to the model: the same block runs in front of Florence-2 and YOLO-World.</a:t>
            </a:r>
            <a:endParaRPr lang="en-US" sz="1400" dirty="0"/>
          </a:p>
        </p:txBody>
      </p:sp>
      <p:sp>
        <p:nvSpPr>
          <p:cNvPr id="44" name="Shape 41"/>
          <p:cNvSpPr/>
          <p:nvPr/>
        </p:nvSpPr>
        <p:spPr>
          <a:xfrm>
            <a:off x="6210148" y="4526280"/>
            <a:ext cx="5432908" cy="1600200"/>
          </a:xfrm>
          <a:prstGeom prst="roundRect">
            <a:avLst>
              <a:gd name="adj" fmla="val 4571"/>
            </a:avLst>
          </a:prstGeom>
          <a:solidFill>
            <a:schemeClr val="bg2"/>
          </a:solidFill>
          <a:ln/>
          <a:effectLst>
            <a:outerShdw sx="100000" sy="100000" kx="0" ky="0" algn="bl" rotWithShape="0" blurRad="76200" dist="25400" dir="5400000">
              <a:srgbClr val="1B1F24">
                <a:alpha val="12000"/>
              </a:srgbClr>
            </a:outerShdw>
          </a:effectLst>
        </p:spPr>
      </p:sp>
      <p:sp>
        <p:nvSpPr>
          <p:cNvPr id="45" name="Shape 42"/>
          <p:cNvSpPr/>
          <p:nvPr/>
        </p:nvSpPr>
        <p:spPr>
          <a:xfrm>
            <a:off x="6438748" y="4800600"/>
            <a:ext cx="502920" cy="502920"/>
          </a:xfrm>
          <a:prstGeom prst="ellipse">
            <a:avLst/>
          </a:prstGeom>
          <a:solidFill>
            <a:schemeClr val="accent5"/>
          </a:solidFill>
          <a:ln/>
        </p:spPr>
      </p:sp>
      <p:pic>
        <p:nvPicPr>
          <p:cNvPr id="46" name="Image 1" descr="FaCodeMerge">    </p:cNvPr>
          <p:cNvPicPr>
            <a:picLocks noChangeAspect="1"/>
          </p:cNvPicPr>
          <p:nvPr/>
        </p:nvPicPr>
        <p:blipFill>
          <a:blip r:embed="rId2"/>
          <a:stretch>
            <a:fillRect/>
          </a:stretch>
        </p:blipFill>
        <p:spPr>
          <a:xfrm>
            <a:off x="6559448" y="4921301"/>
            <a:ext cx="261518" cy="261518"/>
          </a:xfrm>
          <a:prstGeom prst="rect">
            <a:avLst/>
          </a:prstGeom>
        </p:spPr>
      </p:pic>
      <p:sp>
        <p:nvSpPr>
          <p:cNvPr id="47" name="Text 43"/>
          <p:cNvSpPr txBox="1"/>
          <p:nvPr/>
        </p:nvSpPr>
        <p:spPr>
          <a:xfrm>
            <a:off x="7124548" y="4754880"/>
            <a:ext cx="4289908" cy="365760"/>
          </a:xfrm>
          <a:prstGeom prst="rect">
            <a:avLst/>
          </a:prstGeom>
          <a:noFill/>
          <a:ln/>
        </p:spPr>
        <p:txBody>
          <a:bodyPr wrap="square" lIns="0" tIns="0" rIns="0" bIns="0" rtlCol="0" anchor="t"/>
          <a:lstStyle/>
          <a:p>
            <a:pPr indent="0" marL="0">
              <a:buNone/>
            </a:pPr>
            <a:r>
              <a:rPr lang="en-US" sz="1600" b="1" dirty="0">
                <a:solidFill>
                  <a:schemeClr val="tx1"/>
                </a:solidFill>
              </a:rPr>
              <a:t>Union merge</a:t>
            </a:r>
            <a:endParaRPr lang="en-US" sz="1600" dirty="0"/>
          </a:p>
        </p:txBody>
      </p:sp>
      <p:sp>
        <p:nvSpPr>
          <p:cNvPr id="48" name="Text 44"/>
          <p:cNvSpPr txBox="1"/>
          <p:nvPr/>
        </p:nvSpPr>
        <p:spPr>
          <a:xfrm>
            <a:off x="7124548" y="5166360"/>
            <a:ext cx="4289908" cy="822960"/>
          </a:xfrm>
          <a:prstGeom prst="rect">
            <a:avLst/>
          </a:prstGeom>
          <a:noFill/>
          <a:ln/>
        </p:spPr>
        <p:txBody>
          <a:bodyPr wrap="square" lIns="0" tIns="0" rIns="0" bIns="0" rtlCol="0" anchor="t"/>
          <a:lstStyle/>
          <a:p>
            <a:pPr indent="0" marL="0">
              <a:buNone/>
            </a:pPr>
            <a:r>
              <a:rPr lang="en-US" sz="1400" dirty="0">
                <a:solidFill>
                  <a:schemeClr val="tx1"/>
                </a:solidFill>
              </a:rPr>
              <a:t>The model runs once per branch (3×). A box survives if any branch keeps it, so one clean view is enough.</a:t>
            </a:r>
            <a:endParaRPr lang="en-US" sz="14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2 · RESULTS</a:t>
            </a:r>
            <a:endParaRPr lang="en-US" sz="1200" dirty="0"/>
          </a:p>
        </p:txBody>
      </p:sp>
      <p:sp>
        <p:nvSpPr>
          <p:cNvPr id="3" name="Text 0"/>
          <p:cNvSpPr/>
          <p:nvPr>
            <p:ph idx="101"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Blind attacks: the block recovers most of the loss</a:t>
            </a:r>
            <a:endParaRPr lang="en-US" sz="3200" dirty="0"/>
          </a:p>
        </p:txBody>
      </p:sp>
      <p:graphicFrame>
        <p:nvGraphicFramePr>
          <p:cNvPr id="4" name="YOLO results chart" descr=""/>
          <p:cNvGraphicFramePr/>
          <p:nvPr/>
        </p:nvGraphicFramePr>
        <p:xfrm>
          <a:off x="548640" y="1417320"/>
          <a:ext cx="3840480" cy="438912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Florence results chart" descr=""/>
          <p:cNvGraphicFramePr/>
          <p:nvPr/>
        </p:nvGraphicFramePr>
        <p:xfrm>
          <a:off x="4526280" y="1417320"/>
          <a:ext cx="3840480" cy="4389120"/>
        </p:xfrm>
        <a:graphic xmlns:a="http://schemas.openxmlformats.org/drawingml/2006/main">
          <a:graphicData uri="http://schemas.openxmlformats.org/drawingml/2006/chart">
            <c:chart xmlns:c="http://schemas.openxmlformats.org/drawingml/2006/chart" r:id="rId2"/>
          </a:graphicData>
        </a:graphic>
      </p:graphicFrame>
      <p:sp>
        <p:nvSpPr>
          <p:cNvPr id="6" name="Text 2"/>
          <p:cNvSpPr txBox="1"/>
          <p:nvPr/>
        </p:nvSpPr>
        <p:spPr>
          <a:xfrm>
            <a:off x="548640" y="5870448"/>
            <a:ext cx="7818120" cy="411480"/>
          </a:xfrm>
          <a:prstGeom prst="rect">
            <a:avLst/>
          </a:prstGeom>
          <a:noFill/>
          <a:ln/>
        </p:spPr>
        <p:txBody>
          <a:bodyPr wrap="square" lIns="0" tIns="0" rIns="0" bIns="0" rtlCol="0" anchor="t"/>
          <a:lstStyle/>
          <a:p>
            <a:pPr indent="0" marL="0">
              <a:buNone/>
            </a:pPr>
            <a:r>
              <a:rPr lang="en-US" sz="1100" dirty="0">
                <a:solidFill>
                  <a:schemeClr val="accent4"/>
                </a:solidFill>
              </a:rPr>
              <a:t>N = 5,000 images, mAP@[.5:.95]. OCR, not shown: PGD drops similarity to 0.29; the best filters restore 0.65–0.66.</a:t>
            </a:r>
            <a:endParaRPr lang="en-US" sz="1100" dirty="0"/>
          </a:p>
        </p:txBody>
      </p:sp>
      <p:sp>
        <p:nvSpPr>
          <p:cNvPr id="7" name="Shape 3"/>
          <p:cNvSpPr/>
          <p:nvPr/>
        </p:nvSpPr>
        <p:spPr>
          <a:xfrm>
            <a:off x="8595360" y="1417320"/>
            <a:ext cx="3044952" cy="4846320"/>
          </a:xfrm>
          <a:prstGeom prst="roundRect">
            <a:avLst>
              <a:gd name="adj" fmla="val 2402"/>
            </a:avLst>
          </a:prstGeom>
          <a:solidFill>
            <a:schemeClr val="bg2"/>
          </a:solidFill>
          <a:ln/>
          <a:effectLst>
            <a:outerShdw sx="100000" sy="100000" kx="0" ky="0" algn="bl" rotWithShape="0" blurRad="76200" dist="25400" dir="5400000">
              <a:srgbClr val="1B1F24">
                <a:alpha val="12000"/>
              </a:srgbClr>
            </a:outerShdw>
          </a:effectLst>
        </p:spPr>
      </p:sp>
      <p:sp>
        <p:nvSpPr>
          <p:cNvPr id="8" name="Text 4"/>
          <p:cNvSpPr txBox="1"/>
          <p:nvPr/>
        </p:nvSpPr>
        <p:spPr>
          <a:xfrm>
            <a:off x="8823960" y="1600200"/>
            <a:ext cx="2651760" cy="365760"/>
          </a:xfrm>
          <a:prstGeom prst="rect">
            <a:avLst/>
          </a:prstGeom>
          <a:noFill/>
          <a:ln/>
        </p:spPr>
        <p:txBody>
          <a:bodyPr wrap="square" lIns="0" tIns="0" rIns="0" bIns="0" rtlCol="0" anchor="t"/>
          <a:lstStyle/>
          <a:p>
            <a:pPr indent="0" marL="0">
              <a:buNone/>
            </a:pPr>
            <a:r>
              <a:rPr lang="en-US" sz="1600" b="1" dirty="0">
                <a:solidFill>
                  <a:schemeClr val="tx1"/>
                </a:solidFill>
              </a:rPr>
              <a:t>Takeaways</a:t>
            </a:r>
            <a:endParaRPr lang="en-US" sz="1600" dirty="0"/>
          </a:p>
        </p:txBody>
      </p:sp>
      <p:sp>
        <p:nvSpPr>
          <p:cNvPr id="9" name="Shape 5"/>
          <p:cNvSpPr/>
          <p:nvPr/>
        </p:nvSpPr>
        <p:spPr>
          <a:xfrm>
            <a:off x="8823960" y="2194560"/>
            <a:ext cx="384048" cy="384048"/>
          </a:xfrm>
          <a:prstGeom prst="ellipse">
            <a:avLst/>
          </a:prstGeom>
          <a:solidFill>
            <a:schemeClr val="accent1"/>
          </a:solidFill>
          <a:ln/>
        </p:spPr>
      </p:sp>
      <p:sp>
        <p:nvSpPr>
          <p:cNvPr id="10" name="Text 6"/>
          <p:cNvSpPr txBox="1"/>
          <p:nvPr/>
        </p:nvSpPr>
        <p:spPr>
          <a:xfrm>
            <a:off x="8823960" y="21945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1" name="Text 7"/>
          <p:cNvSpPr txBox="1"/>
          <p:nvPr/>
        </p:nvSpPr>
        <p:spPr>
          <a:xfrm>
            <a:off x="9326880" y="2176272"/>
            <a:ext cx="2148840" cy="1234440"/>
          </a:xfrm>
          <a:prstGeom prst="rect">
            <a:avLst/>
          </a:prstGeom>
          <a:noFill/>
          <a:ln/>
        </p:spPr>
        <p:txBody>
          <a:bodyPr wrap="square" lIns="0" tIns="0" rIns="0" bIns="0" rtlCol="0" anchor="t"/>
          <a:lstStyle/>
          <a:p>
            <a:pPr indent="0" marL="0">
              <a:buNone/>
            </a:pPr>
            <a:r>
              <a:rPr lang="en-US" sz="1400" dirty="0">
                <a:solidFill>
                  <a:schemeClr val="tx1"/>
                </a:solidFill>
              </a:rPr>
              <a:t>PGD hits hardest: YOLO falls from 0.45 to 0.06 mAP</a:t>
            </a:r>
            <a:endParaRPr lang="en-US" sz="1400" dirty="0"/>
          </a:p>
        </p:txBody>
      </p:sp>
      <p:sp>
        <p:nvSpPr>
          <p:cNvPr id="12" name="Shape 8"/>
          <p:cNvSpPr/>
          <p:nvPr/>
        </p:nvSpPr>
        <p:spPr>
          <a:xfrm>
            <a:off x="8823960" y="3520440"/>
            <a:ext cx="384048" cy="384048"/>
          </a:xfrm>
          <a:prstGeom prst="ellipse">
            <a:avLst/>
          </a:prstGeom>
          <a:solidFill>
            <a:schemeClr val="accent1"/>
          </a:solidFill>
          <a:ln/>
        </p:spPr>
      </p:sp>
      <p:sp>
        <p:nvSpPr>
          <p:cNvPr id="13" name="Text 9"/>
          <p:cNvSpPr txBox="1"/>
          <p:nvPr/>
        </p:nvSpPr>
        <p:spPr>
          <a:xfrm>
            <a:off x="8823960" y="35204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Text 10"/>
          <p:cNvSpPr txBox="1"/>
          <p:nvPr/>
        </p:nvSpPr>
        <p:spPr>
          <a:xfrm>
            <a:off x="9326880" y="3502152"/>
            <a:ext cx="2148840" cy="1234440"/>
          </a:xfrm>
          <a:prstGeom prst="rect">
            <a:avLst/>
          </a:prstGeom>
          <a:noFill/>
          <a:ln/>
        </p:spPr>
        <p:txBody>
          <a:bodyPr wrap="square" lIns="0" tIns="0" rIns="0" bIns="0" rtlCol="0" anchor="t"/>
          <a:lstStyle/>
          <a:p>
            <a:pPr indent="0" marL="0">
              <a:buNone/>
            </a:pPr>
            <a:r>
              <a:rPr lang="en-US" sz="1400" dirty="0">
                <a:solidFill>
                  <a:schemeClr val="tx1"/>
                </a:solidFill>
              </a:rPr>
              <a:t>Under PGD, EnsJMG restores 85% of clean mAP on YOLO and 90% on Florence</a:t>
            </a:r>
            <a:endParaRPr lang="en-US" sz="1400" dirty="0"/>
          </a:p>
        </p:txBody>
      </p:sp>
      <p:sp>
        <p:nvSpPr>
          <p:cNvPr id="15" name="Shape 11"/>
          <p:cNvSpPr/>
          <p:nvPr/>
        </p:nvSpPr>
        <p:spPr>
          <a:xfrm>
            <a:off x="8823960" y="4846320"/>
            <a:ext cx="384048" cy="384048"/>
          </a:xfrm>
          <a:prstGeom prst="ellipse">
            <a:avLst/>
          </a:prstGeom>
          <a:solidFill>
            <a:schemeClr val="accent1"/>
          </a:solidFill>
          <a:ln/>
        </p:spPr>
      </p:sp>
      <p:sp>
        <p:nvSpPr>
          <p:cNvPr id="16" name="Text 12"/>
          <p:cNvSpPr txBox="1"/>
          <p:nvPr/>
        </p:nvSpPr>
        <p:spPr>
          <a:xfrm>
            <a:off x="8823960" y="48463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3"/>
          <p:cNvSpPr txBox="1"/>
          <p:nvPr/>
        </p:nvSpPr>
        <p:spPr>
          <a:xfrm>
            <a:off x="9326880" y="4828032"/>
            <a:ext cx="2148840" cy="1234440"/>
          </a:xfrm>
          <a:prstGeom prst="rect">
            <a:avLst/>
          </a:prstGeom>
          <a:noFill/>
          <a:ln/>
        </p:spPr>
        <p:txBody>
          <a:bodyPr wrap="square" lIns="0" tIns="0" rIns="0" bIns="0" rtlCol="0" anchor="t"/>
          <a:lstStyle/>
          <a:p>
            <a:pPr indent="0" marL="0">
              <a:buNone/>
            </a:pPr>
            <a:r>
              <a:rPr lang="en-US" sz="1400" dirty="0">
                <a:solidFill>
                  <a:schemeClr val="tx1"/>
                </a:solidFill>
              </a:rPr>
              <a:t>Median and all 7 ensembles helped in all 9 settings</a:t>
            </a:r>
            <a:endParaRPr lang="en-US" sz="14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2 · RESULTS</a:t>
            </a:r>
            <a:endParaRPr lang="en-US" sz="1200" dirty="0"/>
          </a:p>
        </p:txBody>
      </p:sp>
      <p:sp>
        <p:nvSpPr>
          <p:cNvPr id="3" name="Text 0"/>
          <p:cNvSpPr/>
          <p:nvPr>
            <p:ph idx="101"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Everything we tried: what helped where</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11094415" cy="914400"/>
        </p:xfrm>
        <a:graphic>
          <a:graphicData uri="http://schemas.openxmlformats.org/drawingml/2006/table">
            <a:tbl>
              <a:tblPr/>
              <a:tblGrid>
                <a:gridCol w="1947672"/>
                <a:gridCol w="914400"/>
                <a:gridCol w="914400"/>
                <a:gridCol w="914400"/>
                <a:gridCol w="914400"/>
                <a:gridCol w="914400"/>
                <a:gridCol w="914400"/>
                <a:gridCol w="914400"/>
                <a:gridCol w="914400"/>
                <a:gridCol w="914400"/>
                <a:gridCol w="914400"/>
              </a:tblGrid>
              <a:tr h="187452">
                <a:tc rowSpan="2">
                  <a:txBody>
                    <a:bodyPr/>
                    <a:lstStyle/>
                    <a:p>
                      <a:pPr algn="l" indent="0" marL="0">
                        <a:buNone/>
                      </a:pPr>
                      <a:r>
                        <a:rPr lang="en-US" sz="1100" b="1" dirty="0">
                          <a:solidFill>
                            <a:schemeClr val="bg1"/>
                          </a:solidFill>
                        </a:rPr>
                        <a:t>Defense</a:t>
                      </a:r>
                      <a:endParaRPr lang="en-US" sz="11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chemeClr val="tx2"/>
                    </a:solidFill>
                  </a:tcPr>
                </a:tc>
                <a:tc gridSpan="3">
                  <a:txBody>
                    <a:bodyPr/>
                    <a:lstStyle/>
                    <a:p>
                      <a:pPr algn="ctr" indent="0" marL="0">
                        <a:buNone/>
                      </a:pPr>
                      <a:r>
                        <a:rPr lang="en-US" sz="1100" b="1" dirty="0">
                          <a:solidFill>
                            <a:schemeClr val="bg1"/>
                          </a:solidFill>
                        </a:rPr>
                        <a:t>YOLO-World · mAP</a:t>
                      </a:r>
                      <a:endParaRPr lang="en-US" sz="11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chemeClr val="tx2"/>
                    </a:solidFill>
                  </a:tcPr>
                </a:tc>
                <a:tc hMerge="1">
                  <a:tcPr/>
                </a:tc>
                <a:tc hMerge="1">
                  <a:tcPr/>
                </a:tc>
                <a:tc gridSpan="3">
                  <a:txBody>
                    <a:bodyPr/>
                    <a:lstStyle/>
                    <a:p>
                      <a:pPr algn="ctr" indent="0" marL="0">
                        <a:buNone/>
                      </a:pPr>
                      <a:r>
                        <a:rPr lang="en-US" sz="1100" b="1" dirty="0">
                          <a:solidFill>
                            <a:schemeClr val="bg1"/>
                          </a:solidFill>
                        </a:rPr>
                        <a:t>Florence-2 · mAP</a:t>
                      </a:r>
                      <a:endParaRPr lang="en-US" sz="11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chemeClr val="tx2"/>
                    </a:solidFill>
                  </a:tcPr>
                </a:tc>
                <a:tc hMerge="1">
                  <a:tcPr/>
                </a:tc>
                <a:tc hMerge="1">
                  <a:tcPr/>
                </a:tc>
                <a:tc gridSpan="3">
                  <a:txBody>
                    <a:bodyPr/>
                    <a:lstStyle/>
                    <a:p>
                      <a:pPr algn="ctr" indent="0" marL="0">
                        <a:buNone/>
                      </a:pPr>
                      <a:r>
                        <a:rPr lang="en-US" sz="1100" b="1" dirty="0">
                          <a:solidFill>
                            <a:schemeClr val="bg1"/>
                          </a:solidFill>
                        </a:rPr>
                        <a:t>Florence-2 · OCR</a:t>
                      </a:r>
                      <a:endParaRPr lang="en-US" sz="11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chemeClr val="tx2"/>
                    </a:solidFill>
                  </a:tcPr>
                </a:tc>
                <a:tc hMerge="1">
                  <a:tcPr/>
                </a:tc>
                <a:tc hMerge="1">
                  <a:tcPr/>
                </a:tc>
                <a:tc rowSpan="2">
                  <a:txBody>
                    <a:bodyPr/>
                    <a:lstStyle/>
                    <a:p>
                      <a:pPr algn="ctr" indent="0" marL="0">
                        <a:buNone/>
                      </a:pPr>
                      <a:r>
                        <a:rPr lang="en-US" sz="1100" b="1" dirty="0">
                          <a:solidFill>
                            <a:schemeClr val="bg1"/>
                          </a:solidFill>
                        </a:rPr>
                        <a:t>Helped</a:t>
                      </a:r>
                      <a:endParaRPr lang="en-US" sz="11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chemeClr val="tx2"/>
                    </a:solidFill>
                  </a:tcPr>
                </a:tc>
              </a:tr>
              <a:tr h="187452">
                <a:tc vMerge="1">
                  <a:tcPr/>
                </a:tc>
                <a:tc>
                  <a:txBody>
                    <a:bodyPr/>
                    <a:lstStyle/>
                    <a:p>
                      <a:pPr algn="ctr" indent="0" marL="0">
                        <a:buNone/>
                      </a:pPr>
                      <a:r>
                        <a:rPr lang="en-US" sz="1000" b="1" dirty="0">
                          <a:solidFill>
                            <a:schemeClr val="bg1"/>
                          </a:solidFill>
                        </a:rPr>
                        <a:t>FGSM</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chemeClr val="accent5"/>
                    </a:solidFill>
                  </a:tcPr>
                </a:tc>
                <a:tc>
                  <a:txBody>
                    <a:bodyPr/>
                    <a:lstStyle/>
                    <a:p>
                      <a:pPr algn="ctr" indent="0" marL="0">
                        <a:buNone/>
                      </a:pPr>
                      <a:r>
                        <a:rPr lang="en-US" sz="1000" b="1" dirty="0">
                          <a:solidFill>
                            <a:schemeClr val="bg1"/>
                          </a:solidFill>
                        </a:rPr>
                        <a:t>PGD</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chemeClr val="accent5"/>
                    </a:solidFill>
                  </a:tcPr>
                </a:tc>
                <a:tc>
                  <a:txBody>
                    <a:bodyPr/>
                    <a:lstStyle/>
                    <a:p>
                      <a:pPr algn="ctr" indent="0" marL="0">
                        <a:buNone/>
                      </a:pPr>
                      <a:r>
                        <a:rPr lang="en-US" sz="1000" b="1" dirty="0">
                          <a:solidFill>
                            <a:schemeClr val="bg1"/>
                          </a:solidFill>
                        </a:rPr>
                        <a:t>Patch</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chemeClr val="accent5"/>
                    </a:solidFill>
                  </a:tcPr>
                </a:tc>
                <a:tc>
                  <a:txBody>
                    <a:bodyPr/>
                    <a:lstStyle/>
                    <a:p>
                      <a:pPr algn="ctr" indent="0" marL="0">
                        <a:buNone/>
                      </a:pPr>
                      <a:r>
                        <a:rPr lang="en-US" sz="1000" b="1" dirty="0">
                          <a:solidFill>
                            <a:schemeClr val="bg1"/>
                          </a:solidFill>
                        </a:rPr>
                        <a:t>FGSM</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chemeClr val="accent5"/>
                    </a:solidFill>
                  </a:tcPr>
                </a:tc>
                <a:tc>
                  <a:txBody>
                    <a:bodyPr/>
                    <a:lstStyle/>
                    <a:p>
                      <a:pPr algn="ctr" indent="0" marL="0">
                        <a:buNone/>
                      </a:pPr>
                      <a:r>
                        <a:rPr lang="en-US" sz="1000" b="1" dirty="0">
                          <a:solidFill>
                            <a:schemeClr val="bg1"/>
                          </a:solidFill>
                        </a:rPr>
                        <a:t>PGD</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chemeClr val="accent5"/>
                    </a:solidFill>
                  </a:tcPr>
                </a:tc>
                <a:tc>
                  <a:txBody>
                    <a:bodyPr/>
                    <a:lstStyle/>
                    <a:p>
                      <a:pPr algn="ctr" indent="0" marL="0">
                        <a:buNone/>
                      </a:pPr>
                      <a:r>
                        <a:rPr lang="en-US" sz="1000" b="1" dirty="0">
                          <a:solidFill>
                            <a:schemeClr val="bg1"/>
                          </a:solidFill>
                        </a:rPr>
                        <a:t>Patch</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chemeClr val="accent5"/>
                    </a:solidFill>
                  </a:tcPr>
                </a:tc>
                <a:tc>
                  <a:txBody>
                    <a:bodyPr/>
                    <a:lstStyle/>
                    <a:p>
                      <a:pPr algn="ctr" indent="0" marL="0">
                        <a:buNone/>
                      </a:pPr>
                      <a:r>
                        <a:rPr lang="en-US" sz="1000" b="1" dirty="0">
                          <a:solidFill>
                            <a:schemeClr val="bg1"/>
                          </a:solidFill>
                        </a:rPr>
                        <a:t>FGSM</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chemeClr val="accent5"/>
                    </a:solidFill>
                  </a:tcPr>
                </a:tc>
                <a:tc>
                  <a:txBody>
                    <a:bodyPr/>
                    <a:lstStyle/>
                    <a:p>
                      <a:pPr algn="ctr" indent="0" marL="0">
                        <a:buNone/>
                      </a:pPr>
                      <a:r>
                        <a:rPr lang="en-US" sz="1000" b="1" dirty="0">
                          <a:solidFill>
                            <a:schemeClr val="bg1"/>
                          </a:solidFill>
                        </a:rPr>
                        <a:t>PGD</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chemeClr val="accent5"/>
                    </a:solidFill>
                  </a:tcPr>
                </a:tc>
                <a:tc>
                  <a:txBody>
                    <a:bodyPr/>
                    <a:lstStyle/>
                    <a:p>
                      <a:pPr algn="ctr" indent="0" marL="0">
                        <a:buNone/>
                      </a:pPr>
                      <a:r>
                        <a:rPr lang="en-US" sz="1000" b="1" dirty="0">
                          <a:solidFill>
                            <a:schemeClr val="bg1"/>
                          </a:solidFill>
                        </a:rPr>
                        <a:t>Patch</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chemeClr val="accent5"/>
                    </a:solidFill>
                  </a:tcPr>
                </a:tc>
                <a:tc vMerge="1">
                  <a:tcPr/>
                </a:tc>
              </a:tr>
              <a:tr h="187452">
                <a:tc>
                  <a:txBody>
                    <a:bodyPr/>
                    <a:lstStyle/>
                    <a:p>
                      <a:pPr indent="0" marL="0">
                        <a:buNone/>
                      </a:pPr>
                      <a:r>
                        <a:rPr lang="en-US" sz="1000" b="1" dirty="0">
                          <a:solidFill>
                            <a:schemeClr val="tx1"/>
                          </a:solidFill>
                        </a:rPr>
                        <a:t>Ens4W</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000" b="1" dirty="0">
                          <a:solidFill>
                            <a:srgbClr val="FFFFFF"/>
                          </a:solidFill>
                        </a:rPr>
                        <a:t>+8.5</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b="1" dirty="0">
                          <a:solidFill>
                            <a:srgbClr val="FFFFFF"/>
                          </a:solidFill>
                        </a:rPr>
                        <a:t>+33.5</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dirty="0">
                          <a:solidFill>
                            <a:srgbClr val="1B1F24"/>
                          </a:solidFill>
                        </a:rPr>
                        <a:t>+1.0</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dirty="0">
                          <a:solidFill>
                            <a:srgbClr val="1B1F24"/>
                          </a:solidFill>
                        </a:rPr>
                        <a:t>+4.1</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b="1" dirty="0">
                          <a:solidFill>
                            <a:srgbClr val="FFFFFF"/>
                          </a:solidFill>
                        </a:rPr>
                        <a:t>+9.2</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dirty="0">
                          <a:solidFill>
                            <a:srgbClr val="1B1F24"/>
                          </a:solidFill>
                        </a:rPr>
                        <a:t>+0.6</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b="1" dirty="0">
                          <a:solidFill>
                            <a:srgbClr val="FFFFFF"/>
                          </a:solidFill>
                        </a:rPr>
                        <a:t>+21.5</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b="1" dirty="0">
                          <a:solidFill>
                            <a:srgbClr val="FFFFFF"/>
                          </a:solidFill>
                        </a:rPr>
                        <a:t>+35.8</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b="1" dirty="0">
                          <a:solidFill>
                            <a:srgbClr val="FFFFFF"/>
                          </a:solidFill>
                        </a:rPr>
                        <a:t>+18.3</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b="1" dirty="0">
                          <a:solidFill>
                            <a:srgbClr val="0F7C78"/>
                          </a:solidFill>
                        </a:rPr>
                        <a:t>9/9</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r>
              <a:tr h="187452">
                <a:tc>
                  <a:txBody>
                    <a:bodyPr/>
                    <a:lstStyle/>
                    <a:p>
                      <a:pPr indent="0" marL="0">
                        <a:buNone/>
                      </a:pPr>
                      <a:r>
                        <a:rPr lang="en-US" sz="1000" b="1" dirty="0">
                          <a:solidFill>
                            <a:schemeClr val="tx1"/>
                          </a:solidFill>
                        </a:rPr>
                        <a:t>EnsBTC</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000" b="1" dirty="0">
                          <a:solidFill>
                            <a:srgbClr val="FFFFFF"/>
                          </a:solidFill>
                        </a:rPr>
                        <a:t>+10.8</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b="1" dirty="0">
                          <a:solidFill>
                            <a:srgbClr val="FFFFFF"/>
                          </a:solidFill>
                        </a:rPr>
                        <a:t>+33.1</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dirty="0">
                          <a:solidFill>
                            <a:srgbClr val="1B1F24"/>
                          </a:solidFill>
                        </a:rPr>
                        <a:t>+0.6</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dirty="0">
                          <a:solidFill>
                            <a:srgbClr val="1B1F24"/>
                          </a:solidFill>
                        </a:rPr>
                        <a:t>+4.3</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b="1" dirty="0">
                          <a:solidFill>
                            <a:srgbClr val="FFFFFF"/>
                          </a:solidFill>
                        </a:rPr>
                        <a:t>+9.5</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dirty="0">
                          <a:solidFill>
                            <a:srgbClr val="1B1F24"/>
                          </a:solidFill>
                        </a:rPr>
                        <a:t>+0.6</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b="1" dirty="0">
                          <a:solidFill>
                            <a:srgbClr val="FFFFFF"/>
                          </a:solidFill>
                        </a:rPr>
                        <a:t>+15.6</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b="1" dirty="0">
                          <a:solidFill>
                            <a:srgbClr val="FFFFFF"/>
                          </a:solidFill>
                        </a:rPr>
                        <a:t>+29.2</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b="1" dirty="0">
                          <a:solidFill>
                            <a:srgbClr val="FFFFFF"/>
                          </a:solidFill>
                        </a:rPr>
                        <a:t>+16.7</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b="1" dirty="0">
                          <a:solidFill>
                            <a:srgbClr val="0F7C78"/>
                          </a:solidFill>
                        </a:rPr>
                        <a:t>9/9</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r>
              <a:tr h="187452">
                <a:tc>
                  <a:txBody>
                    <a:bodyPr/>
                    <a:lstStyle/>
                    <a:p>
                      <a:pPr indent="0" marL="0">
                        <a:buNone/>
                      </a:pPr>
                      <a:r>
                        <a:rPr lang="en-US" sz="1000" b="1" dirty="0">
                          <a:solidFill>
                            <a:schemeClr val="tx1"/>
                          </a:solidFill>
                        </a:rPr>
                        <a:t>EnsJMT</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000" b="1" dirty="0">
                          <a:solidFill>
                            <a:srgbClr val="FFFFFF"/>
                          </a:solidFill>
                        </a:rPr>
                        <a:t>+7.8</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b="1" dirty="0">
                          <a:solidFill>
                            <a:srgbClr val="FFFFFF"/>
                          </a:solidFill>
                        </a:rPr>
                        <a:t>+32.8</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dirty="0">
                          <a:solidFill>
                            <a:srgbClr val="1B1F24"/>
                          </a:solidFill>
                        </a:rPr>
                        <a:t>+0.9</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dirty="0">
                          <a:solidFill>
                            <a:srgbClr val="1B1F24"/>
                          </a:solidFill>
                        </a:rPr>
                        <a:t>+4.4</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b="1" dirty="0">
                          <a:solidFill>
                            <a:srgbClr val="FFFFFF"/>
                          </a:solidFill>
                        </a:rPr>
                        <a:t>+9.6</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dirty="0">
                          <a:solidFill>
                            <a:srgbClr val="1B1F24"/>
                          </a:solidFill>
                        </a:rPr>
                        <a:t>+0.9</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b="1" dirty="0">
                          <a:solidFill>
                            <a:srgbClr val="FFFFFF"/>
                          </a:solidFill>
                        </a:rPr>
                        <a:t>+20.9</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b="1" dirty="0">
                          <a:solidFill>
                            <a:srgbClr val="FFFFFF"/>
                          </a:solidFill>
                        </a:rPr>
                        <a:t>+35.5</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b="1" dirty="0">
                          <a:solidFill>
                            <a:srgbClr val="FFFFFF"/>
                          </a:solidFill>
                        </a:rPr>
                        <a:t>+5.9</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b="1" dirty="0">
                          <a:solidFill>
                            <a:srgbClr val="0F7C78"/>
                          </a:solidFill>
                        </a:rPr>
                        <a:t>9/9</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r>
              <a:tr h="187452">
                <a:tc>
                  <a:txBody>
                    <a:bodyPr/>
                    <a:lstStyle/>
                    <a:p>
                      <a:pPr indent="0" marL="0">
                        <a:buNone/>
                      </a:pPr>
                      <a:r>
                        <a:rPr lang="en-US" sz="1000" b="1" dirty="0">
                          <a:solidFill>
                            <a:schemeClr val="tx1"/>
                          </a:solidFill>
                        </a:rPr>
                        <a:t>EnsBMT</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000" b="1" dirty="0">
                          <a:solidFill>
                            <a:srgbClr val="FFFFFF"/>
                          </a:solidFill>
                        </a:rPr>
                        <a:t>+6.9</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b="1" dirty="0">
                          <a:solidFill>
                            <a:srgbClr val="FFFFFF"/>
                          </a:solidFill>
                        </a:rPr>
                        <a:t>+32.4</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dirty="0">
                          <a:solidFill>
                            <a:srgbClr val="1B1F24"/>
                          </a:solidFill>
                        </a:rPr>
                        <a:t>+0.9</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dirty="0">
                          <a:solidFill>
                            <a:srgbClr val="1B1F24"/>
                          </a:solidFill>
                        </a:rPr>
                        <a:t>+4.4</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b="1" dirty="0">
                          <a:solidFill>
                            <a:srgbClr val="FFFFFF"/>
                          </a:solidFill>
                        </a:rPr>
                        <a:t>+9.3</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dirty="0">
                          <a:solidFill>
                            <a:srgbClr val="1B1F24"/>
                          </a:solidFill>
                        </a:rPr>
                        <a:t>+1.4</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b="1" dirty="0">
                          <a:solidFill>
                            <a:srgbClr val="FFFFFF"/>
                          </a:solidFill>
                        </a:rPr>
                        <a:t>+18.4</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b="1" dirty="0">
                          <a:solidFill>
                            <a:srgbClr val="FFFFFF"/>
                          </a:solidFill>
                        </a:rPr>
                        <a:t>+35.7</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dirty="0">
                          <a:solidFill>
                            <a:srgbClr val="1B1F24"/>
                          </a:solidFill>
                        </a:rPr>
                        <a:t>+4.4</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b="1" dirty="0">
                          <a:solidFill>
                            <a:srgbClr val="0F7C78"/>
                          </a:solidFill>
                        </a:rPr>
                        <a:t>9/9</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r>
              <a:tr h="187452">
                <a:tc>
                  <a:txBody>
                    <a:bodyPr/>
                    <a:lstStyle/>
                    <a:p>
                      <a:pPr indent="0" marL="0">
                        <a:buNone/>
                      </a:pPr>
                      <a:r>
                        <a:rPr lang="en-US" sz="1000" b="1" dirty="0">
                          <a:solidFill>
                            <a:schemeClr val="tx1"/>
                          </a:solidFill>
                        </a:rPr>
                        <a:t>EnsJMG</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000" b="1" dirty="0">
                          <a:solidFill>
                            <a:srgbClr val="FFFFFF"/>
                          </a:solidFill>
                        </a:rPr>
                        <a:t>+8.3</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b="1" dirty="0">
                          <a:solidFill>
                            <a:srgbClr val="FFFFFF"/>
                          </a:solidFill>
                        </a:rPr>
                        <a:t>+32.3</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dirty="0">
                          <a:solidFill>
                            <a:srgbClr val="1B1F24"/>
                          </a:solidFill>
                        </a:rPr>
                        <a:t>+1.1</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dirty="0">
                          <a:solidFill>
                            <a:srgbClr val="1B1F24"/>
                          </a:solidFill>
                        </a:rPr>
                        <a:t>+4.5</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b="1" dirty="0">
                          <a:solidFill>
                            <a:srgbClr val="FFFFFF"/>
                          </a:solidFill>
                        </a:rPr>
                        <a:t>+9.5</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dirty="0">
                          <a:solidFill>
                            <a:srgbClr val="1B1F24"/>
                          </a:solidFill>
                        </a:rPr>
                        <a:t>+1.0</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b="1" dirty="0">
                          <a:solidFill>
                            <a:srgbClr val="FFFFFF"/>
                          </a:solidFill>
                        </a:rPr>
                        <a:t>+17.6</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b="1" dirty="0">
                          <a:solidFill>
                            <a:srgbClr val="FFFFFF"/>
                          </a:solidFill>
                        </a:rPr>
                        <a:t>+32.6</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b="1" dirty="0">
                          <a:solidFill>
                            <a:srgbClr val="FFFFFF"/>
                          </a:solidFill>
                        </a:rPr>
                        <a:t>+19.5</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b="1" dirty="0">
                          <a:solidFill>
                            <a:srgbClr val="0F7C78"/>
                          </a:solidFill>
                        </a:rPr>
                        <a:t>9/9</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r>
              <a:tr h="187452">
                <a:tc>
                  <a:txBody>
                    <a:bodyPr/>
                    <a:lstStyle/>
                    <a:p>
                      <a:pPr indent="0" marL="0">
                        <a:buNone/>
                      </a:pPr>
                      <a:r>
                        <a:rPr lang="en-US" sz="1000" b="1" dirty="0">
                          <a:solidFill>
                            <a:schemeClr val="tx1"/>
                          </a:solidFill>
                        </a:rPr>
                        <a:t>EnsJBT</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000" b="1" dirty="0">
                          <a:solidFill>
                            <a:srgbClr val="FFFFFF"/>
                          </a:solidFill>
                        </a:rPr>
                        <a:t>+6.1</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b="1" dirty="0">
                          <a:solidFill>
                            <a:srgbClr val="FFFFFF"/>
                          </a:solidFill>
                        </a:rPr>
                        <a:t>+32.2</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dirty="0">
                          <a:solidFill>
                            <a:srgbClr val="1B1F24"/>
                          </a:solidFill>
                        </a:rPr>
                        <a:t>+0.4</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dirty="0">
                          <a:solidFill>
                            <a:srgbClr val="1B1F24"/>
                          </a:solidFill>
                        </a:rPr>
                        <a:t>+4.5</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b="1" dirty="0">
                          <a:solidFill>
                            <a:srgbClr val="FFFFFF"/>
                          </a:solidFill>
                        </a:rPr>
                        <a:t>+9.5</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dirty="0">
                          <a:solidFill>
                            <a:srgbClr val="1B1F24"/>
                          </a:solidFill>
                        </a:rPr>
                        <a:t>+1.5</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b="1" dirty="0">
                          <a:solidFill>
                            <a:srgbClr val="FFFFFF"/>
                          </a:solidFill>
                        </a:rPr>
                        <a:t>+19.1</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b="1" dirty="0">
                          <a:solidFill>
                            <a:srgbClr val="FFFFFF"/>
                          </a:solidFill>
                        </a:rPr>
                        <a:t>+36.7</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dirty="0">
                          <a:solidFill>
                            <a:srgbClr val="1B1F24"/>
                          </a:solidFill>
                        </a:rPr>
                        <a:t>+1.8</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b="1" dirty="0">
                          <a:solidFill>
                            <a:srgbClr val="0F7C78"/>
                          </a:solidFill>
                        </a:rPr>
                        <a:t>9/9</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r>
              <a:tr h="187452">
                <a:tc>
                  <a:txBody>
                    <a:bodyPr/>
                    <a:lstStyle/>
                    <a:p>
                      <a:pPr indent="0" marL="0">
                        <a:buNone/>
                      </a:pPr>
                      <a:r>
                        <a:rPr lang="en-US" sz="1000" b="1" dirty="0">
                          <a:solidFill>
                            <a:schemeClr val="tx1"/>
                          </a:solidFill>
                        </a:rPr>
                        <a:t>EnsJTS</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000" b="1" dirty="0">
                          <a:solidFill>
                            <a:srgbClr val="FFFFFF"/>
                          </a:solidFill>
                        </a:rPr>
                        <a:t>+5.7</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b="1" dirty="0">
                          <a:solidFill>
                            <a:srgbClr val="FFFFFF"/>
                          </a:solidFill>
                        </a:rPr>
                        <a:t>+31.3</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dirty="0">
                          <a:solidFill>
                            <a:srgbClr val="1B1F24"/>
                          </a:solidFill>
                        </a:rPr>
                        <a:t>+0.8</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dirty="0">
                          <a:solidFill>
                            <a:srgbClr val="1B1F24"/>
                          </a:solidFill>
                        </a:rPr>
                        <a:t>+3.0</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b="1" dirty="0">
                          <a:solidFill>
                            <a:srgbClr val="FFFFFF"/>
                          </a:solidFill>
                        </a:rPr>
                        <a:t>+7.4</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dirty="0">
                          <a:solidFill>
                            <a:srgbClr val="1B1F24"/>
                          </a:solidFill>
                        </a:rPr>
                        <a:t>+0.4</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b="1" dirty="0">
                          <a:solidFill>
                            <a:srgbClr val="FFFFFF"/>
                          </a:solidFill>
                        </a:rPr>
                        <a:t>+16.1</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b="1" dirty="0">
                          <a:solidFill>
                            <a:srgbClr val="FFFFFF"/>
                          </a:solidFill>
                        </a:rPr>
                        <a:t>+28.6</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dirty="0">
                          <a:solidFill>
                            <a:srgbClr val="1B1F24"/>
                          </a:solidFill>
                        </a:rPr>
                        <a:t>+2.2</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b="1" dirty="0">
                          <a:solidFill>
                            <a:srgbClr val="0F7C78"/>
                          </a:solidFill>
                        </a:rPr>
                        <a:t>9/9</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r>
              <a:tr h="187452">
                <a:tc>
                  <a:txBody>
                    <a:bodyPr/>
                    <a:lstStyle/>
                    <a:p>
                      <a:pPr indent="0" marL="0">
                        <a:buNone/>
                      </a:pPr>
                      <a:r>
                        <a:rPr lang="en-US" sz="1000" b="1" dirty="0">
                          <a:solidFill>
                            <a:schemeClr val="tx1"/>
                          </a:solidFill>
                        </a:rPr>
                        <a:t>Median (3×3)</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FFFFFF"/>
                          </a:solidFill>
                        </a:rPr>
                        <a:t>+7.0</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b="1" dirty="0">
                          <a:solidFill>
                            <a:srgbClr val="FFFFFF"/>
                          </a:solidFill>
                        </a:rPr>
                        <a:t>+29.1</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dirty="0">
                          <a:solidFill>
                            <a:srgbClr val="1B1F24"/>
                          </a:solidFill>
                        </a:rPr>
                        <a:t>+0.4</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dirty="0">
                          <a:solidFill>
                            <a:srgbClr val="1B1F24"/>
                          </a:solidFill>
                        </a:rPr>
                        <a:t>+4.2</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b="1" dirty="0">
                          <a:solidFill>
                            <a:srgbClr val="FFFFFF"/>
                          </a:solidFill>
                        </a:rPr>
                        <a:t>+8.8</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dirty="0">
                          <a:solidFill>
                            <a:srgbClr val="1B1F24"/>
                          </a:solidFill>
                        </a:rPr>
                        <a:t>+0.7</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b="1" dirty="0">
                          <a:solidFill>
                            <a:srgbClr val="FFFFFF"/>
                          </a:solidFill>
                        </a:rPr>
                        <a:t>+10.6</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b="1" dirty="0">
                          <a:solidFill>
                            <a:srgbClr val="FFFFFF"/>
                          </a:solidFill>
                        </a:rPr>
                        <a:t>+25.2</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b="1" dirty="0">
                          <a:solidFill>
                            <a:srgbClr val="FFFFFF"/>
                          </a:solidFill>
                        </a:rPr>
                        <a:t>+19.8</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b="1" dirty="0">
                          <a:solidFill>
                            <a:srgbClr val="0F7C78"/>
                          </a:solidFill>
                        </a:rPr>
                        <a:t>9/9</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r>
              <a:tr h="187452">
                <a:tc>
                  <a:txBody>
                    <a:bodyPr/>
                    <a:lstStyle/>
                    <a:p>
                      <a:pPr indent="0" marL="0">
                        <a:buNone/>
                      </a:pPr>
                      <a:r>
                        <a:rPr lang="en-US" sz="1000" dirty="0">
                          <a:solidFill>
                            <a:schemeClr val="tx1"/>
                          </a:solidFill>
                        </a:rPr>
                        <a:t>Gaussian (σ = 1)</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FFFFFF"/>
                          </a:solidFill>
                        </a:rPr>
                        <a:t>+9.0</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b="1" dirty="0">
                          <a:solidFill>
                            <a:srgbClr val="FFFFFF"/>
                          </a:solidFill>
                        </a:rPr>
                        <a:t>+32.5</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dirty="0">
                          <a:solidFill>
                            <a:srgbClr val="1B1F24"/>
                          </a:solidFill>
                        </a:rPr>
                        <a:t>+0.0</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dirty="0">
                          <a:solidFill>
                            <a:srgbClr val="1B1F24"/>
                          </a:solidFill>
                        </a:rPr>
                        <a:t>+1.3</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b="1" dirty="0">
                          <a:solidFill>
                            <a:srgbClr val="FFFFFF"/>
                          </a:solidFill>
                        </a:rPr>
                        <a:t>+6.2</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dirty="0">
                          <a:solidFill>
                            <a:srgbClr val="1B1F24"/>
                          </a:solidFill>
                        </a:rPr>
                        <a:t>−2.4</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8DDD5"/>
                    </a:solidFill>
                  </a:tcPr>
                </a:tc>
                <a:tc>
                  <a:txBody>
                    <a:bodyPr/>
                    <a:lstStyle/>
                    <a:p>
                      <a:pPr algn="ctr" indent="0" marL="0">
                        <a:buNone/>
                      </a:pPr>
                      <a:r>
                        <a:rPr lang="en-US" sz="1000" b="1" dirty="0">
                          <a:solidFill>
                            <a:srgbClr val="FFFFFF"/>
                          </a:solidFill>
                        </a:rPr>
                        <a:t>+18.9</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b="1" dirty="0">
                          <a:solidFill>
                            <a:srgbClr val="FFFFFF"/>
                          </a:solidFill>
                        </a:rPr>
                        <a:t>+31.5</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b="1" dirty="0">
                          <a:solidFill>
                            <a:srgbClr val="FFFFFF"/>
                          </a:solidFill>
                        </a:rPr>
                        <a:t>+18.9</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dirty="0">
                          <a:solidFill>
                            <a:srgbClr val="1B1F24"/>
                          </a:solidFill>
                        </a:rPr>
                        <a:t>8/9</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r>
              <a:tr h="187452">
                <a:tc>
                  <a:txBody>
                    <a:bodyPr/>
                    <a:lstStyle/>
                    <a:p>
                      <a:pPr indent="0" marL="0">
                        <a:buNone/>
                      </a:pPr>
                      <a:r>
                        <a:rPr lang="en-US" sz="1000" dirty="0">
                          <a:solidFill>
                            <a:schemeClr val="tx1"/>
                          </a:solidFill>
                        </a:rPr>
                        <a:t>JPEG (q = 75)</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1F24"/>
                          </a:solidFill>
                        </a:rPr>
                        <a:t>+4.5</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b="1" dirty="0">
                          <a:solidFill>
                            <a:srgbClr val="FFFFFF"/>
                          </a:solidFill>
                        </a:rPr>
                        <a:t>+27.6</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dirty="0">
                          <a:solidFill>
                            <a:srgbClr val="1B1F24"/>
                          </a:solidFill>
                        </a:rPr>
                        <a:t>−1.2</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8DDD5"/>
                    </a:solidFill>
                  </a:tcPr>
                </a:tc>
                <a:tc>
                  <a:txBody>
                    <a:bodyPr/>
                    <a:lstStyle/>
                    <a:p>
                      <a:pPr algn="ctr" indent="0" marL="0">
                        <a:buNone/>
                      </a:pPr>
                      <a:r>
                        <a:rPr lang="en-US" sz="1000" dirty="0">
                          <a:solidFill>
                            <a:srgbClr val="1B1F24"/>
                          </a:solidFill>
                        </a:rPr>
                        <a:t>+4.3</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b="1" dirty="0">
                          <a:solidFill>
                            <a:srgbClr val="FFFFFF"/>
                          </a:solidFill>
                        </a:rPr>
                        <a:t>+9.3</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dirty="0">
                          <a:solidFill>
                            <a:srgbClr val="1B1F24"/>
                          </a:solidFill>
                        </a:rPr>
                        <a:t>+0.9</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b="1" dirty="0">
                          <a:solidFill>
                            <a:srgbClr val="FFFFFF"/>
                          </a:solidFill>
                        </a:rPr>
                        <a:t>+17.6</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b="1" dirty="0">
                          <a:solidFill>
                            <a:srgbClr val="FFFFFF"/>
                          </a:solidFill>
                        </a:rPr>
                        <a:t>+32.2</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dirty="0">
                          <a:solidFill>
                            <a:srgbClr val="1B1F24"/>
                          </a:solidFill>
                        </a:rPr>
                        <a:t>+2.4</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dirty="0">
                          <a:solidFill>
                            <a:srgbClr val="1B1F24"/>
                          </a:solidFill>
                        </a:rPr>
                        <a:t>8/9</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r>
              <a:tr h="187452">
                <a:tc>
                  <a:txBody>
                    <a:bodyPr/>
                    <a:lstStyle/>
                    <a:p>
                      <a:pPr indent="0" marL="0">
                        <a:buNone/>
                      </a:pPr>
                      <a:r>
                        <a:rPr lang="en-US" sz="1000" dirty="0">
                          <a:solidFill>
                            <a:schemeClr val="tx1"/>
                          </a:solidFill>
                        </a:rPr>
                        <a:t>Bilateral</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1F24"/>
                          </a:solidFill>
                        </a:rPr>
                        <a:t>+2.2</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b="1" dirty="0">
                          <a:solidFill>
                            <a:srgbClr val="FFFFFF"/>
                          </a:solidFill>
                        </a:rPr>
                        <a:t>+24.1</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dirty="0">
                          <a:solidFill>
                            <a:srgbClr val="1B1F24"/>
                          </a:solidFill>
                        </a:rPr>
                        <a:t>−0.5</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8DDD5"/>
                    </a:solidFill>
                  </a:tcPr>
                </a:tc>
                <a:tc>
                  <a:txBody>
                    <a:bodyPr/>
                    <a:lstStyle/>
                    <a:p>
                      <a:pPr algn="ctr" indent="0" marL="0">
                        <a:buNone/>
                      </a:pPr>
                      <a:r>
                        <a:rPr lang="en-US" sz="1000" dirty="0">
                          <a:solidFill>
                            <a:srgbClr val="1B1F24"/>
                          </a:solidFill>
                        </a:rPr>
                        <a:t>+4.5</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b="1" dirty="0">
                          <a:solidFill>
                            <a:srgbClr val="FFFFFF"/>
                          </a:solidFill>
                        </a:rPr>
                        <a:t>+9.5</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dirty="0">
                          <a:solidFill>
                            <a:srgbClr val="1B1F24"/>
                          </a:solidFill>
                        </a:rPr>
                        <a:t>+2.1</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b="1" dirty="0">
                          <a:solidFill>
                            <a:srgbClr val="FFFFFF"/>
                          </a:solidFill>
                        </a:rPr>
                        <a:t>+13.6</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b="1" dirty="0">
                          <a:solidFill>
                            <a:srgbClr val="FFFFFF"/>
                          </a:solidFill>
                        </a:rPr>
                        <a:t>+34.3</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dirty="0">
                          <a:solidFill>
                            <a:srgbClr val="1B1F24"/>
                          </a:solidFill>
                        </a:rPr>
                        <a:t>−0.3</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8DDD5"/>
                    </a:solidFill>
                  </a:tcPr>
                </a:tc>
                <a:tc>
                  <a:txBody>
                    <a:bodyPr/>
                    <a:lstStyle/>
                    <a:p>
                      <a:pPr algn="ctr" indent="0" marL="0">
                        <a:buNone/>
                      </a:pPr>
                      <a:r>
                        <a:rPr lang="en-US" sz="1000" dirty="0">
                          <a:solidFill>
                            <a:srgbClr val="1B1F24"/>
                          </a:solidFill>
                        </a:rPr>
                        <a:t>7/9</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r>
              <a:tr h="187452">
                <a:tc>
                  <a:txBody>
                    <a:bodyPr/>
                    <a:lstStyle/>
                    <a:p>
                      <a:pPr indent="0" marL="0">
                        <a:buNone/>
                      </a:pPr>
                      <a:r>
                        <a:rPr lang="en-US" sz="1000" dirty="0">
                          <a:solidFill>
                            <a:schemeClr val="tx1"/>
                          </a:solidFill>
                        </a:rPr>
                        <a:t>Anisotropic diff.</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1F24"/>
                          </a:solidFill>
                        </a:rPr>
                        <a:t>+1.0</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b="1" dirty="0">
                          <a:solidFill>
                            <a:srgbClr val="FFFFFF"/>
                          </a:solidFill>
                        </a:rPr>
                        <a:t>+23.9</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dirty="0">
                          <a:solidFill>
                            <a:srgbClr val="1B1F24"/>
                          </a:solidFill>
                        </a:rPr>
                        <a:t>−1.7</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8DDD5"/>
                    </a:solidFill>
                  </a:tcPr>
                </a:tc>
                <a:tc>
                  <a:txBody>
                    <a:bodyPr/>
                    <a:lstStyle/>
                    <a:p>
                      <a:pPr algn="ctr" indent="0" marL="0">
                        <a:buNone/>
                      </a:pPr>
                      <a:r>
                        <a:rPr lang="en-US" sz="1000" dirty="0">
                          <a:solidFill>
                            <a:srgbClr val="1B1F24"/>
                          </a:solidFill>
                        </a:rPr>
                        <a:t>+3.7</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b="1" dirty="0">
                          <a:solidFill>
                            <a:srgbClr val="FFFFFF"/>
                          </a:solidFill>
                        </a:rPr>
                        <a:t>+8.5</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dirty="0">
                          <a:solidFill>
                            <a:srgbClr val="1B1F24"/>
                          </a:solidFill>
                        </a:rPr>
                        <a:t>+0.7</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b="1" dirty="0">
                          <a:solidFill>
                            <a:srgbClr val="FFFFFF"/>
                          </a:solidFill>
                        </a:rPr>
                        <a:t>+16.1</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b="1" dirty="0">
                          <a:solidFill>
                            <a:srgbClr val="FFFFFF"/>
                          </a:solidFill>
                        </a:rPr>
                        <a:t>+33.6</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dirty="0">
                          <a:solidFill>
                            <a:srgbClr val="1B1F24"/>
                          </a:solidFill>
                        </a:rPr>
                        <a:t>−1.1</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8DDD5"/>
                    </a:solidFill>
                  </a:tcPr>
                </a:tc>
                <a:tc>
                  <a:txBody>
                    <a:bodyPr/>
                    <a:lstStyle/>
                    <a:p>
                      <a:pPr algn="ctr" indent="0" marL="0">
                        <a:buNone/>
                      </a:pPr>
                      <a:r>
                        <a:rPr lang="en-US" sz="1000" dirty="0">
                          <a:solidFill>
                            <a:srgbClr val="1B1F24"/>
                          </a:solidFill>
                        </a:rPr>
                        <a:t>7/9</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r>
              <a:tr h="187452">
                <a:tc>
                  <a:txBody>
                    <a:bodyPr/>
                    <a:lstStyle/>
                    <a:p>
                      <a:pPr indent="0" marL="0">
                        <a:buNone/>
                      </a:pPr>
                      <a:r>
                        <a:rPr lang="en-US" sz="1000" dirty="0">
                          <a:solidFill>
                            <a:schemeClr val="tx1"/>
                          </a:solidFill>
                        </a:rPr>
                        <a:t>TVM</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FFFFFF"/>
                          </a:solidFill>
                        </a:rPr>
                        <a:t>+7.1</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b="1" dirty="0">
                          <a:solidFill>
                            <a:srgbClr val="FFFFFF"/>
                          </a:solidFill>
                        </a:rPr>
                        <a:t>+32.3</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dirty="0">
                          <a:solidFill>
                            <a:srgbClr val="1B1F24"/>
                          </a:solidFill>
                        </a:rPr>
                        <a:t>−2.4</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8DDD5"/>
                    </a:solidFill>
                  </a:tcPr>
                </a:tc>
                <a:tc>
                  <a:txBody>
                    <a:bodyPr/>
                    <a:lstStyle/>
                    <a:p>
                      <a:pPr algn="ctr" indent="0" marL="0">
                        <a:buNone/>
                      </a:pPr>
                      <a:r>
                        <a:rPr lang="en-US" sz="1000" dirty="0">
                          <a:solidFill>
                            <a:srgbClr val="1B1F24"/>
                          </a:solidFill>
                        </a:rPr>
                        <a:t>−0.5</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8DDD5"/>
                    </a:solidFill>
                  </a:tcPr>
                </a:tc>
                <a:tc>
                  <a:txBody>
                    <a:bodyPr/>
                    <a:lstStyle/>
                    <a:p>
                      <a:pPr algn="ctr" indent="0" marL="0">
                        <a:buNone/>
                      </a:pPr>
                      <a:r>
                        <a:rPr lang="en-US" sz="1000" dirty="0">
                          <a:solidFill>
                            <a:srgbClr val="1B1F24"/>
                          </a:solidFill>
                        </a:rPr>
                        <a:t>+4.0</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dirty="0">
                          <a:solidFill>
                            <a:srgbClr val="1B1F24"/>
                          </a:solidFill>
                        </a:rPr>
                        <a:t>−4.6</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8DDD5"/>
                    </a:solidFill>
                  </a:tcPr>
                </a:tc>
                <a:tc>
                  <a:txBody>
                    <a:bodyPr/>
                    <a:lstStyle/>
                    <a:p>
                      <a:pPr algn="ctr" indent="0" marL="0">
                        <a:buNone/>
                      </a:pPr>
                      <a:r>
                        <a:rPr lang="en-US" sz="1000" b="1" dirty="0">
                          <a:solidFill>
                            <a:srgbClr val="FFFFFF"/>
                          </a:solidFill>
                        </a:rPr>
                        <a:t>+25.2</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b="1" dirty="0">
                          <a:solidFill>
                            <a:srgbClr val="FFFFFF"/>
                          </a:solidFill>
                        </a:rPr>
                        <a:t>+36.0</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dirty="0">
                          <a:solidFill>
                            <a:srgbClr val="1B1F24"/>
                          </a:solidFill>
                        </a:rPr>
                        <a:t>+2.3</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dirty="0">
                          <a:solidFill>
                            <a:srgbClr val="1B1F24"/>
                          </a:solidFill>
                        </a:rPr>
                        <a:t>6/9</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r>
              <a:tr h="187452">
                <a:tc>
                  <a:txBody>
                    <a:bodyPr/>
                    <a:lstStyle/>
                    <a:p>
                      <a:pPr indent="0" marL="0">
                        <a:buNone/>
                      </a:pPr>
                      <a:r>
                        <a:rPr lang="en-US" sz="1000" dirty="0">
                          <a:solidFill>
                            <a:schemeClr val="tx1"/>
                          </a:solidFill>
                        </a:rPr>
                        <a:t>Blur+TVM</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FFFFFF"/>
                          </a:solidFill>
                        </a:rPr>
                        <a:t>+12.1</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b="1" dirty="0">
                          <a:solidFill>
                            <a:srgbClr val="FFFFFF"/>
                          </a:solidFill>
                        </a:rPr>
                        <a:t>+32.0</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dirty="0">
                          <a:solidFill>
                            <a:srgbClr val="1B1F24"/>
                          </a:solidFill>
                        </a:rPr>
                        <a:t>−4.2</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8DDD5"/>
                    </a:solidFill>
                  </a:tcPr>
                </a:tc>
                <a:tc>
                  <a:txBody>
                    <a:bodyPr/>
                    <a:lstStyle/>
                    <a:p>
                      <a:pPr algn="ctr" indent="0" marL="0">
                        <a:buNone/>
                      </a:pPr>
                      <a:r>
                        <a:rPr lang="en-US" sz="1000" dirty="0">
                          <a:solidFill>
                            <a:srgbClr val="1B1F24"/>
                          </a:solidFill>
                        </a:rPr>
                        <a:t>−0.2</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8DDD5"/>
                    </a:solidFill>
                  </a:tcPr>
                </a:tc>
                <a:tc>
                  <a:txBody>
                    <a:bodyPr/>
                    <a:lstStyle/>
                    <a:p>
                      <a:pPr algn="ctr" indent="0" marL="0">
                        <a:buNone/>
                      </a:pPr>
                      <a:r>
                        <a:rPr lang="en-US" sz="1000" dirty="0">
                          <a:solidFill>
                            <a:srgbClr val="1B1F24"/>
                          </a:solidFill>
                        </a:rPr>
                        <a:t>+4.5</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dirty="0">
                          <a:solidFill>
                            <a:srgbClr val="1B1F24"/>
                          </a:solidFill>
                        </a:rPr>
                        <a:t>−5.2</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9967F"/>
                    </a:solidFill>
                  </a:tcPr>
                </a:tc>
                <a:tc>
                  <a:txBody>
                    <a:bodyPr/>
                    <a:lstStyle/>
                    <a:p>
                      <a:pPr algn="ctr" indent="0" marL="0">
                        <a:buNone/>
                      </a:pPr>
                      <a:r>
                        <a:rPr lang="en-US" sz="1000" b="1" dirty="0">
                          <a:solidFill>
                            <a:srgbClr val="FFFFFF"/>
                          </a:solidFill>
                        </a:rPr>
                        <a:t>+12.4</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b="1" dirty="0">
                          <a:solidFill>
                            <a:srgbClr val="FFFFFF"/>
                          </a:solidFill>
                        </a:rPr>
                        <a:t>+19.3</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b="1" dirty="0">
                          <a:solidFill>
                            <a:srgbClr val="FFFFFF"/>
                          </a:solidFill>
                        </a:rPr>
                        <a:t>+9.4</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dirty="0">
                          <a:solidFill>
                            <a:srgbClr val="1B1F24"/>
                          </a:solidFill>
                        </a:rPr>
                        <a:t>6/9</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r>
              <a:tr h="187452">
                <a:tc>
                  <a:txBody>
                    <a:bodyPr/>
                    <a:lstStyle/>
                    <a:p>
                      <a:pPr indent="0" marL="0">
                        <a:buNone/>
                      </a:pPr>
                      <a:r>
                        <a:rPr lang="en-US" sz="1000" dirty="0">
                          <a:solidFill>
                            <a:schemeClr val="tx1"/>
                          </a:solidFill>
                        </a:rPr>
                        <a:t>Dithering</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1F24"/>
                          </a:solidFill>
                        </a:rPr>
                        <a:t>+1.4</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b="1" dirty="0">
                          <a:solidFill>
                            <a:srgbClr val="FFFFFF"/>
                          </a:solidFill>
                        </a:rPr>
                        <a:t>+9.6</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dirty="0">
                          <a:solidFill>
                            <a:srgbClr val="1B1F24"/>
                          </a:solidFill>
                        </a:rPr>
                        <a:t>−1.2</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8DDD5"/>
                    </a:solidFill>
                  </a:tcPr>
                </a:tc>
                <a:tc>
                  <a:txBody>
                    <a:bodyPr/>
                    <a:lstStyle/>
                    <a:p>
                      <a:pPr algn="ctr" indent="0" marL="0">
                        <a:buNone/>
                      </a:pPr>
                      <a:r>
                        <a:rPr lang="en-US" sz="1000" dirty="0">
                          <a:solidFill>
                            <a:srgbClr val="1B1F24"/>
                          </a:solidFill>
                        </a:rPr>
                        <a:t>+1.2</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b="1" dirty="0">
                          <a:solidFill>
                            <a:srgbClr val="FFFFFF"/>
                          </a:solidFill>
                        </a:rPr>
                        <a:t>+5.2</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dirty="0">
                          <a:solidFill>
                            <a:srgbClr val="1B1F24"/>
                          </a:solidFill>
                        </a:rPr>
                        <a:t>−1.1</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8DDD5"/>
                    </a:solidFill>
                  </a:tcPr>
                </a:tc>
                <a:tc>
                  <a:txBody>
                    <a:bodyPr/>
                    <a:lstStyle/>
                    <a:p>
                      <a:pPr algn="ctr" indent="0" marL="0">
                        <a:buNone/>
                      </a:pPr>
                      <a:r>
                        <a:rPr lang="en-US" sz="1000" b="1" dirty="0">
                          <a:solidFill>
                            <a:srgbClr val="FFFFFF"/>
                          </a:solidFill>
                        </a:rPr>
                        <a:t>+9.1</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b="1" dirty="0">
                          <a:solidFill>
                            <a:srgbClr val="FFFFFF"/>
                          </a:solidFill>
                        </a:rPr>
                        <a:t>+22.2</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dirty="0">
                          <a:solidFill>
                            <a:srgbClr val="1B1F24"/>
                          </a:solidFill>
                        </a:rPr>
                        <a:t>−4.0</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8DDD5"/>
                    </a:solidFill>
                  </a:tcPr>
                </a:tc>
                <a:tc>
                  <a:txBody>
                    <a:bodyPr/>
                    <a:lstStyle/>
                    <a:p>
                      <a:pPr algn="ctr" indent="0" marL="0">
                        <a:buNone/>
                      </a:pPr>
                      <a:r>
                        <a:rPr lang="en-US" sz="1000" dirty="0">
                          <a:solidFill>
                            <a:srgbClr val="1B1F24"/>
                          </a:solidFill>
                        </a:rPr>
                        <a:t>6/9</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r>
              <a:tr h="187452">
                <a:tc>
                  <a:txBody>
                    <a:bodyPr/>
                    <a:lstStyle/>
                    <a:p>
                      <a:pPr indent="0" marL="0">
                        <a:buNone/>
                      </a:pPr>
                      <a:r>
                        <a:rPr lang="en-US" sz="1000" dirty="0">
                          <a:solidFill>
                            <a:schemeClr val="tx1"/>
                          </a:solidFill>
                        </a:rPr>
                        <a:t>SVD (low-rank)</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1F24"/>
                          </a:solidFill>
                        </a:rPr>
                        <a:t>+0.0</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dirty="0">
                          <a:solidFill>
                            <a:srgbClr val="1B1F24"/>
                          </a:solidFill>
                        </a:rPr>
                        <a:t>+0.2</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dirty="0">
                          <a:solidFill>
                            <a:srgbClr val="1B1F24"/>
                          </a:solidFill>
                        </a:rPr>
                        <a:t>+0.0</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dirty="0">
                          <a:solidFill>
                            <a:srgbClr val="1B1F24"/>
                          </a:solidFill>
                        </a:rPr>
                        <a:t>−0.3</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8DDD5"/>
                    </a:solidFill>
                  </a:tcPr>
                </a:tc>
                <a:tc>
                  <a:txBody>
                    <a:bodyPr/>
                    <a:lstStyle/>
                    <a:p>
                      <a:pPr algn="ctr" indent="0" marL="0">
                        <a:buNone/>
                      </a:pPr>
                      <a:r>
                        <a:rPr lang="en-US" sz="1000" dirty="0">
                          <a:solidFill>
                            <a:srgbClr val="1B1F24"/>
                          </a:solidFill>
                        </a:rPr>
                        <a:t>−0.2</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8DDD5"/>
                    </a:solidFill>
                  </a:tcPr>
                </a:tc>
                <a:tc>
                  <a:txBody>
                    <a:bodyPr/>
                    <a:lstStyle/>
                    <a:p>
                      <a:pPr algn="ctr" indent="0" marL="0">
                        <a:buNone/>
                      </a:pPr>
                      <a:r>
                        <a:rPr lang="en-US" sz="1000" dirty="0">
                          <a:solidFill>
                            <a:srgbClr val="1B1F24"/>
                          </a:solidFill>
                        </a:rPr>
                        <a:t>−0.4</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8DDD5"/>
                    </a:solidFill>
                  </a:tcPr>
                </a:tc>
                <a:tc>
                  <a:txBody>
                    <a:bodyPr/>
                    <a:lstStyle/>
                    <a:p>
                      <a:pPr algn="ctr" indent="0" marL="0">
                        <a:buNone/>
                      </a:pPr>
                      <a:r>
                        <a:rPr lang="en-US" sz="1000" dirty="0">
                          <a:solidFill>
                            <a:srgbClr val="1B1F24"/>
                          </a:solidFill>
                        </a:rPr>
                        <a:t>+0.4</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dirty="0">
                          <a:solidFill>
                            <a:srgbClr val="1B1F24"/>
                          </a:solidFill>
                        </a:rPr>
                        <a:t>+1.5</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dirty="0">
                          <a:solidFill>
                            <a:srgbClr val="1B1F24"/>
                          </a:solidFill>
                        </a:rPr>
                        <a:t>+0.2</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dirty="0">
                          <a:solidFill>
                            <a:srgbClr val="1B1F24"/>
                          </a:solidFill>
                        </a:rPr>
                        <a:t>6/9</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r>
              <a:tr h="187452">
                <a:tc>
                  <a:txBody>
                    <a:bodyPr/>
                    <a:lstStyle/>
                    <a:p>
                      <a:pPr indent="0" marL="0">
                        <a:buNone/>
                      </a:pPr>
                      <a:r>
                        <a:rPr lang="en-US" sz="1000" dirty="0">
                          <a:solidFill>
                            <a:schemeClr val="tx1"/>
                          </a:solidFill>
                        </a:rPr>
                        <a:t>Bit-depth (4-bit)</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1F24"/>
                          </a:solidFill>
                        </a:rPr>
                        <a:t>+1.4</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b="1" dirty="0">
                          <a:solidFill>
                            <a:srgbClr val="FFFFFF"/>
                          </a:solidFill>
                        </a:rPr>
                        <a:t>+7.6</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dirty="0">
                          <a:solidFill>
                            <a:srgbClr val="1B1F24"/>
                          </a:solidFill>
                        </a:rPr>
                        <a:t>−1.1</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8DDD5"/>
                    </a:solidFill>
                  </a:tcPr>
                </a:tc>
                <a:tc>
                  <a:txBody>
                    <a:bodyPr/>
                    <a:lstStyle/>
                    <a:p>
                      <a:pPr algn="ctr" indent="0" marL="0">
                        <a:buNone/>
                      </a:pPr>
                      <a:r>
                        <a:rPr lang="en-US" sz="1000" dirty="0">
                          <a:solidFill>
                            <a:srgbClr val="1B1F24"/>
                          </a:solidFill>
                        </a:rPr>
                        <a:t>−1.7</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8DDD5"/>
                    </a:solidFill>
                  </a:tcPr>
                </a:tc>
                <a:tc>
                  <a:txBody>
                    <a:bodyPr/>
                    <a:lstStyle/>
                    <a:p>
                      <a:pPr algn="ctr" indent="0" marL="0">
                        <a:buNone/>
                      </a:pPr>
                      <a:r>
                        <a:rPr lang="en-US" sz="1000" dirty="0">
                          <a:solidFill>
                            <a:srgbClr val="1B1F24"/>
                          </a:solidFill>
                        </a:rPr>
                        <a:t>+1.9</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dirty="0">
                          <a:solidFill>
                            <a:srgbClr val="1B1F24"/>
                          </a:solidFill>
                        </a:rPr>
                        <a:t>−4.8</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8DDD5"/>
                    </a:solidFill>
                  </a:tcPr>
                </a:tc>
                <a:tc>
                  <a:txBody>
                    <a:bodyPr/>
                    <a:lstStyle/>
                    <a:p>
                      <a:pPr algn="ctr" indent="0" marL="0">
                        <a:buNone/>
                      </a:pPr>
                      <a:r>
                        <a:rPr lang="en-US" sz="1000" b="1" dirty="0">
                          <a:solidFill>
                            <a:srgbClr val="FFFFFF"/>
                          </a:solidFill>
                        </a:rPr>
                        <a:t>+9.9</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b="1" dirty="0">
                          <a:solidFill>
                            <a:srgbClr val="FFFFFF"/>
                          </a:solidFill>
                        </a:rPr>
                        <a:t>+22.7</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dirty="0">
                          <a:solidFill>
                            <a:srgbClr val="1B1F24"/>
                          </a:solidFill>
                        </a:rPr>
                        <a:t>−3.4</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8DDD5"/>
                    </a:solidFill>
                  </a:tcPr>
                </a:tc>
                <a:tc>
                  <a:txBody>
                    <a:bodyPr/>
                    <a:lstStyle/>
                    <a:p>
                      <a:pPr algn="ctr" indent="0" marL="0">
                        <a:buNone/>
                      </a:pPr>
                      <a:r>
                        <a:rPr lang="en-US" sz="1000" dirty="0">
                          <a:solidFill>
                            <a:srgbClr val="1B1F24"/>
                          </a:solidFill>
                        </a:rPr>
                        <a:t>5/9</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r>
              <a:tr h="187452">
                <a:tc>
                  <a:txBody>
                    <a:bodyPr/>
                    <a:lstStyle/>
                    <a:p>
                      <a:pPr indent="0" marL="0">
                        <a:buNone/>
                      </a:pPr>
                      <a:r>
                        <a:rPr lang="en-US" sz="1000" dirty="0">
                          <a:solidFill>
                            <a:schemeClr val="tx1"/>
                          </a:solidFill>
                        </a:rPr>
                        <a:t>NLM</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1F24"/>
                          </a:solidFill>
                        </a:rPr>
                        <a:t>−0.3</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8DDD5"/>
                    </a:solidFill>
                  </a:tcPr>
                </a:tc>
                <a:tc>
                  <a:txBody>
                    <a:bodyPr/>
                    <a:lstStyle/>
                    <a:p>
                      <a:pPr algn="ctr" indent="0" marL="0">
                        <a:buNone/>
                      </a:pPr>
                      <a:r>
                        <a:rPr lang="en-US" sz="1000" b="1" dirty="0">
                          <a:solidFill>
                            <a:srgbClr val="FFFFFF"/>
                          </a:solidFill>
                        </a:rPr>
                        <a:t>+11.7</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dirty="0">
                          <a:solidFill>
                            <a:srgbClr val="1B1F24"/>
                          </a:solidFill>
                        </a:rPr>
                        <a:t>−0.3</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8DDD5"/>
                    </a:solidFill>
                  </a:tcPr>
                </a:tc>
                <a:tc>
                  <a:txBody>
                    <a:bodyPr/>
                    <a:lstStyle/>
                    <a:p>
                      <a:pPr algn="ctr" indent="0" marL="0">
                        <a:buNone/>
                      </a:pPr>
                      <a:r>
                        <a:rPr lang="en-US" sz="1000" dirty="0">
                          <a:solidFill>
                            <a:srgbClr val="1B1F24"/>
                          </a:solidFill>
                        </a:rPr>
                        <a:t>−0.7</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8DDD5"/>
                    </a:solidFill>
                  </a:tcPr>
                </a:tc>
                <a:tc>
                  <a:txBody>
                    <a:bodyPr/>
                    <a:lstStyle/>
                    <a:p>
                      <a:pPr algn="ctr" indent="0" marL="0">
                        <a:buNone/>
                      </a:pPr>
                      <a:r>
                        <a:rPr lang="en-US" sz="1000" dirty="0">
                          <a:solidFill>
                            <a:srgbClr val="1B1F24"/>
                          </a:solidFill>
                        </a:rPr>
                        <a:t>+0.5</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dirty="0">
                          <a:solidFill>
                            <a:srgbClr val="1B1F24"/>
                          </a:solidFill>
                        </a:rPr>
                        <a:t>−1.7</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8DDD5"/>
                    </a:solidFill>
                  </a:tcPr>
                </a:tc>
                <a:tc>
                  <a:txBody>
                    <a:bodyPr/>
                    <a:lstStyle/>
                    <a:p>
                      <a:pPr algn="ctr" indent="0" marL="0">
                        <a:buNone/>
                      </a:pPr>
                      <a:r>
                        <a:rPr lang="en-US" sz="1000" dirty="0">
                          <a:solidFill>
                            <a:srgbClr val="1B1F24"/>
                          </a:solidFill>
                        </a:rPr>
                        <a:t>+2.1</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CDE7E5"/>
                    </a:solidFill>
                  </a:tcPr>
                </a:tc>
                <a:tc>
                  <a:txBody>
                    <a:bodyPr/>
                    <a:lstStyle/>
                    <a:p>
                      <a:pPr algn="ctr" indent="0" marL="0">
                        <a:buNone/>
                      </a:pPr>
                      <a:r>
                        <a:rPr lang="en-US" sz="1000" b="1" dirty="0">
                          <a:solidFill>
                            <a:srgbClr val="FFFFFF"/>
                          </a:solidFill>
                        </a:rPr>
                        <a:t>+8.9</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dirty="0">
                          <a:solidFill>
                            <a:srgbClr val="1B1F24"/>
                          </a:solidFill>
                        </a:rPr>
                        <a:t>−1.6</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8DDD5"/>
                    </a:solidFill>
                  </a:tcPr>
                </a:tc>
                <a:tc>
                  <a:txBody>
                    <a:bodyPr/>
                    <a:lstStyle/>
                    <a:p>
                      <a:pPr algn="ctr" indent="0" marL="0">
                        <a:buNone/>
                      </a:pPr>
                      <a:r>
                        <a:rPr lang="en-US" sz="1000" dirty="0">
                          <a:solidFill>
                            <a:srgbClr val="1B1F24"/>
                          </a:solidFill>
                        </a:rPr>
                        <a:t>4/9</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r>
              <a:tr h="187452">
                <a:tc>
                  <a:txBody>
                    <a:bodyPr/>
                    <a:lstStyle/>
                    <a:p>
                      <a:pPr indent="0" marL="0">
                        <a:buNone/>
                      </a:pPr>
                      <a:r>
                        <a:rPr lang="en-US" sz="1000" dirty="0">
                          <a:solidFill>
                            <a:schemeClr val="tx1"/>
                          </a:solidFill>
                        </a:rPr>
                        <a:t>BM3D</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B7785"/>
                          </a:solidFill>
                        </a:rPr>
                        <a:t>–</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B7785"/>
                          </a:solidFill>
                        </a:rPr>
                        <a:t>–</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B7785"/>
                          </a:solidFill>
                        </a:rPr>
                        <a:t>–</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B7785"/>
                          </a:solidFill>
                        </a:rPr>
                        <a:t>–</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B7785"/>
                          </a:solidFill>
                        </a:rPr>
                        <a:t>–</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B7785"/>
                          </a:solidFill>
                        </a:rPr>
                        <a:t>–</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FFFFFF"/>
                          </a:solidFill>
                        </a:rPr>
                        <a:t>+22.3</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b="1" dirty="0">
                          <a:solidFill>
                            <a:srgbClr val="FFFFFF"/>
                          </a:solidFill>
                        </a:rPr>
                        <a:t>+30.4</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dirty="0">
                          <a:solidFill>
                            <a:srgbClr val="1B1F24"/>
                          </a:solidFill>
                        </a:rPr>
                        <a:t>−2.3</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8DDD5"/>
                    </a:solidFill>
                  </a:tcPr>
                </a:tc>
                <a:tc>
                  <a:txBody>
                    <a:bodyPr/>
                    <a:lstStyle/>
                    <a:p>
                      <a:pPr algn="ctr" indent="0" marL="0">
                        <a:buNone/>
                      </a:pPr>
                      <a:r>
                        <a:rPr lang="en-US" sz="1000" dirty="0">
                          <a:solidFill>
                            <a:srgbClr val="1B1F24"/>
                          </a:solidFill>
                        </a:rPr>
                        <a:t>2/3</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r>
              <a:tr h="187452">
                <a:tc>
                  <a:txBody>
                    <a:bodyPr/>
                    <a:lstStyle/>
                    <a:p>
                      <a:pPr indent="0" marL="0">
                        <a:buNone/>
                      </a:pPr>
                      <a:r>
                        <a:rPr lang="en-US" sz="1000" dirty="0">
                          <a:solidFill>
                            <a:schemeClr val="tx1"/>
                          </a:solidFill>
                        </a:rPr>
                        <a:t>Random Resize</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B7785"/>
                          </a:solidFill>
                        </a:rPr>
                        <a:t>–</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B7785"/>
                          </a:solidFill>
                        </a:rPr>
                        <a:t>–</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B7785"/>
                          </a:solidFill>
                        </a:rPr>
                        <a:t>–</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B7785"/>
                          </a:solidFill>
                        </a:rPr>
                        <a:t>–</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B7785"/>
                          </a:solidFill>
                        </a:rPr>
                        <a:t>–</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B7785"/>
                          </a:solidFill>
                        </a:rPr>
                        <a:t>–</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FFFFFF"/>
                          </a:solidFill>
                        </a:rPr>
                        <a:t>+18.6</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b="1" dirty="0">
                          <a:solidFill>
                            <a:srgbClr val="FFFFFF"/>
                          </a:solidFill>
                        </a:rPr>
                        <a:t>+29.0</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b="1" dirty="0">
                          <a:solidFill>
                            <a:srgbClr val="FFFFFF"/>
                          </a:solidFill>
                        </a:rPr>
                        <a:t>+18.4</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0F7C78"/>
                    </a:solidFill>
                  </a:tcPr>
                </a:tc>
                <a:tc>
                  <a:txBody>
                    <a:bodyPr/>
                    <a:lstStyle/>
                    <a:p>
                      <a:pPr algn="ctr" indent="0" marL="0">
                        <a:buNone/>
                      </a:pPr>
                      <a:r>
                        <a:rPr lang="en-US" sz="1000" b="1" dirty="0">
                          <a:solidFill>
                            <a:srgbClr val="0F7C78"/>
                          </a:solidFill>
                        </a:rPr>
                        <a:t>3/3</a:t>
                      </a:r>
                      <a:endParaRPr lang="en-US" sz="1000" dirty="0"/>
                    </a:p>
                  </a:txBody>
                  <a:tcPr marL="54864" marR="54864" marT="0" marB="0"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513832"/>
            <a:ext cx="274320" cy="182880"/>
          </a:xfrm>
          <a:prstGeom prst="rect">
            <a:avLst/>
          </a:prstGeom>
          <a:solidFill>
            <a:srgbClr val="0F7C78"/>
          </a:solidFill>
          <a:ln w="6350">
            <a:solidFill>
              <a:srgbClr val="D5DDDC"/>
            </a:solidFill>
            <a:prstDash val="solid"/>
          </a:ln>
        </p:spPr>
      </p:sp>
      <p:sp>
        <p:nvSpPr>
          <p:cNvPr id="6" name="Text 3"/>
          <p:cNvSpPr txBox="1"/>
          <p:nvPr/>
        </p:nvSpPr>
        <p:spPr>
          <a:xfrm>
            <a:off x="896112" y="5486400"/>
            <a:ext cx="1188720" cy="237744"/>
          </a:xfrm>
          <a:prstGeom prst="rect">
            <a:avLst/>
          </a:prstGeom>
          <a:noFill/>
          <a:ln/>
        </p:spPr>
        <p:txBody>
          <a:bodyPr wrap="square" lIns="0" tIns="0" rIns="0" bIns="0" rtlCol="0" anchor="ctr"/>
          <a:lstStyle/>
          <a:p>
            <a:pPr indent="0" marL="0">
              <a:buNone/>
            </a:pPr>
            <a:r>
              <a:rPr lang="en-US" sz="1100" dirty="0">
                <a:solidFill>
                  <a:schemeClr val="tx1"/>
                </a:solidFill>
              </a:rPr>
              <a:t>≥ +5 points</a:t>
            </a:r>
            <a:endParaRPr lang="en-US" sz="1100" dirty="0"/>
          </a:p>
        </p:txBody>
      </p:sp>
      <p:sp>
        <p:nvSpPr>
          <p:cNvPr id="7" name="Shape 4"/>
          <p:cNvSpPr/>
          <p:nvPr/>
        </p:nvSpPr>
        <p:spPr>
          <a:xfrm>
            <a:off x="2148840" y="5513832"/>
            <a:ext cx="274320" cy="182880"/>
          </a:xfrm>
          <a:prstGeom prst="rect">
            <a:avLst/>
          </a:prstGeom>
          <a:solidFill>
            <a:srgbClr val="CDE7E5"/>
          </a:solidFill>
          <a:ln w="6350">
            <a:solidFill>
              <a:srgbClr val="D5DDDC"/>
            </a:solidFill>
            <a:prstDash val="solid"/>
          </a:ln>
        </p:spPr>
      </p:sp>
      <p:sp>
        <p:nvSpPr>
          <p:cNvPr id="8" name="Text 5"/>
          <p:cNvSpPr txBox="1"/>
          <p:nvPr/>
        </p:nvSpPr>
        <p:spPr>
          <a:xfrm>
            <a:off x="2496312" y="5486400"/>
            <a:ext cx="1188720" cy="237744"/>
          </a:xfrm>
          <a:prstGeom prst="rect">
            <a:avLst/>
          </a:prstGeom>
          <a:noFill/>
          <a:ln/>
        </p:spPr>
        <p:txBody>
          <a:bodyPr wrap="square" lIns="0" tIns="0" rIns="0" bIns="0" rtlCol="0" anchor="ctr"/>
          <a:lstStyle/>
          <a:p>
            <a:pPr indent="0" marL="0">
              <a:buNone/>
            </a:pPr>
            <a:r>
              <a:rPr lang="en-US" sz="1100" dirty="0">
                <a:solidFill>
                  <a:schemeClr val="tx1"/>
                </a:solidFill>
              </a:rPr>
              <a:t>0 to +5</a:t>
            </a:r>
            <a:endParaRPr lang="en-US" sz="1100" dirty="0"/>
          </a:p>
        </p:txBody>
      </p:sp>
      <p:sp>
        <p:nvSpPr>
          <p:cNvPr id="9" name="Shape 6"/>
          <p:cNvSpPr/>
          <p:nvPr/>
        </p:nvSpPr>
        <p:spPr>
          <a:xfrm>
            <a:off x="3749040" y="5513832"/>
            <a:ext cx="274320" cy="182880"/>
          </a:xfrm>
          <a:prstGeom prst="rect">
            <a:avLst/>
          </a:prstGeom>
          <a:solidFill>
            <a:srgbClr val="F8DDD5"/>
          </a:solidFill>
          <a:ln w="6350">
            <a:solidFill>
              <a:srgbClr val="D5DDDC"/>
            </a:solidFill>
            <a:prstDash val="solid"/>
          </a:ln>
        </p:spPr>
      </p:sp>
      <p:sp>
        <p:nvSpPr>
          <p:cNvPr id="10" name="Text 7"/>
          <p:cNvSpPr txBox="1"/>
          <p:nvPr/>
        </p:nvSpPr>
        <p:spPr>
          <a:xfrm>
            <a:off x="4096512" y="5486400"/>
            <a:ext cx="1188720" cy="237744"/>
          </a:xfrm>
          <a:prstGeom prst="rect">
            <a:avLst/>
          </a:prstGeom>
          <a:noFill/>
          <a:ln/>
        </p:spPr>
        <p:txBody>
          <a:bodyPr wrap="square" lIns="0" tIns="0" rIns="0" bIns="0" rtlCol="0" anchor="ctr"/>
          <a:lstStyle/>
          <a:p>
            <a:pPr indent="0" marL="0">
              <a:buNone/>
            </a:pPr>
            <a:r>
              <a:rPr lang="en-US" sz="1100" dirty="0">
                <a:solidFill>
                  <a:schemeClr val="tx1"/>
                </a:solidFill>
              </a:rPr>
              <a:t>0 to −5</a:t>
            </a:r>
            <a:endParaRPr lang="en-US" sz="1100" dirty="0"/>
          </a:p>
        </p:txBody>
      </p:sp>
      <p:sp>
        <p:nvSpPr>
          <p:cNvPr id="11" name="Shape 8"/>
          <p:cNvSpPr/>
          <p:nvPr/>
        </p:nvSpPr>
        <p:spPr>
          <a:xfrm>
            <a:off x="5349240" y="5513832"/>
            <a:ext cx="274320" cy="182880"/>
          </a:xfrm>
          <a:prstGeom prst="rect">
            <a:avLst/>
          </a:prstGeom>
          <a:solidFill>
            <a:srgbClr val="E9967F"/>
          </a:solidFill>
          <a:ln w="6350">
            <a:solidFill>
              <a:srgbClr val="D5DDDC"/>
            </a:solidFill>
            <a:prstDash val="solid"/>
          </a:ln>
        </p:spPr>
      </p:sp>
      <p:sp>
        <p:nvSpPr>
          <p:cNvPr id="12" name="Text 9"/>
          <p:cNvSpPr txBox="1"/>
          <p:nvPr/>
        </p:nvSpPr>
        <p:spPr>
          <a:xfrm>
            <a:off x="5696712" y="5486400"/>
            <a:ext cx="1188720" cy="237744"/>
          </a:xfrm>
          <a:prstGeom prst="rect">
            <a:avLst/>
          </a:prstGeom>
          <a:noFill/>
          <a:ln/>
        </p:spPr>
        <p:txBody>
          <a:bodyPr wrap="square" lIns="0" tIns="0" rIns="0" bIns="0" rtlCol="0" anchor="ctr"/>
          <a:lstStyle/>
          <a:p>
            <a:pPr indent="0" marL="0">
              <a:buNone/>
            </a:pPr>
            <a:r>
              <a:rPr lang="en-US" sz="1100" dirty="0">
                <a:solidFill>
                  <a:schemeClr val="tx1"/>
                </a:solidFill>
              </a:rPr>
              <a:t>≤ −5</a:t>
            </a:r>
            <a:endParaRPr lang="en-US" sz="1100" dirty="0"/>
          </a:p>
        </p:txBody>
      </p:sp>
      <p:sp>
        <p:nvSpPr>
          <p:cNvPr id="13" name="Text 10"/>
          <p:cNvSpPr txBox="1"/>
          <p:nvPr/>
        </p:nvSpPr>
        <p:spPr>
          <a:xfrm>
            <a:off x="6995160" y="5486400"/>
            <a:ext cx="4645152" cy="237744"/>
          </a:xfrm>
          <a:prstGeom prst="rect">
            <a:avLst/>
          </a:prstGeom>
          <a:noFill/>
          <a:ln/>
        </p:spPr>
        <p:txBody>
          <a:bodyPr wrap="square" lIns="0" tIns="0" rIns="0" bIns="0" rtlCol="0" anchor="ctr"/>
          <a:lstStyle/>
          <a:p>
            <a:pPr algn="r" indent="0" marL="0">
              <a:buNone/>
            </a:pPr>
            <a:r>
              <a:rPr lang="en-US" sz="1100" dirty="0">
                <a:solidFill>
                  <a:schemeClr val="accent4"/>
                </a:solidFill>
              </a:rPr>
              <a:t>Change vs. attacked, in points (×100); N = 5,000, one run each</a:t>
            </a:r>
            <a:endParaRPr lang="en-US" sz="1100" dirty="0"/>
          </a:p>
        </p:txBody>
      </p:sp>
      <p:sp>
        <p:nvSpPr>
          <p:cNvPr id="14" name="Text 11"/>
          <p:cNvSpPr txBox="1"/>
          <p:nvPr/>
        </p:nvSpPr>
        <p:spPr>
          <a:xfrm>
            <a:off x="548640" y="5788152"/>
            <a:ext cx="11094415" cy="502920"/>
          </a:xfrm>
          <a:prstGeom prst="rect">
            <a:avLst/>
          </a:prstGeom>
          <a:noFill/>
          <a:ln/>
        </p:spPr>
        <p:txBody>
          <a:bodyPr wrap="square" lIns="0" tIns="0" rIns="0" bIns="0" rtlCol="0" anchor="t"/>
          <a:lstStyle/>
          <a:p>
            <a:pPr indent="0" marL="0">
              <a:buNone/>
            </a:pPr>
            <a:r>
              <a:rPr lang="en-US" sz="1000" dirty="0">
                <a:solidFill>
                  <a:schemeClr val="accent4"/>
                </a:solidFill>
              </a:rPr>
              <a:t>Shaded rows: ensembles; letters name the filters (J JPEG, M Median, G Gaussian, T TVM, B Bilateral, S SVD): Ens4W = J+M+T+G, EnsBTC = J + Blur+TVM + M. BM3D and Random Resize: OCR only (Random Resize rescales the image, so its boxes are not comparable).</a:t>
            </a:r>
            <a:endParaRPr lang="en-US" sz="1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2 · RESULTS</a:t>
            </a:r>
            <a:endParaRPr lang="en-US" sz="1200" dirty="0"/>
          </a:p>
        </p:txBody>
      </p:sp>
      <p:sp>
        <p:nvSpPr>
          <p:cNvPr id="3" name="Text 0"/>
          <p:cNvSpPr/>
          <p:nvPr>
            <p:ph idx="101"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Plug-and-play needs a low price on clean images</a:t>
            </a:r>
            <a:endParaRPr lang="en-US" sz="3200" dirty="0"/>
          </a:p>
        </p:txBody>
      </p:sp>
      <p:graphicFrame>
        <p:nvGraphicFramePr>
          <p:cNvPr id="4" name="Clean cost chart" descr=""/>
          <p:cNvGraphicFramePr/>
          <p:nvPr/>
        </p:nvGraphicFramePr>
        <p:xfrm>
          <a:off x="548640" y="1371600"/>
          <a:ext cx="7223760" cy="44348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5870448"/>
            <a:ext cx="7223760" cy="411480"/>
          </a:xfrm>
          <a:prstGeom prst="rect">
            <a:avLst/>
          </a:prstGeom>
          <a:noFill/>
          <a:ln/>
        </p:spPr>
        <p:txBody>
          <a:bodyPr wrap="square" lIns="0" tIns="0" rIns="0" bIns="0" rtlCol="0" anchor="t"/>
          <a:lstStyle/>
          <a:p>
            <a:pPr indent="0" marL="0">
              <a:buNone/>
            </a:pPr>
            <a:r>
              <a:rPr lang="en-US" sz="1100" dirty="0">
                <a:solidFill>
                  <a:schemeClr val="accent4"/>
                </a:solidFill>
              </a:rPr>
              <a:t>N = 1,000 images (our earlier runs), 95% paired bootstrap CIs. Florence: the CIs of JPEG, Median and all three ensembles include zero.</a:t>
            </a:r>
            <a:endParaRPr lang="en-US" sz="1100" dirty="0"/>
          </a:p>
        </p:txBody>
      </p:sp>
      <p:sp>
        <p:nvSpPr>
          <p:cNvPr id="6" name="Shape 3"/>
          <p:cNvSpPr/>
          <p:nvPr/>
        </p:nvSpPr>
        <p:spPr>
          <a:xfrm>
            <a:off x="8001000" y="1371600"/>
            <a:ext cx="3639312" cy="2286000"/>
          </a:xfrm>
          <a:prstGeom prst="roundRect">
            <a:avLst>
              <a:gd name="adj" fmla="val 3200"/>
            </a:avLst>
          </a:prstGeom>
          <a:solidFill>
            <a:schemeClr val="bg2"/>
          </a:solidFill>
          <a:ln/>
          <a:effectLst>
            <a:outerShdw sx="100000" sy="100000" kx="0" ky="0" algn="bl" rotWithShape="0" blurRad="76200" dist="25400" dir="5400000">
              <a:srgbClr val="1B1F24">
                <a:alpha val="12000"/>
              </a:srgbClr>
            </a:outerShdw>
          </a:effectLst>
        </p:spPr>
      </p:sp>
      <p:sp>
        <p:nvSpPr>
          <p:cNvPr id="7" name="Text 4"/>
          <p:cNvSpPr txBox="1"/>
          <p:nvPr/>
        </p:nvSpPr>
        <p:spPr>
          <a:xfrm>
            <a:off x="8229600" y="1572768"/>
            <a:ext cx="3200400" cy="777240"/>
          </a:xfrm>
          <a:prstGeom prst="rect">
            <a:avLst/>
          </a:prstGeom>
          <a:noFill/>
          <a:ln/>
        </p:spPr>
        <p:txBody>
          <a:bodyPr wrap="square" lIns="0" tIns="0" rIns="0" bIns="0" rtlCol="0" anchor="t"/>
          <a:lstStyle/>
          <a:p>
            <a:pPr indent="0" marL="0">
              <a:buNone/>
            </a:pPr>
            <a:r>
              <a:rPr lang="en-US" sz="4000" b="1" dirty="0">
                <a:solidFill>
                  <a:schemeClr val="accent1"/>
                </a:solidFill>
              </a:rPr>
              <a:t>≈ 1 point</a:t>
            </a:r>
            <a:endParaRPr lang="en-US" sz="4000" dirty="0"/>
          </a:p>
        </p:txBody>
      </p:sp>
      <p:sp>
        <p:nvSpPr>
          <p:cNvPr id="8" name="Text 5"/>
          <p:cNvSpPr txBox="1"/>
          <p:nvPr/>
        </p:nvSpPr>
        <p:spPr>
          <a:xfrm>
            <a:off x="8229600" y="2395728"/>
            <a:ext cx="3200400" cy="1143000"/>
          </a:xfrm>
          <a:prstGeom prst="rect">
            <a:avLst/>
          </a:prstGeom>
          <a:noFill/>
          <a:ln/>
        </p:spPr>
        <p:txBody>
          <a:bodyPr wrap="square" lIns="0" tIns="0" rIns="0" bIns="0" rtlCol="0" anchor="t"/>
          <a:lstStyle/>
          <a:p>
            <a:pPr indent="0" marL="0">
              <a:buNone/>
            </a:pPr>
            <a:r>
              <a:rPr lang="en-US" sz="1400" dirty="0">
                <a:solidFill>
                  <a:schemeClr val="tx1"/>
                </a:solidFill>
              </a:rPr>
              <a:t>what an ensemble costs on clean YOLO images; on Florence, too small to measure</a:t>
            </a:r>
            <a:endParaRPr lang="en-US" sz="1400" dirty="0"/>
          </a:p>
        </p:txBody>
      </p:sp>
      <p:sp>
        <p:nvSpPr>
          <p:cNvPr id="9" name="Shape 6"/>
          <p:cNvSpPr/>
          <p:nvPr/>
        </p:nvSpPr>
        <p:spPr>
          <a:xfrm>
            <a:off x="8001000" y="3840480"/>
            <a:ext cx="3639312" cy="2286000"/>
          </a:xfrm>
          <a:prstGeom prst="roundRect">
            <a:avLst>
              <a:gd name="adj" fmla="val 3200"/>
            </a:avLst>
          </a:prstGeom>
          <a:solidFill>
            <a:schemeClr val="bg2"/>
          </a:solidFill>
          <a:ln/>
          <a:effectLst>
            <a:outerShdw sx="100000" sy="100000" kx="0" ky="0" algn="bl" rotWithShape="0" blurRad="76200" dist="25400" dir="5400000">
              <a:srgbClr val="1B1F24">
                <a:alpha val="12000"/>
              </a:srgbClr>
            </a:outerShdw>
          </a:effectLst>
        </p:spPr>
      </p:sp>
      <p:sp>
        <p:nvSpPr>
          <p:cNvPr id="10" name="Text 7"/>
          <p:cNvSpPr txBox="1"/>
          <p:nvPr/>
        </p:nvSpPr>
        <p:spPr>
          <a:xfrm>
            <a:off x="8229600" y="4041648"/>
            <a:ext cx="3200400" cy="777240"/>
          </a:xfrm>
          <a:prstGeom prst="rect">
            <a:avLst/>
          </a:prstGeom>
          <a:noFill/>
          <a:ln/>
        </p:spPr>
        <p:txBody>
          <a:bodyPr wrap="square" lIns="0" tIns="0" rIns="0" bIns="0" rtlCol="0" anchor="t"/>
          <a:lstStyle/>
          <a:p>
            <a:pPr indent="0" marL="0">
              <a:buNone/>
            </a:pPr>
            <a:r>
              <a:rPr lang="en-US" sz="4000" b="1" dirty="0">
                <a:solidFill>
                  <a:schemeClr val="accent5"/>
                </a:solidFill>
              </a:rPr>
              <a:t>6.9 → 0.9</a:t>
            </a:r>
            <a:endParaRPr lang="en-US" sz="4000" dirty="0"/>
          </a:p>
        </p:txBody>
      </p:sp>
      <p:sp>
        <p:nvSpPr>
          <p:cNvPr id="11" name="Text 8"/>
          <p:cNvSpPr txBox="1"/>
          <p:nvPr/>
        </p:nvSpPr>
        <p:spPr>
          <a:xfrm>
            <a:off x="8229600" y="4864608"/>
            <a:ext cx="3200400" cy="1143000"/>
          </a:xfrm>
          <a:prstGeom prst="rect">
            <a:avLst/>
          </a:prstGeom>
          <a:noFill/>
          <a:ln/>
        </p:spPr>
        <p:txBody>
          <a:bodyPr wrap="square" lIns="0" tIns="0" rIns="0" bIns="0" rtlCol="0" anchor="t"/>
          <a:lstStyle/>
          <a:p>
            <a:pPr indent="0" marL="0">
              <a:buNone/>
            </a:pPr>
            <a:r>
              <a:rPr lang="en-US" sz="1400" dirty="0">
                <a:solidFill>
                  <a:schemeClr val="tx1"/>
                </a:solidFill>
              </a:rPr>
              <a:t>Gaussian alone costs Florence 6.9 points; inside EnsJMG the merge brings that down to 0.9</a:t>
            </a:r>
            <a:endParaRPr lang="en-US" sz="14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3 · REVIEWS AND NEXT STEP</a:t>
            </a:r>
            <a:endParaRPr lang="en-US" sz="1200" dirty="0"/>
          </a:p>
        </p:txBody>
      </p:sp>
      <p:sp>
        <p:nvSpPr>
          <p:cNvPr id="3" name="Text 0"/>
          <p:cNvSpPr/>
          <p:nvPr>
            <p:ph idx="101"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What the workshop reviewers asked, and what we did</a:t>
            </a:r>
            <a:endParaRPr lang="en-US" sz="3200" dirty="0"/>
          </a:p>
        </p:txBody>
      </p:sp>
      <p:sp>
        <p:nvSpPr>
          <p:cNvPr id="4" name="Shape 2"/>
          <p:cNvSpPr/>
          <p:nvPr/>
        </p:nvSpPr>
        <p:spPr>
          <a:xfrm>
            <a:off x="548640" y="1417320"/>
            <a:ext cx="11094415" cy="685800"/>
          </a:xfrm>
          <a:prstGeom prst="roundRect">
            <a:avLst>
              <a:gd name="adj" fmla="val 10667"/>
            </a:avLst>
          </a:prstGeom>
          <a:solidFill>
            <a:schemeClr val="bg2"/>
          </a:solidFill>
          <a:ln/>
        </p:spPr>
      </p:sp>
      <p:sp>
        <p:nvSpPr>
          <p:cNvPr id="5" name="Shape 3"/>
          <p:cNvSpPr/>
          <p:nvPr/>
        </p:nvSpPr>
        <p:spPr>
          <a:xfrm>
            <a:off x="731520" y="1522476"/>
            <a:ext cx="475488" cy="475488"/>
          </a:xfrm>
          <a:prstGeom prst="ellipse">
            <a:avLst/>
          </a:prstGeom>
          <a:solidFill>
            <a:schemeClr val="accent5"/>
          </a:solidFill>
          <a:ln/>
        </p:spPr>
      </p:sp>
      <p:pic>
        <p:nvPicPr>
          <p:cNvPr id="6" name="Image 0" descr="FaBookOpen">    </p:cNvPr>
          <p:cNvPicPr>
            <a:picLocks noChangeAspect="1"/>
          </p:cNvPicPr>
          <p:nvPr/>
        </p:nvPicPr>
        <p:blipFill>
          <a:blip r:embed="rId1"/>
          <a:stretch>
            <a:fillRect/>
          </a:stretch>
        </p:blipFill>
        <p:spPr>
          <a:xfrm>
            <a:off x="845637" y="1636593"/>
            <a:ext cx="247254" cy="247254"/>
          </a:xfrm>
          <a:prstGeom prst="rect">
            <a:avLst/>
          </a:prstGeom>
        </p:spPr>
      </p:pic>
      <p:sp>
        <p:nvSpPr>
          <p:cNvPr id="7" name="Text 4"/>
          <p:cNvSpPr txBox="1"/>
          <p:nvPr/>
        </p:nvSpPr>
        <p:spPr>
          <a:xfrm>
            <a:off x="1371600" y="1463040"/>
            <a:ext cx="10149840" cy="594360"/>
          </a:xfrm>
          <a:prstGeom prst="rect">
            <a:avLst/>
          </a:prstGeom>
          <a:noFill/>
          <a:ln/>
        </p:spPr>
        <p:txBody>
          <a:bodyPr wrap="square" lIns="0" tIns="0" rIns="0" bIns="0" rtlCol="0" anchor="ctr"/>
          <a:lstStyle/>
          <a:p>
            <a:pPr indent="0" marL="0">
              <a:buNone/>
            </a:pPr>
            <a:r>
              <a:rPr lang="en-US" sz="1400" b="1" dirty="0">
                <a:solidFill>
                  <a:schemeClr val="tx1"/>
                </a:solidFill>
              </a:rPr>
              <a:t>EmergingAD workshop at ECCV 2026: </a:t>
            </a:r>
            <a:r>
              <a:rPr lang="en-US" sz="1400" dirty="0">
                <a:solidFill>
                  <a:schemeClr val="tx1"/>
                </a:solidFill>
              </a:rPr>
              <a:t>not accepted, scores 4/10 and 6/10 (reviewer confidence 3 and 2). Main request: test an attacker who knows the defense.</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286000"/>
          <a:ext cx="11094415" cy="914400"/>
        </p:xfrm>
        <a:graphic>
          <a:graphicData uri="http://schemas.openxmlformats.org/drawingml/2006/table">
            <a:tbl>
              <a:tblPr/>
              <a:tblGrid>
                <a:gridCol w="3291840"/>
                <a:gridCol w="5788152"/>
                <a:gridCol w="2011680"/>
              </a:tblGrid>
              <a:tr h="411480">
                <a:tc>
                  <a:txBody>
                    <a:bodyPr/>
                    <a:lstStyle/>
                    <a:p>
                      <a:pPr indent="0" marL="0">
                        <a:buNone/>
                      </a:pPr>
                      <a:r>
                        <a:rPr lang="en-US" sz="1300" b="1" dirty="0">
                          <a:solidFill>
                            <a:schemeClr val="bg1"/>
                          </a:solidFill>
                        </a:rPr>
                        <a:t>Reviewers asked</a:t>
                      </a:r>
                      <a:endParaRPr lang="en-US" sz="13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What we did</a:t>
                      </a:r>
                      <a:endParaRPr lang="en-US" sz="13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Status</a:t>
                      </a:r>
                      <a:endParaRPr lang="en-US" sz="13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548640">
                <a:tc>
                  <a:txBody>
                    <a:bodyPr/>
                    <a:lstStyle/>
                    <a:p>
                      <a:pPr indent="0" marL="0">
                        <a:buNone/>
                      </a:pPr>
                      <a:r>
                        <a:rPr lang="en-US" sz="1400" b="1" dirty="0">
                          <a:solidFill>
                            <a:schemeClr val="tx1"/>
                          </a:solidFill>
                        </a:rPr>
                        <a:t>Test an attacker who knows the defense</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Adaptive attack (BPDA + EOT) aimed at the merge; seeded, 3 seeds</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tx1"/>
                          </a:solidFill>
                        </a:rPr>
                        <a:t>Code ready · GPU next</a:t>
                      </a:r>
                      <a:endParaRPr lang="en-US" sz="12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3"/>
                    </a:solidFill>
                  </a:tcPr>
                </a:tc>
              </a:tr>
              <a:tr h="548640">
                <a:tc>
                  <a:txBody>
                    <a:bodyPr/>
                    <a:lstStyle/>
                    <a:p>
                      <a:pPr indent="0" marL="0">
                        <a:buNone/>
                      </a:pPr>
                      <a:r>
                        <a:rPr lang="en-US" sz="1400" b="1" dirty="0">
                          <a:solidFill>
                            <a:schemeClr val="tx1"/>
                          </a:solidFill>
                        </a:rPr>
                        <a:t>Report the cost on clean images</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Measured for every defense, with 95% confidence intervals</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bg1"/>
                          </a:solidFill>
                        </a:rPr>
                        <a:t>Done</a:t>
                      </a:r>
                      <a:endParaRPr lang="en-US" sz="12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548640">
                <a:tc>
                  <a:txBody>
                    <a:bodyPr/>
                    <a:lstStyle/>
                    <a:p>
                      <a:pPr indent="0" marL="0">
                        <a:buNone/>
                      </a:pPr>
                      <a:r>
                        <a:rPr lang="en-US" sz="1400" b="1" dirty="0">
                          <a:solidFill>
                            <a:schemeClr val="tx1"/>
                          </a:solidFill>
                        </a:rPr>
                        <a:t>Add error bars</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Paired bootstrap CIs on every comparison; seeded attacks for new runs</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bg1"/>
                          </a:solidFill>
                        </a:rPr>
                        <a:t>Done</a:t>
                      </a:r>
                      <a:endParaRPr lang="en-US" sz="12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548640">
                <a:tc>
                  <a:txBody>
                    <a:bodyPr/>
                    <a:lstStyle/>
                    <a:p>
                      <a:pPr indent="0" marL="0">
                        <a:buNone/>
                      </a:pPr>
                      <a:r>
                        <a:rPr lang="en-US" sz="1400" b="1" dirty="0">
                          <a:solidFill>
                            <a:schemeClr val="tx1"/>
                          </a:solidFill>
                        </a:rPr>
                        <a:t>State clear research questions</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Paper rebuilt around four questions: cost, dependence on model and task, combining, adaptivity</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tx1"/>
                          </a:solidFill>
                        </a:rPr>
                        <a:t>Drafted</a:t>
                      </a:r>
                      <a:endParaRPr lang="en-US" sz="12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548640">
                <a:tc>
                  <a:txBody>
                    <a:bodyPr/>
                    <a:lstStyle/>
                    <a:p>
                      <a:pPr indent="0" marL="0">
                        <a:buNone/>
                      </a:pPr>
                      <a:r>
                        <a:rPr lang="en-US" sz="1400" b="1" dirty="0">
                          <a:solidFill>
                            <a:schemeClr val="tx1"/>
                          </a:solidFill>
                        </a:rPr>
                        <a:t>OCR score is consistency, not accuracy</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Ground-truth text from COCO-Text (option D)</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bg1"/>
                          </a:solidFill>
                        </a:rPr>
                        <a:t>Open</a:t>
                      </a:r>
                      <a:endParaRPr lang="en-US" sz="12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4"/>
                    </a:solidFill>
                  </a:tcPr>
                </a:tc>
              </a:tr>
              <a:tr h="548640">
                <a:tc>
                  <a:txBody>
                    <a:bodyPr/>
                    <a:lstStyle/>
                    <a:p>
                      <a:pPr indent="0" marL="0">
                        <a:buNone/>
                      </a:pPr>
                      <a:r>
                        <a:rPr lang="en-US" sz="1400" b="1" dirty="0">
                          <a:solidFill>
                            <a:schemeClr val="tx1"/>
                          </a:solidFill>
                        </a:rPr>
                        <a:t>Fit to driving and physical threats</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Choose a venue that fits a general robustness study</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bg1"/>
                          </a:solidFill>
                        </a:rPr>
                        <a:t>To decide</a:t>
                      </a:r>
                      <a:endParaRPr lang="en-US" sz="12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4"/>
                    </a:solidFill>
                  </a:tcPr>
                </a:tc>
              </a:tr>
            </a:tbl>
          </a:graphicData>
        </a:graphic>
      </p:graphicFrame>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3 · REVIEWS AND NEXT STEP</a:t>
            </a:r>
            <a:endParaRPr lang="en-US" sz="1200" dirty="0"/>
          </a:p>
        </p:txBody>
      </p:sp>
      <p:sp>
        <p:nvSpPr>
          <p:cNvPr id="3" name="Text 0"/>
          <p:cNvSpPr/>
          <p:nvPr>
            <p:ph idx="101"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Next test: an attacker who knows the block</a:t>
            </a:r>
            <a:endParaRPr lang="en-US" sz="3200" dirty="0"/>
          </a:p>
        </p:txBody>
      </p:sp>
      <p:sp>
        <p:nvSpPr>
          <p:cNvPr id="4" name="Text 2"/>
          <p:cNvSpPr txBox="1"/>
          <p:nvPr/>
        </p:nvSpPr>
        <p:spPr>
          <a:xfrm>
            <a:off x="548640" y="1600200"/>
            <a:ext cx="2011680" cy="548640"/>
          </a:xfrm>
          <a:prstGeom prst="rect">
            <a:avLst/>
          </a:prstGeom>
          <a:noFill/>
          <a:ln/>
        </p:spPr>
        <p:txBody>
          <a:bodyPr wrap="square" lIns="0" tIns="0" rIns="0" bIns="0" rtlCol="0" anchor="ctr"/>
          <a:lstStyle/>
          <a:p>
            <a:pPr indent="0" marL="0">
              <a:buNone/>
            </a:pPr>
            <a:r>
              <a:rPr lang="en-US" sz="1400" b="1" dirty="0">
                <a:solidFill>
                  <a:schemeClr val="accent4"/>
                </a:solidFill>
              </a:rPr>
              <a:t>Tested: blind attacker</a:t>
            </a:r>
            <a:endParaRPr lang="en-US" sz="1400" dirty="0"/>
          </a:p>
        </p:txBody>
      </p:sp>
      <p:sp>
        <p:nvSpPr>
          <p:cNvPr id="5" name="Shape 3"/>
          <p:cNvSpPr/>
          <p:nvPr/>
        </p:nvSpPr>
        <p:spPr>
          <a:xfrm>
            <a:off x="2651760" y="1600200"/>
            <a:ext cx="914400" cy="548640"/>
          </a:xfrm>
          <a:prstGeom prst="roundRect">
            <a:avLst>
              <a:gd name="adj" fmla="val 10000"/>
            </a:avLst>
          </a:prstGeom>
          <a:solidFill>
            <a:schemeClr val="bg2"/>
          </a:solidFill>
          <a:ln/>
        </p:spPr>
      </p:sp>
      <p:sp>
        <p:nvSpPr>
          <p:cNvPr id="6" name="Text 4"/>
          <p:cNvSpPr txBox="1"/>
          <p:nvPr/>
        </p:nvSpPr>
        <p:spPr>
          <a:xfrm>
            <a:off x="2651760" y="1600200"/>
            <a:ext cx="914400" cy="548640"/>
          </a:xfrm>
          <a:prstGeom prst="rect">
            <a:avLst/>
          </a:prstGeom>
          <a:noFill/>
          <a:ln/>
        </p:spPr>
        <p:txBody>
          <a:bodyPr wrap="square" lIns="0" tIns="0" rIns="0" bIns="0" rtlCol="0" anchor="ctr"/>
          <a:lstStyle/>
          <a:p>
            <a:pPr algn="ctr" indent="0" marL="0">
              <a:buNone/>
            </a:pPr>
            <a:r>
              <a:rPr lang="en-US" sz="1200" b="1" dirty="0">
                <a:solidFill>
                  <a:schemeClr val="tx1"/>
                </a:solidFill>
              </a:rPr>
              <a:t>Image</a:t>
            </a:r>
            <a:endParaRPr lang="en-US" sz="1200" dirty="0"/>
          </a:p>
        </p:txBody>
      </p:sp>
      <p:sp>
        <p:nvSpPr>
          <p:cNvPr id="7" name="Shape 5"/>
          <p:cNvSpPr/>
          <p:nvPr/>
        </p:nvSpPr>
        <p:spPr>
          <a:xfrm>
            <a:off x="3566160" y="1874520"/>
            <a:ext cx="274320" cy="0"/>
          </a:xfrm>
          <a:prstGeom prst="line">
            <a:avLst/>
          </a:prstGeom>
          <a:noFill/>
          <a:ln w="19050">
            <a:solidFill>
              <a:schemeClr val="accent4"/>
            </a:solidFill>
            <a:prstDash val="solid"/>
            <a:tailEnd type="triangle"/>
          </a:ln>
        </p:spPr>
      </p:sp>
      <p:sp>
        <p:nvSpPr>
          <p:cNvPr id="8" name="Shape 6"/>
          <p:cNvSpPr/>
          <p:nvPr/>
        </p:nvSpPr>
        <p:spPr>
          <a:xfrm>
            <a:off x="3840480" y="1600200"/>
            <a:ext cx="2560320" cy="548640"/>
          </a:xfrm>
          <a:prstGeom prst="roundRect">
            <a:avLst>
              <a:gd name="adj" fmla="val 10000"/>
            </a:avLst>
          </a:prstGeom>
          <a:solidFill>
            <a:schemeClr val="accent2"/>
          </a:solidFill>
          <a:ln/>
        </p:spPr>
      </p:sp>
      <p:sp>
        <p:nvSpPr>
          <p:cNvPr id="9" name="Text 7"/>
          <p:cNvSpPr txBox="1"/>
          <p:nvPr/>
        </p:nvSpPr>
        <p:spPr>
          <a:xfrm>
            <a:off x="3840480" y="1600200"/>
            <a:ext cx="2560320" cy="548640"/>
          </a:xfrm>
          <a:prstGeom prst="rect">
            <a:avLst/>
          </a:prstGeom>
          <a:noFill/>
          <a:ln/>
        </p:spPr>
        <p:txBody>
          <a:bodyPr wrap="square" lIns="0" tIns="0" rIns="0" bIns="0" rtlCol="0" anchor="ctr"/>
          <a:lstStyle/>
          <a:p>
            <a:pPr algn="ctr" indent="0" marL="0">
              <a:buNone/>
            </a:pPr>
            <a:r>
              <a:rPr lang="en-US" sz="1200" b="1" dirty="0">
                <a:solidFill>
                  <a:schemeClr val="bg1"/>
                </a:solidFill>
              </a:rPr>
              <a:t>Noise from the model's gradient only</a:t>
            </a:r>
            <a:endParaRPr lang="en-US" sz="1200" dirty="0"/>
          </a:p>
        </p:txBody>
      </p:sp>
      <p:sp>
        <p:nvSpPr>
          <p:cNvPr id="10" name="Shape 8"/>
          <p:cNvSpPr/>
          <p:nvPr/>
        </p:nvSpPr>
        <p:spPr>
          <a:xfrm>
            <a:off x="6400800" y="1874520"/>
            <a:ext cx="320040" cy="0"/>
          </a:xfrm>
          <a:prstGeom prst="line">
            <a:avLst/>
          </a:prstGeom>
          <a:noFill/>
          <a:ln w="19050">
            <a:solidFill>
              <a:schemeClr val="accent4"/>
            </a:solidFill>
            <a:prstDash val="solid"/>
            <a:tailEnd type="triangle"/>
          </a:ln>
        </p:spPr>
      </p:sp>
      <p:sp>
        <p:nvSpPr>
          <p:cNvPr id="11" name="Shape 9"/>
          <p:cNvSpPr/>
          <p:nvPr/>
        </p:nvSpPr>
        <p:spPr>
          <a:xfrm>
            <a:off x="6720840" y="1600200"/>
            <a:ext cx="1417320" cy="548640"/>
          </a:xfrm>
          <a:prstGeom prst="roundRect">
            <a:avLst>
              <a:gd name="adj" fmla="val 10000"/>
            </a:avLst>
          </a:prstGeom>
          <a:solidFill>
            <a:schemeClr val="accent1"/>
          </a:solidFill>
          <a:ln/>
        </p:spPr>
      </p:sp>
      <p:sp>
        <p:nvSpPr>
          <p:cNvPr id="12" name="Text 10"/>
          <p:cNvSpPr txBox="1"/>
          <p:nvPr/>
        </p:nvSpPr>
        <p:spPr>
          <a:xfrm>
            <a:off x="6720840" y="1600200"/>
            <a:ext cx="1417320" cy="548640"/>
          </a:xfrm>
          <a:prstGeom prst="rect">
            <a:avLst/>
          </a:prstGeom>
          <a:noFill/>
          <a:ln/>
        </p:spPr>
        <p:txBody>
          <a:bodyPr wrap="square" lIns="0" tIns="0" rIns="0" bIns="0" rtlCol="0" anchor="ctr"/>
          <a:lstStyle/>
          <a:p>
            <a:pPr algn="ctr" indent="0" marL="0">
              <a:buNone/>
            </a:pPr>
            <a:r>
              <a:rPr lang="en-US" sz="1200" b="1" dirty="0">
                <a:solidFill>
                  <a:schemeClr val="bg1"/>
                </a:solidFill>
              </a:rPr>
              <a:t>Filter block</a:t>
            </a:r>
            <a:endParaRPr lang="en-US" sz="1200" dirty="0"/>
          </a:p>
        </p:txBody>
      </p:sp>
      <p:sp>
        <p:nvSpPr>
          <p:cNvPr id="13" name="Shape 11"/>
          <p:cNvSpPr/>
          <p:nvPr/>
        </p:nvSpPr>
        <p:spPr>
          <a:xfrm>
            <a:off x="8138160" y="1874520"/>
            <a:ext cx="274320" cy="0"/>
          </a:xfrm>
          <a:prstGeom prst="line">
            <a:avLst/>
          </a:prstGeom>
          <a:noFill/>
          <a:ln w="19050">
            <a:solidFill>
              <a:schemeClr val="accent4"/>
            </a:solidFill>
            <a:prstDash val="solid"/>
            <a:tailEnd type="triangle"/>
          </a:ln>
        </p:spPr>
      </p:sp>
      <p:sp>
        <p:nvSpPr>
          <p:cNvPr id="14" name="Shape 12"/>
          <p:cNvSpPr/>
          <p:nvPr/>
        </p:nvSpPr>
        <p:spPr>
          <a:xfrm>
            <a:off x="8412480" y="1600200"/>
            <a:ext cx="1280160" cy="548640"/>
          </a:xfrm>
          <a:prstGeom prst="roundRect">
            <a:avLst>
              <a:gd name="adj" fmla="val 10000"/>
            </a:avLst>
          </a:prstGeom>
          <a:solidFill>
            <a:schemeClr val="accent5"/>
          </a:solidFill>
          <a:ln/>
        </p:spPr>
      </p:sp>
      <p:sp>
        <p:nvSpPr>
          <p:cNvPr id="15" name="Text 13"/>
          <p:cNvSpPr txBox="1"/>
          <p:nvPr/>
        </p:nvSpPr>
        <p:spPr>
          <a:xfrm>
            <a:off x="8412480" y="1600200"/>
            <a:ext cx="1280160" cy="548640"/>
          </a:xfrm>
          <a:prstGeom prst="rect">
            <a:avLst/>
          </a:prstGeom>
          <a:noFill/>
          <a:ln/>
        </p:spPr>
        <p:txBody>
          <a:bodyPr wrap="square" lIns="0" tIns="0" rIns="0" bIns="0" rtlCol="0" anchor="ctr"/>
          <a:lstStyle/>
          <a:p>
            <a:pPr algn="ctr" indent="0" marL="0">
              <a:buNone/>
            </a:pPr>
            <a:r>
              <a:rPr lang="en-US" sz="1200" b="1" dirty="0">
                <a:solidFill>
                  <a:schemeClr val="bg1"/>
                </a:solidFill>
              </a:rPr>
              <a:t>Model</a:t>
            </a:r>
            <a:endParaRPr lang="en-US" sz="1200" dirty="0"/>
          </a:p>
        </p:txBody>
      </p:sp>
      <p:sp>
        <p:nvSpPr>
          <p:cNvPr id="16" name="Shape 14"/>
          <p:cNvSpPr/>
          <p:nvPr/>
        </p:nvSpPr>
        <p:spPr>
          <a:xfrm>
            <a:off x="9692640" y="1874520"/>
            <a:ext cx="274320" cy="0"/>
          </a:xfrm>
          <a:prstGeom prst="line">
            <a:avLst/>
          </a:prstGeom>
          <a:noFill/>
          <a:ln w="19050">
            <a:solidFill>
              <a:schemeClr val="accent4"/>
            </a:solidFill>
            <a:prstDash val="solid"/>
            <a:tailEnd type="triangle"/>
          </a:ln>
        </p:spPr>
      </p:sp>
      <p:sp>
        <p:nvSpPr>
          <p:cNvPr id="17" name="Shape 15"/>
          <p:cNvSpPr/>
          <p:nvPr/>
        </p:nvSpPr>
        <p:spPr>
          <a:xfrm>
            <a:off x="9966960" y="1600200"/>
            <a:ext cx="1673352" cy="548640"/>
          </a:xfrm>
          <a:prstGeom prst="roundRect">
            <a:avLst>
              <a:gd name="adj" fmla="val 10000"/>
            </a:avLst>
          </a:prstGeom>
          <a:solidFill>
            <a:schemeClr val="bg2"/>
          </a:solidFill>
          <a:ln/>
        </p:spPr>
      </p:sp>
      <p:sp>
        <p:nvSpPr>
          <p:cNvPr id="18" name="Text 16"/>
          <p:cNvSpPr txBox="1"/>
          <p:nvPr/>
        </p:nvSpPr>
        <p:spPr>
          <a:xfrm>
            <a:off x="9966960" y="1600200"/>
            <a:ext cx="1673352" cy="548640"/>
          </a:xfrm>
          <a:prstGeom prst="rect">
            <a:avLst/>
          </a:prstGeom>
          <a:noFill/>
          <a:ln/>
        </p:spPr>
        <p:txBody>
          <a:bodyPr wrap="square" lIns="0" tIns="0" rIns="0" bIns="0" rtlCol="0" anchor="ctr"/>
          <a:lstStyle/>
          <a:p>
            <a:pPr algn="ctr" indent="0" marL="0">
              <a:buNone/>
            </a:pPr>
            <a:r>
              <a:rPr lang="en-US" sz="1200" b="1" dirty="0">
                <a:solidFill>
                  <a:schemeClr val="tx1"/>
                </a:solidFill>
              </a:rPr>
              <a:t>Detections</a:t>
            </a:r>
            <a:endParaRPr lang="en-US" sz="1200" dirty="0"/>
          </a:p>
        </p:txBody>
      </p:sp>
      <p:sp>
        <p:nvSpPr>
          <p:cNvPr id="19" name="Shape 17"/>
          <p:cNvSpPr/>
          <p:nvPr/>
        </p:nvSpPr>
        <p:spPr>
          <a:xfrm>
            <a:off x="8275320" y="1527048"/>
            <a:ext cx="1417320" cy="694944"/>
          </a:xfrm>
          <a:prstGeom prst="roundRect">
            <a:avLst>
              <a:gd name="adj" fmla="val 10526"/>
            </a:avLst>
          </a:prstGeom>
          <a:ln w="19050">
            <a:solidFill>
              <a:schemeClr val="accent2"/>
            </a:solidFill>
            <a:prstDash val="dash"/>
          </a:ln>
        </p:spPr>
      </p:sp>
      <p:sp>
        <p:nvSpPr>
          <p:cNvPr id="20" name="Text 18"/>
          <p:cNvSpPr txBox="1"/>
          <p:nvPr/>
        </p:nvSpPr>
        <p:spPr>
          <a:xfrm>
            <a:off x="548640" y="2514600"/>
            <a:ext cx="2011680" cy="548640"/>
          </a:xfrm>
          <a:prstGeom prst="rect">
            <a:avLst/>
          </a:prstGeom>
          <a:noFill/>
          <a:ln/>
        </p:spPr>
        <p:txBody>
          <a:bodyPr wrap="square" lIns="0" tIns="0" rIns="0" bIns="0" rtlCol="0" anchor="ctr"/>
          <a:lstStyle/>
          <a:p>
            <a:pPr indent="0" marL="0">
              <a:buNone/>
            </a:pPr>
            <a:r>
              <a:rPr lang="en-US" sz="1400" b="1" dirty="0">
                <a:solidFill>
                  <a:schemeClr val="accent2"/>
                </a:solidFill>
              </a:rPr>
              <a:t>Next: adaptive attacker</a:t>
            </a:r>
            <a:endParaRPr lang="en-US" sz="1400" dirty="0"/>
          </a:p>
        </p:txBody>
      </p:sp>
      <p:sp>
        <p:nvSpPr>
          <p:cNvPr id="21" name="Shape 19"/>
          <p:cNvSpPr/>
          <p:nvPr/>
        </p:nvSpPr>
        <p:spPr>
          <a:xfrm>
            <a:off x="2651760" y="2514600"/>
            <a:ext cx="914400" cy="548640"/>
          </a:xfrm>
          <a:prstGeom prst="roundRect">
            <a:avLst>
              <a:gd name="adj" fmla="val 10000"/>
            </a:avLst>
          </a:prstGeom>
          <a:solidFill>
            <a:schemeClr val="bg2"/>
          </a:solidFill>
          <a:ln/>
        </p:spPr>
      </p:sp>
      <p:sp>
        <p:nvSpPr>
          <p:cNvPr id="22" name="Text 20"/>
          <p:cNvSpPr txBox="1"/>
          <p:nvPr/>
        </p:nvSpPr>
        <p:spPr>
          <a:xfrm>
            <a:off x="2651760" y="2514600"/>
            <a:ext cx="914400" cy="548640"/>
          </a:xfrm>
          <a:prstGeom prst="rect">
            <a:avLst/>
          </a:prstGeom>
          <a:noFill/>
          <a:ln/>
        </p:spPr>
        <p:txBody>
          <a:bodyPr wrap="square" lIns="0" tIns="0" rIns="0" bIns="0" rtlCol="0" anchor="ctr"/>
          <a:lstStyle/>
          <a:p>
            <a:pPr algn="ctr" indent="0" marL="0">
              <a:buNone/>
            </a:pPr>
            <a:r>
              <a:rPr lang="en-US" sz="1200" b="1" dirty="0">
                <a:solidFill>
                  <a:schemeClr val="tx1"/>
                </a:solidFill>
              </a:rPr>
              <a:t>Image</a:t>
            </a:r>
            <a:endParaRPr lang="en-US" sz="1200" dirty="0"/>
          </a:p>
        </p:txBody>
      </p:sp>
      <p:sp>
        <p:nvSpPr>
          <p:cNvPr id="23" name="Shape 21"/>
          <p:cNvSpPr/>
          <p:nvPr/>
        </p:nvSpPr>
        <p:spPr>
          <a:xfrm>
            <a:off x="3566160" y="2788920"/>
            <a:ext cx="274320" cy="0"/>
          </a:xfrm>
          <a:prstGeom prst="line">
            <a:avLst/>
          </a:prstGeom>
          <a:noFill/>
          <a:ln w="19050">
            <a:solidFill>
              <a:schemeClr val="accent4"/>
            </a:solidFill>
            <a:prstDash val="solid"/>
            <a:tailEnd type="triangle"/>
          </a:ln>
        </p:spPr>
      </p:sp>
      <p:sp>
        <p:nvSpPr>
          <p:cNvPr id="24" name="Shape 22"/>
          <p:cNvSpPr/>
          <p:nvPr/>
        </p:nvSpPr>
        <p:spPr>
          <a:xfrm>
            <a:off x="3840480" y="2514600"/>
            <a:ext cx="2560320" cy="548640"/>
          </a:xfrm>
          <a:prstGeom prst="roundRect">
            <a:avLst>
              <a:gd name="adj" fmla="val 10000"/>
            </a:avLst>
          </a:prstGeom>
          <a:solidFill>
            <a:schemeClr val="accent2"/>
          </a:solidFill>
          <a:ln/>
        </p:spPr>
      </p:sp>
      <p:sp>
        <p:nvSpPr>
          <p:cNvPr id="25" name="Text 23"/>
          <p:cNvSpPr txBox="1"/>
          <p:nvPr/>
        </p:nvSpPr>
        <p:spPr>
          <a:xfrm>
            <a:off x="3840480" y="2514600"/>
            <a:ext cx="2560320" cy="548640"/>
          </a:xfrm>
          <a:prstGeom prst="rect">
            <a:avLst/>
          </a:prstGeom>
          <a:noFill/>
          <a:ln/>
        </p:spPr>
        <p:txBody>
          <a:bodyPr wrap="square" lIns="0" tIns="0" rIns="0" bIns="0" rtlCol="0" anchor="ctr"/>
          <a:lstStyle/>
          <a:p>
            <a:pPr algn="ctr" indent="0" marL="0">
              <a:buNone/>
            </a:pPr>
            <a:r>
              <a:rPr lang="en-US" sz="1200" b="1" dirty="0">
                <a:solidFill>
                  <a:schemeClr val="bg1"/>
                </a:solidFill>
              </a:rPr>
              <a:t>Noise from the gradient of block + model</a:t>
            </a:r>
            <a:endParaRPr lang="en-US" sz="1200" dirty="0"/>
          </a:p>
        </p:txBody>
      </p:sp>
      <p:sp>
        <p:nvSpPr>
          <p:cNvPr id="26" name="Shape 24"/>
          <p:cNvSpPr/>
          <p:nvPr/>
        </p:nvSpPr>
        <p:spPr>
          <a:xfrm>
            <a:off x="6400800" y="2788920"/>
            <a:ext cx="320040" cy="0"/>
          </a:xfrm>
          <a:prstGeom prst="line">
            <a:avLst/>
          </a:prstGeom>
          <a:noFill/>
          <a:ln w="19050">
            <a:solidFill>
              <a:schemeClr val="accent4"/>
            </a:solidFill>
            <a:prstDash val="solid"/>
            <a:tailEnd type="triangle"/>
          </a:ln>
        </p:spPr>
      </p:sp>
      <p:sp>
        <p:nvSpPr>
          <p:cNvPr id="27" name="Shape 25"/>
          <p:cNvSpPr/>
          <p:nvPr/>
        </p:nvSpPr>
        <p:spPr>
          <a:xfrm>
            <a:off x="6720840" y="2514600"/>
            <a:ext cx="1417320" cy="548640"/>
          </a:xfrm>
          <a:prstGeom prst="roundRect">
            <a:avLst>
              <a:gd name="adj" fmla="val 10000"/>
            </a:avLst>
          </a:prstGeom>
          <a:solidFill>
            <a:schemeClr val="accent1"/>
          </a:solidFill>
          <a:ln/>
        </p:spPr>
      </p:sp>
      <p:sp>
        <p:nvSpPr>
          <p:cNvPr id="28" name="Text 26"/>
          <p:cNvSpPr txBox="1"/>
          <p:nvPr/>
        </p:nvSpPr>
        <p:spPr>
          <a:xfrm>
            <a:off x="6720840" y="2514600"/>
            <a:ext cx="1417320" cy="548640"/>
          </a:xfrm>
          <a:prstGeom prst="rect">
            <a:avLst/>
          </a:prstGeom>
          <a:noFill/>
          <a:ln/>
        </p:spPr>
        <p:txBody>
          <a:bodyPr wrap="square" lIns="0" tIns="0" rIns="0" bIns="0" rtlCol="0" anchor="ctr"/>
          <a:lstStyle/>
          <a:p>
            <a:pPr algn="ctr" indent="0" marL="0">
              <a:buNone/>
            </a:pPr>
            <a:r>
              <a:rPr lang="en-US" sz="1200" b="1" dirty="0">
                <a:solidFill>
                  <a:schemeClr val="bg1"/>
                </a:solidFill>
              </a:rPr>
              <a:t>Filter block</a:t>
            </a:r>
            <a:endParaRPr lang="en-US" sz="1200" dirty="0"/>
          </a:p>
        </p:txBody>
      </p:sp>
      <p:sp>
        <p:nvSpPr>
          <p:cNvPr id="29" name="Shape 27"/>
          <p:cNvSpPr/>
          <p:nvPr/>
        </p:nvSpPr>
        <p:spPr>
          <a:xfrm>
            <a:off x="8138160" y="2788920"/>
            <a:ext cx="274320" cy="0"/>
          </a:xfrm>
          <a:prstGeom prst="line">
            <a:avLst/>
          </a:prstGeom>
          <a:noFill/>
          <a:ln w="19050">
            <a:solidFill>
              <a:schemeClr val="accent4"/>
            </a:solidFill>
            <a:prstDash val="solid"/>
            <a:tailEnd type="triangle"/>
          </a:ln>
        </p:spPr>
      </p:sp>
      <p:sp>
        <p:nvSpPr>
          <p:cNvPr id="30" name="Shape 28"/>
          <p:cNvSpPr/>
          <p:nvPr/>
        </p:nvSpPr>
        <p:spPr>
          <a:xfrm>
            <a:off x="8412480" y="2514600"/>
            <a:ext cx="1280160" cy="548640"/>
          </a:xfrm>
          <a:prstGeom prst="roundRect">
            <a:avLst>
              <a:gd name="adj" fmla="val 10000"/>
            </a:avLst>
          </a:prstGeom>
          <a:solidFill>
            <a:schemeClr val="accent5"/>
          </a:solidFill>
          <a:ln/>
        </p:spPr>
      </p:sp>
      <p:sp>
        <p:nvSpPr>
          <p:cNvPr id="31" name="Text 29"/>
          <p:cNvSpPr txBox="1"/>
          <p:nvPr/>
        </p:nvSpPr>
        <p:spPr>
          <a:xfrm>
            <a:off x="8412480" y="2514600"/>
            <a:ext cx="1280160" cy="548640"/>
          </a:xfrm>
          <a:prstGeom prst="rect">
            <a:avLst/>
          </a:prstGeom>
          <a:noFill/>
          <a:ln/>
        </p:spPr>
        <p:txBody>
          <a:bodyPr wrap="square" lIns="0" tIns="0" rIns="0" bIns="0" rtlCol="0" anchor="ctr"/>
          <a:lstStyle/>
          <a:p>
            <a:pPr algn="ctr" indent="0" marL="0">
              <a:buNone/>
            </a:pPr>
            <a:r>
              <a:rPr lang="en-US" sz="1200" b="1" dirty="0">
                <a:solidFill>
                  <a:schemeClr val="bg1"/>
                </a:solidFill>
              </a:rPr>
              <a:t>Model</a:t>
            </a:r>
            <a:endParaRPr lang="en-US" sz="1200" dirty="0"/>
          </a:p>
        </p:txBody>
      </p:sp>
      <p:sp>
        <p:nvSpPr>
          <p:cNvPr id="32" name="Shape 30"/>
          <p:cNvSpPr/>
          <p:nvPr/>
        </p:nvSpPr>
        <p:spPr>
          <a:xfrm>
            <a:off x="9692640" y="2788920"/>
            <a:ext cx="274320" cy="0"/>
          </a:xfrm>
          <a:prstGeom prst="line">
            <a:avLst/>
          </a:prstGeom>
          <a:noFill/>
          <a:ln w="19050">
            <a:solidFill>
              <a:schemeClr val="accent4"/>
            </a:solidFill>
            <a:prstDash val="solid"/>
            <a:tailEnd type="triangle"/>
          </a:ln>
        </p:spPr>
      </p:sp>
      <p:sp>
        <p:nvSpPr>
          <p:cNvPr id="33" name="Shape 31"/>
          <p:cNvSpPr/>
          <p:nvPr/>
        </p:nvSpPr>
        <p:spPr>
          <a:xfrm>
            <a:off x="9966960" y="2514600"/>
            <a:ext cx="1673352" cy="548640"/>
          </a:xfrm>
          <a:prstGeom prst="roundRect">
            <a:avLst>
              <a:gd name="adj" fmla="val 10000"/>
            </a:avLst>
          </a:prstGeom>
          <a:solidFill>
            <a:schemeClr val="bg2"/>
          </a:solidFill>
          <a:ln/>
        </p:spPr>
      </p:sp>
      <p:sp>
        <p:nvSpPr>
          <p:cNvPr id="34" name="Text 32"/>
          <p:cNvSpPr txBox="1"/>
          <p:nvPr/>
        </p:nvSpPr>
        <p:spPr>
          <a:xfrm>
            <a:off x="9966960" y="2514600"/>
            <a:ext cx="1673352" cy="548640"/>
          </a:xfrm>
          <a:prstGeom prst="rect">
            <a:avLst/>
          </a:prstGeom>
          <a:noFill/>
          <a:ln/>
        </p:spPr>
        <p:txBody>
          <a:bodyPr wrap="square" lIns="0" tIns="0" rIns="0" bIns="0" rtlCol="0" anchor="ctr"/>
          <a:lstStyle/>
          <a:p>
            <a:pPr algn="ctr" indent="0" marL="0">
              <a:buNone/>
            </a:pPr>
            <a:r>
              <a:rPr lang="en-US" sz="1200" b="1" dirty="0">
                <a:solidFill>
                  <a:schemeClr val="tx1"/>
                </a:solidFill>
              </a:rPr>
              <a:t>Detections</a:t>
            </a:r>
            <a:endParaRPr lang="en-US" sz="1200" dirty="0"/>
          </a:p>
        </p:txBody>
      </p:sp>
      <p:sp>
        <p:nvSpPr>
          <p:cNvPr id="35" name="Shape 33"/>
          <p:cNvSpPr/>
          <p:nvPr/>
        </p:nvSpPr>
        <p:spPr>
          <a:xfrm>
            <a:off x="6583680" y="2441448"/>
            <a:ext cx="3108960" cy="694944"/>
          </a:xfrm>
          <a:prstGeom prst="roundRect">
            <a:avLst>
              <a:gd name="adj" fmla="val 10526"/>
            </a:avLst>
          </a:prstGeom>
          <a:ln w="19050">
            <a:solidFill>
              <a:schemeClr val="accent2"/>
            </a:solidFill>
            <a:prstDash val="dash"/>
          </a:ln>
        </p:spPr>
      </p:sp>
      <p:sp>
        <p:nvSpPr>
          <p:cNvPr id="36" name="Text 34"/>
          <p:cNvSpPr txBox="1"/>
          <p:nvPr/>
        </p:nvSpPr>
        <p:spPr>
          <a:xfrm>
            <a:off x="6583680" y="3127248"/>
            <a:ext cx="5029200" cy="237744"/>
          </a:xfrm>
          <a:prstGeom prst="rect">
            <a:avLst/>
          </a:prstGeom>
          <a:noFill/>
          <a:ln/>
        </p:spPr>
        <p:txBody>
          <a:bodyPr wrap="square" lIns="0" tIns="0" rIns="0" bIns="0" rtlCol="0" anchor="t"/>
          <a:lstStyle/>
          <a:p>
            <a:pPr algn="r" indent="0" marL="0">
              <a:buNone/>
            </a:pPr>
            <a:r>
              <a:rPr lang="en-US" sz="1100" i="1" dirty="0">
                <a:solidFill>
                  <a:schemeClr val="accent2"/>
                </a:solidFill>
              </a:rPr>
              <a:t>Dashed red: what the attacker differentiates through</a:t>
            </a:r>
            <a:endParaRPr lang="en-US" sz="1100" dirty="0"/>
          </a:p>
        </p:txBody>
      </p:sp>
      <p:sp>
        <p:nvSpPr>
          <p:cNvPr id="37" name="Shape 35"/>
          <p:cNvSpPr/>
          <p:nvPr/>
        </p:nvSpPr>
        <p:spPr>
          <a:xfrm>
            <a:off x="548640" y="3520440"/>
            <a:ext cx="2651760" cy="2697480"/>
          </a:xfrm>
          <a:prstGeom prst="roundRect">
            <a:avLst>
              <a:gd name="adj" fmla="val 2759"/>
            </a:avLst>
          </a:prstGeom>
          <a:solidFill>
            <a:schemeClr val="bg2"/>
          </a:solidFill>
          <a:ln/>
          <a:effectLst>
            <a:outerShdw sx="100000" sy="100000" kx="0" ky="0" algn="bl" rotWithShape="0" blurRad="76200" dist="25400" dir="5400000">
              <a:srgbClr val="1B1F24">
                <a:alpha val="12000"/>
              </a:srgbClr>
            </a:outerShdw>
          </a:effectLst>
        </p:spPr>
      </p:sp>
      <p:sp>
        <p:nvSpPr>
          <p:cNvPr id="38" name="Text 36"/>
          <p:cNvSpPr txBox="1"/>
          <p:nvPr/>
        </p:nvSpPr>
        <p:spPr>
          <a:xfrm>
            <a:off x="731520" y="3630168"/>
            <a:ext cx="2286000" cy="502920"/>
          </a:xfrm>
          <a:prstGeom prst="rect">
            <a:avLst/>
          </a:prstGeom>
          <a:noFill/>
          <a:ln/>
        </p:spPr>
        <p:txBody>
          <a:bodyPr wrap="square" lIns="0" tIns="0" rIns="0" bIns="0" rtlCol="0" anchor="t"/>
          <a:lstStyle/>
          <a:p>
            <a:pPr indent="0" marL="0">
              <a:buNone/>
            </a:pPr>
            <a:r>
              <a:rPr lang="en-US" sz="1400" b="1" dirty="0">
                <a:solidFill>
                  <a:schemeClr val="tx1"/>
                </a:solidFill>
              </a:rPr>
              <a:t>Fool the branches on average</a:t>
            </a:r>
            <a:endParaRPr lang="en-US" sz="1400" dirty="0"/>
          </a:p>
        </p:txBody>
      </p:sp>
      <p:sp>
        <p:nvSpPr>
          <p:cNvPr id="39" name="Shape 37"/>
          <p:cNvSpPr/>
          <p:nvPr/>
        </p:nvSpPr>
        <p:spPr>
          <a:xfrm>
            <a:off x="1051560" y="5212080"/>
            <a:ext cx="411480" cy="182880"/>
          </a:xfrm>
          <a:prstGeom prst="rect">
            <a:avLst/>
          </a:prstGeom>
          <a:solidFill>
            <a:schemeClr val="accent4"/>
          </a:solidFill>
          <a:ln/>
        </p:spPr>
      </p:sp>
      <p:sp>
        <p:nvSpPr>
          <p:cNvPr id="40" name="Text 38"/>
          <p:cNvSpPr txBox="1"/>
          <p:nvPr/>
        </p:nvSpPr>
        <p:spPr>
          <a:xfrm>
            <a:off x="1051560" y="5431536"/>
            <a:ext cx="411480" cy="237744"/>
          </a:xfrm>
          <a:prstGeom prst="rect">
            <a:avLst/>
          </a:prstGeom>
          <a:noFill/>
          <a:ln/>
        </p:spPr>
        <p:txBody>
          <a:bodyPr wrap="square" lIns="0" tIns="0" rIns="0" bIns="0" rtlCol="0" anchor="t"/>
          <a:lstStyle/>
          <a:p>
            <a:pPr algn="ctr" indent="0" marL="0">
              <a:buNone/>
            </a:pPr>
            <a:r>
              <a:rPr lang="en-US" sz="1200" b="1" dirty="0">
                <a:solidFill>
                  <a:schemeClr val="tx1"/>
                </a:solidFill>
              </a:rPr>
              <a:t>J</a:t>
            </a:r>
            <a:endParaRPr lang="en-US" sz="1200" dirty="0"/>
          </a:p>
        </p:txBody>
      </p:sp>
      <p:sp>
        <p:nvSpPr>
          <p:cNvPr id="41" name="Shape 39"/>
          <p:cNvSpPr/>
          <p:nvPr/>
        </p:nvSpPr>
        <p:spPr>
          <a:xfrm>
            <a:off x="1709928" y="5175504"/>
            <a:ext cx="411480" cy="219456"/>
          </a:xfrm>
          <a:prstGeom prst="rect">
            <a:avLst/>
          </a:prstGeom>
          <a:solidFill>
            <a:schemeClr val="accent4"/>
          </a:solidFill>
          <a:ln/>
        </p:spPr>
      </p:sp>
      <p:sp>
        <p:nvSpPr>
          <p:cNvPr id="42" name="Text 40"/>
          <p:cNvSpPr txBox="1"/>
          <p:nvPr/>
        </p:nvSpPr>
        <p:spPr>
          <a:xfrm>
            <a:off x="1709928" y="5431536"/>
            <a:ext cx="411480" cy="237744"/>
          </a:xfrm>
          <a:prstGeom prst="rect">
            <a:avLst/>
          </a:prstGeom>
          <a:noFill/>
          <a:ln/>
        </p:spPr>
        <p:txBody>
          <a:bodyPr wrap="square" lIns="0" tIns="0" rIns="0" bIns="0" rtlCol="0" anchor="t"/>
          <a:lstStyle/>
          <a:p>
            <a:pPr algn="ctr" indent="0" marL="0">
              <a:buNone/>
            </a:pPr>
            <a:r>
              <a:rPr lang="en-US" sz="1200" b="1" dirty="0">
                <a:solidFill>
                  <a:schemeClr val="tx1"/>
                </a:solidFill>
              </a:rPr>
              <a:t>M</a:t>
            </a:r>
            <a:endParaRPr lang="en-US" sz="1200" dirty="0"/>
          </a:p>
        </p:txBody>
      </p:sp>
      <p:sp>
        <p:nvSpPr>
          <p:cNvPr id="43" name="Shape 41"/>
          <p:cNvSpPr/>
          <p:nvPr/>
        </p:nvSpPr>
        <p:spPr>
          <a:xfrm>
            <a:off x="2368296" y="4261104"/>
            <a:ext cx="411480" cy="1133856"/>
          </a:xfrm>
          <a:prstGeom prst="rect">
            <a:avLst/>
          </a:prstGeom>
          <a:solidFill>
            <a:schemeClr val="accent1"/>
          </a:solidFill>
          <a:ln/>
        </p:spPr>
      </p:sp>
      <p:sp>
        <p:nvSpPr>
          <p:cNvPr id="44" name="Text 42"/>
          <p:cNvSpPr txBox="1"/>
          <p:nvPr/>
        </p:nvSpPr>
        <p:spPr>
          <a:xfrm>
            <a:off x="2368296" y="5431536"/>
            <a:ext cx="411480" cy="237744"/>
          </a:xfrm>
          <a:prstGeom prst="rect">
            <a:avLst/>
          </a:prstGeom>
          <a:noFill/>
          <a:ln/>
        </p:spPr>
        <p:txBody>
          <a:bodyPr wrap="square" lIns="0" tIns="0" rIns="0" bIns="0" rtlCol="0" anchor="t"/>
          <a:lstStyle/>
          <a:p>
            <a:pPr algn="ctr" indent="0" marL="0">
              <a:buNone/>
            </a:pPr>
            <a:r>
              <a:rPr lang="en-US" sz="1200" b="1" dirty="0">
                <a:solidFill>
                  <a:schemeClr val="tx1"/>
                </a:solidFill>
              </a:rPr>
              <a:t>G</a:t>
            </a:r>
            <a:endParaRPr lang="en-US" sz="1200" dirty="0"/>
          </a:p>
        </p:txBody>
      </p:sp>
      <p:sp>
        <p:nvSpPr>
          <p:cNvPr id="45" name="Shape 43"/>
          <p:cNvSpPr/>
          <p:nvPr/>
        </p:nvSpPr>
        <p:spPr>
          <a:xfrm>
            <a:off x="777240" y="4937760"/>
            <a:ext cx="2194560" cy="0"/>
          </a:xfrm>
          <a:prstGeom prst="line">
            <a:avLst/>
          </a:prstGeom>
          <a:noFill/>
          <a:ln w="15875">
            <a:solidFill>
              <a:schemeClr val="accent2"/>
            </a:solidFill>
            <a:prstDash val="dash"/>
          </a:ln>
        </p:spPr>
      </p:sp>
      <p:sp>
        <p:nvSpPr>
          <p:cNvPr id="46" name="Text 44"/>
          <p:cNvSpPr txBox="1"/>
          <p:nvPr/>
        </p:nvSpPr>
        <p:spPr>
          <a:xfrm>
            <a:off x="777240" y="4709160"/>
            <a:ext cx="1097280" cy="201168"/>
          </a:xfrm>
          <a:prstGeom prst="rect">
            <a:avLst/>
          </a:prstGeom>
          <a:noFill/>
          <a:ln/>
        </p:spPr>
        <p:txBody>
          <a:bodyPr wrap="square" lIns="0" tIns="0" rIns="0" bIns="0" rtlCol="0" anchor="t"/>
          <a:lstStyle/>
          <a:p>
            <a:pPr indent="0" marL="0">
              <a:buNone/>
            </a:pPr>
            <a:r>
              <a:rPr lang="en-US" sz="1000" dirty="0">
                <a:solidFill>
                  <a:schemeClr val="accent2"/>
                </a:solidFill>
              </a:rPr>
              <a:t>keep threshold</a:t>
            </a:r>
            <a:endParaRPr lang="en-US" sz="1000" dirty="0"/>
          </a:p>
        </p:txBody>
      </p:sp>
      <p:sp>
        <p:nvSpPr>
          <p:cNvPr id="47" name="Shape 45"/>
          <p:cNvSpPr/>
          <p:nvPr/>
        </p:nvSpPr>
        <p:spPr>
          <a:xfrm>
            <a:off x="777240" y="5394960"/>
            <a:ext cx="2194560" cy="0"/>
          </a:xfrm>
          <a:prstGeom prst="line">
            <a:avLst/>
          </a:prstGeom>
          <a:noFill/>
          <a:ln w="12700">
            <a:solidFill>
              <a:schemeClr val="accent4"/>
            </a:solidFill>
            <a:prstDash val="solid"/>
          </a:ln>
        </p:spPr>
      </p:sp>
      <p:sp>
        <p:nvSpPr>
          <p:cNvPr id="48" name="Text 46"/>
          <p:cNvSpPr txBox="1"/>
          <p:nvPr/>
        </p:nvSpPr>
        <p:spPr>
          <a:xfrm>
            <a:off x="731520" y="5705856"/>
            <a:ext cx="2286000" cy="457200"/>
          </a:xfrm>
          <a:prstGeom prst="rect">
            <a:avLst/>
          </a:prstGeom>
          <a:noFill/>
          <a:ln/>
        </p:spPr>
        <p:txBody>
          <a:bodyPr wrap="square" lIns="0" tIns="0" rIns="0" bIns="0" rtlCol="0" anchor="t"/>
          <a:lstStyle/>
          <a:p>
            <a:pPr indent="0" marL="0">
              <a:buNone/>
            </a:pPr>
            <a:r>
              <a:rPr lang="en-US" sz="1200" b="1" dirty="0">
                <a:solidFill>
                  <a:schemeClr val="accent1"/>
                </a:solidFill>
              </a:rPr>
              <a:t>Gaussian branch still sees it: box kept</a:t>
            </a:r>
            <a:endParaRPr lang="en-US" sz="1200" dirty="0"/>
          </a:p>
        </p:txBody>
      </p:sp>
      <p:sp>
        <p:nvSpPr>
          <p:cNvPr id="49" name="Shape 47"/>
          <p:cNvSpPr/>
          <p:nvPr/>
        </p:nvSpPr>
        <p:spPr>
          <a:xfrm>
            <a:off x="3383280" y="3520440"/>
            <a:ext cx="2651760" cy="2697480"/>
          </a:xfrm>
          <a:prstGeom prst="roundRect">
            <a:avLst>
              <a:gd name="adj" fmla="val 2759"/>
            </a:avLst>
          </a:prstGeom>
          <a:solidFill>
            <a:schemeClr val="bg2"/>
          </a:solidFill>
          <a:ln/>
          <a:effectLst>
            <a:outerShdw sx="100000" sy="100000" kx="0" ky="0" algn="bl" rotWithShape="0" blurRad="76200" dist="25400" dir="5400000">
              <a:srgbClr val="1B1F24">
                <a:alpha val="12000"/>
              </a:srgbClr>
            </a:outerShdw>
          </a:effectLst>
        </p:spPr>
      </p:sp>
      <p:sp>
        <p:nvSpPr>
          <p:cNvPr id="50" name="Text 48"/>
          <p:cNvSpPr txBox="1"/>
          <p:nvPr/>
        </p:nvSpPr>
        <p:spPr>
          <a:xfrm>
            <a:off x="3566160" y="3630168"/>
            <a:ext cx="2286000" cy="502920"/>
          </a:xfrm>
          <a:prstGeom prst="rect">
            <a:avLst/>
          </a:prstGeom>
          <a:noFill/>
          <a:ln/>
        </p:spPr>
        <p:txBody>
          <a:bodyPr wrap="square" lIns="0" tIns="0" rIns="0" bIns="0" rtlCol="0" anchor="t"/>
          <a:lstStyle/>
          <a:p>
            <a:pPr indent="0" marL="0">
              <a:buNone/>
            </a:pPr>
            <a:r>
              <a:rPr lang="en-US" sz="1400" b="1" dirty="0">
                <a:solidFill>
                  <a:schemeClr val="tx1"/>
                </a:solidFill>
              </a:rPr>
              <a:t>Fool the strongest branch (ours)</a:t>
            </a:r>
            <a:endParaRPr lang="en-US" sz="1400" dirty="0"/>
          </a:p>
        </p:txBody>
      </p:sp>
      <p:sp>
        <p:nvSpPr>
          <p:cNvPr id="51" name="Shape 49"/>
          <p:cNvSpPr/>
          <p:nvPr/>
        </p:nvSpPr>
        <p:spPr>
          <a:xfrm>
            <a:off x="3886200" y="5138928"/>
            <a:ext cx="411480" cy="256032"/>
          </a:xfrm>
          <a:prstGeom prst="rect">
            <a:avLst/>
          </a:prstGeom>
          <a:solidFill>
            <a:schemeClr val="accent4"/>
          </a:solidFill>
          <a:ln/>
        </p:spPr>
      </p:sp>
      <p:sp>
        <p:nvSpPr>
          <p:cNvPr id="52" name="Text 50"/>
          <p:cNvSpPr txBox="1"/>
          <p:nvPr/>
        </p:nvSpPr>
        <p:spPr>
          <a:xfrm>
            <a:off x="3886200" y="5431536"/>
            <a:ext cx="411480" cy="237744"/>
          </a:xfrm>
          <a:prstGeom prst="rect">
            <a:avLst/>
          </a:prstGeom>
          <a:noFill/>
          <a:ln/>
        </p:spPr>
        <p:txBody>
          <a:bodyPr wrap="square" lIns="0" tIns="0" rIns="0" bIns="0" rtlCol="0" anchor="t"/>
          <a:lstStyle/>
          <a:p>
            <a:pPr algn="ctr" indent="0" marL="0">
              <a:buNone/>
            </a:pPr>
            <a:r>
              <a:rPr lang="en-US" sz="1200" b="1" dirty="0">
                <a:solidFill>
                  <a:schemeClr val="tx1"/>
                </a:solidFill>
              </a:rPr>
              <a:t>J</a:t>
            </a:r>
            <a:endParaRPr lang="en-US" sz="1200" dirty="0"/>
          </a:p>
        </p:txBody>
      </p:sp>
      <p:sp>
        <p:nvSpPr>
          <p:cNvPr id="53" name="Shape 51"/>
          <p:cNvSpPr/>
          <p:nvPr/>
        </p:nvSpPr>
        <p:spPr>
          <a:xfrm>
            <a:off x="4544568" y="5193792"/>
            <a:ext cx="411480" cy="201168"/>
          </a:xfrm>
          <a:prstGeom prst="rect">
            <a:avLst/>
          </a:prstGeom>
          <a:solidFill>
            <a:schemeClr val="accent4"/>
          </a:solidFill>
          <a:ln/>
        </p:spPr>
      </p:sp>
      <p:sp>
        <p:nvSpPr>
          <p:cNvPr id="54" name="Text 52"/>
          <p:cNvSpPr txBox="1"/>
          <p:nvPr/>
        </p:nvSpPr>
        <p:spPr>
          <a:xfrm>
            <a:off x="4544568" y="5431536"/>
            <a:ext cx="411480" cy="237744"/>
          </a:xfrm>
          <a:prstGeom prst="rect">
            <a:avLst/>
          </a:prstGeom>
          <a:noFill/>
          <a:ln/>
        </p:spPr>
        <p:txBody>
          <a:bodyPr wrap="square" lIns="0" tIns="0" rIns="0" bIns="0" rtlCol="0" anchor="t"/>
          <a:lstStyle/>
          <a:p>
            <a:pPr algn="ctr" indent="0" marL="0">
              <a:buNone/>
            </a:pPr>
            <a:r>
              <a:rPr lang="en-US" sz="1200" b="1" dirty="0">
                <a:solidFill>
                  <a:schemeClr val="tx1"/>
                </a:solidFill>
              </a:rPr>
              <a:t>M</a:t>
            </a:r>
            <a:endParaRPr lang="en-US" sz="1200" dirty="0"/>
          </a:p>
        </p:txBody>
      </p:sp>
      <p:sp>
        <p:nvSpPr>
          <p:cNvPr id="55" name="Shape 53"/>
          <p:cNvSpPr/>
          <p:nvPr/>
        </p:nvSpPr>
        <p:spPr>
          <a:xfrm>
            <a:off x="5202936" y="5102352"/>
            <a:ext cx="411480" cy="292608"/>
          </a:xfrm>
          <a:prstGeom prst="rect">
            <a:avLst/>
          </a:prstGeom>
          <a:solidFill>
            <a:schemeClr val="accent4"/>
          </a:solidFill>
          <a:ln/>
        </p:spPr>
      </p:sp>
      <p:sp>
        <p:nvSpPr>
          <p:cNvPr id="56" name="Text 54"/>
          <p:cNvSpPr txBox="1"/>
          <p:nvPr/>
        </p:nvSpPr>
        <p:spPr>
          <a:xfrm>
            <a:off x="5202936" y="5431536"/>
            <a:ext cx="411480" cy="237744"/>
          </a:xfrm>
          <a:prstGeom prst="rect">
            <a:avLst/>
          </a:prstGeom>
          <a:noFill/>
          <a:ln/>
        </p:spPr>
        <p:txBody>
          <a:bodyPr wrap="square" lIns="0" tIns="0" rIns="0" bIns="0" rtlCol="0" anchor="t"/>
          <a:lstStyle/>
          <a:p>
            <a:pPr algn="ctr" indent="0" marL="0">
              <a:buNone/>
            </a:pPr>
            <a:r>
              <a:rPr lang="en-US" sz="1200" b="1" dirty="0">
                <a:solidFill>
                  <a:schemeClr val="tx1"/>
                </a:solidFill>
              </a:rPr>
              <a:t>G</a:t>
            </a:r>
            <a:endParaRPr lang="en-US" sz="1200" dirty="0"/>
          </a:p>
        </p:txBody>
      </p:sp>
      <p:sp>
        <p:nvSpPr>
          <p:cNvPr id="57" name="Shape 55"/>
          <p:cNvSpPr/>
          <p:nvPr/>
        </p:nvSpPr>
        <p:spPr>
          <a:xfrm>
            <a:off x="3611880" y="4937760"/>
            <a:ext cx="2194560" cy="0"/>
          </a:xfrm>
          <a:prstGeom prst="line">
            <a:avLst/>
          </a:prstGeom>
          <a:noFill/>
          <a:ln w="15875">
            <a:solidFill>
              <a:schemeClr val="accent2"/>
            </a:solidFill>
            <a:prstDash val="dash"/>
          </a:ln>
        </p:spPr>
      </p:sp>
      <p:sp>
        <p:nvSpPr>
          <p:cNvPr id="58" name="Text 56"/>
          <p:cNvSpPr txBox="1"/>
          <p:nvPr/>
        </p:nvSpPr>
        <p:spPr>
          <a:xfrm>
            <a:off x="3611880" y="4709160"/>
            <a:ext cx="1097280" cy="201168"/>
          </a:xfrm>
          <a:prstGeom prst="rect">
            <a:avLst/>
          </a:prstGeom>
          <a:noFill/>
          <a:ln/>
        </p:spPr>
        <p:txBody>
          <a:bodyPr wrap="square" lIns="0" tIns="0" rIns="0" bIns="0" rtlCol="0" anchor="t"/>
          <a:lstStyle/>
          <a:p>
            <a:pPr indent="0" marL="0">
              <a:buNone/>
            </a:pPr>
            <a:r>
              <a:rPr lang="en-US" sz="1000" dirty="0">
                <a:solidFill>
                  <a:schemeClr val="accent2"/>
                </a:solidFill>
              </a:rPr>
              <a:t>keep threshold</a:t>
            </a:r>
            <a:endParaRPr lang="en-US" sz="1000" dirty="0"/>
          </a:p>
        </p:txBody>
      </p:sp>
      <p:sp>
        <p:nvSpPr>
          <p:cNvPr id="59" name="Shape 57"/>
          <p:cNvSpPr/>
          <p:nvPr/>
        </p:nvSpPr>
        <p:spPr>
          <a:xfrm>
            <a:off x="3611880" y="5394960"/>
            <a:ext cx="2194560" cy="0"/>
          </a:xfrm>
          <a:prstGeom prst="line">
            <a:avLst/>
          </a:prstGeom>
          <a:noFill/>
          <a:ln w="12700">
            <a:solidFill>
              <a:schemeClr val="accent4"/>
            </a:solidFill>
            <a:prstDash val="solid"/>
          </a:ln>
        </p:spPr>
      </p:sp>
      <p:sp>
        <p:nvSpPr>
          <p:cNvPr id="60" name="Text 58"/>
          <p:cNvSpPr txBox="1"/>
          <p:nvPr/>
        </p:nvSpPr>
        <p:spPr>
          <a:xfrm>
            <a:off x="3566160" y="5705856"/>
            <a:ext cx="2286000" cy="457200"/>
          </a:xfrm>
          <a:prstGeom prst="rect">
            <a:avLst/>
          </a:prstGeom>
          <a:noFill/>
          <a:ln/>
        </p:spPr>
        <p:txBody>
          <a:bodyPr wrap="square" lIns="0" tIns="0" rIns="0" bIns="0" rtlCol="0" anchor="t"/>
          <a:lstStyle/>
          <a:p>
            <a:pPr indent="0" marL="0">
              <a:buNone/>
            </a:pPr>
            <a:r>
              <a:rPr lang="en-US" sz="1200" b="1" dirty="0">
                <a:solidFill>
                  <a:schemeClr val="accent2"/>
                </a:solidFill>
              </a:rPr>
              <a:t>All branches below: box removed</a:t>
            </a:r>
            <a:endParaRPr lang="en-US" sz="1200" dirty="0"/>
          </a:p>
        </p:txBody>
      </p:sp>
      <p:sp>
        <p:nvSpPr>
          <p:cNvPr id="61" name="Shape 59"/>
          <p:cNvSpPr/>
          <p:nvPr/>
        </p:nvSpPr>
        <p:spPr>
          <a:xfrm>
            <a:off x="6355080" y="3520440"/>
            <a:ext cx="5285232" cy="2697480"/>
          </a:xfrm>
          <a:prstGeom prst="roundRect">
            <a:avLst>
              <a:gd name="adj" fmla="val 2712"/>
            </a:avLst>
          </a:prstGeom>
          <a:solidFill>
            <a:schemeClr val="bg2"/>
          </a:solidFill>
          <a:ln/>
          <a:effectLst>
            <a:outerShdw sx="100000" sy="100000" kx="0" ky="0" algn="bl" rotWithShape="0" blurRad="76200" dist="25400" dir="5400000">
              <a:srgbClr val="1B1F24">
                <a:alpha val="12000"/>
              </a:srgbClr>
            </a:outerShdw>
          </a:effectLst>
        </p:spPr>
      </p:sp>
      <p:sp>
        <p:nvSpPr>
          <p:cNvPr id="62" name="Text 60"/>
          <p:cNvSpPr txBox="1"/>
          <p:nvPr/>
        </p:nvSpPr>
        <p:spPr>
          <a:xfrm>
            <a:off x="6583680" y="3657600"/>
            <a:ext cx="4846320" cy="365760"/>
          </a:xfrm>
          <a:prstGeom prst="rect">
            <a:avLst/>
          </a:prstGeom>
          <a:noFill/>
          <a:ln/>
        </p:spPr>
        <p:txBody>
          <a:bodyPr wrap="square" lIns="0" tIns="0" rIns="0" bIns="0" rtlCol="0" anchor="t"/>
          <a:lstStyle/>
          <a:p>
            <a:pPr indent="0" marL="0">
              <a:buNone/>
            </a:pPr>
            <a:r>
              <a:rPr lang="en-US" sz="1600" b="1" dirty="0">
                <a:solidFill>
                  <a:schemeClr val="tx1"/>
                </a:solidFill>
              </a:rPr>
              <a:t>How the adaptive attack works</a:t>
            </a:r>
            <a:endParaRPr lang="en-US" sz="1600" dirty="0"/>
          </a:p>
        </p:txBody>
      </p:sp>
      <p:sp>
        <p:nvSpPr>
          <p:cNvPr id="63" name="Text 61"/>
          <p:cNvSpPr txBox="1"/>
          <p:nvPr/>
        </p:nvSpPr>
        <p:spPr>
          <a:xfrm>
            <a:off x="6583680" y="4087368"/>
            <a:ext cx="4846320" cy="1783080"/>
          </a:xfrm>
          <a:prstGeom prst="rect">
            <a:avLst/>
          </a:prstGeom>
          <a:noFill/>
          <a:ln/>
        </p:spPr>
        <p:txBody>
          <a:bodyPr wrap="square" lIns="0" tIns="0" rIns="0" bIns="0" rtlCol="0" anchor="t"/>
          <a:lstStyle/>
          <a:p>
            <a:pPr marL="177800" indent="-177800">
              <a:spcAft>
                <a:spcPts val="600"/>
              </a:spcAft>
              <a:buSzPct val="100000"/>
              <a:buChar char="•"/>
            </a:pPr>
            <a:r>
              <a:rPr lang="en-US" sz="1400" b="1" dirty="0">
                <a:solidFill>
                  <a:schemeClr val="tx1"/>
                </a:solidFill>
              </a:rPr>
              <a:t>BPDA: </a:t>
            </a:r>
            <a:r>
              <a:rPr lang="en-US" sz="1400" dirty="0">
                <a:solidFill>
                  <a:schemeClr val="tx1"/>
                </a:solidFill>
              </a:rPr>
              <a:t>pass gradients through JPEG and Median, which have none</a:t>
            </a:r>
            <a:endParaRPr lang="en-US" sz="1400" dirty="0"/>
          </a:p>
          <a:p>
            <a:pPr marL="177800" indent="-177800">
              <a:spcAft>
                <a:spcPts val="600"/>
              </a:spcAft>
              <a:buSzPct val="100000"/>
              <a:buChar char="•"/>
            </a:pPr>
            <a:r>
              <a:rPr lang="en-US" sz="1400" b="1" dirty="0">
                <a:solidFill>
                  <a:schemeClr val="tx1"/>
                </a:solidFill>
              </a:rPr>
              <a:t>EOT: </a:t>
            </a:r>
            <a:r>
              <a:rPr lang="en-US" sz="1400" dirty="0">
                <a:solidFill>
                  <a:schemeClr val="tx1"/>
                </a:solidFill>
              </a:rPr>
              <a:t>optimise one noise over all branches of the block</a:t>
            </a:r>
            <a:endParaRPr lang="en-US" sz="1400" dirty="0"/>
          </a:p>
          <a:p>
            <a:pPr marL="177800" indent="-177800">
              <a:spcAft>
                <a:spcPts val="600"/>
              </a:spcAft>
              <a:buSzPct val="100000"/>
              <a:buChar char="•"/>
            </a:pPr>
            <a:r>
              <a:rPr lang="en-US" sz="1400" b="1" dirty="0">
                <a:solidFill>
                  <a:schemeClr val="tx1"/>
                </a:solidFill>
              </a:rPr>
              <a:t>Our twist: </a:t>
            </a:r>
            <a:r>
              <a:rPr lang="en-US" sz="1400" dirty="0">
                <a:solidFill>
                  <a:schemeClr val="tx1"/>
                </a:solidFill>
              </a:rPr>
              <a:t>one clean branch keeps the box, so push down the strongest branch, not the average</a:t>
            </a:r>
            <a:endParaRPr lang="en-US" sz="1400" dirty="0"/>
          </a:p>
          <a:p>
            <a:pPr marL="177800" indent="-177800">
              <a:spcAft>
                <a:spcPts val="600"/>
              </a:spcAft>
              <a:buSzPct val="100000"/>
              <a:buChar char="•"/>
            </a:pPr>
            <a:r>
              <a:rPr lang="en-US" sz="1400" b="1" dirty="0">
                <a:solidFill>
                  <a:schemeClr val="tx1"/>
                </a:solidFill>
              </a:rPr>
              <a:t>Closest prior work: </a:t>
            </a:r>
            <a:r>
              <a:rPr lang="en-US" sz="1400" dirty="0">
                <a:solidFill>
                  <a:schemeClr val="tx1"/>
                </a:solidFill>
              </a:rPr>
              <a:t>AdROD (arXiv 2608.16031, Aug 2026) uses the average</a:t>
            </a:r>
            <a:endParaRPr lang="en-US" sz="1400" dirty="0"/>
          </a:p>
        </p:txBody>
      </p:sp>
      <p:sp>
        <p:nvSpPr>
          <p:cNvPr id="64" name="Text 62"/>
          <p:cNvSpPr txBox="1"/>
          <p:nvPr/>
        </p:nvSpPr>
        <p:spPr>
          <a:xfrm>
            <a:off x="6583680" y="5897880"/>
            <a:ext cx="4846320" cy="237744"/>
          </a:xfrm>
          <a:prstGeom prst="rect">
            <a:avLst/>
          </a:prstGeom>
          <a:noFill/>
          <a:ln/>
        </p:spPr>
        <p:txBody>
          <a:bodyPr wrap="square" lIns="0" tIns="0" rIns="0" bIns="0" rtlCol="0" anchor="t"/>
          <a:lstStyle/>
          <a:p>
            <a:pPr indent="0" marL="0">
              <a:buNone/>
            </a:pPr>
            <a:r>
              <a:rPr lang="en-US" sz="1000" i="1" dirty="0">
                <a:solidFill>
                  <a:schemeClr val="accent4"/>
                </a:solidFill>
              </a:rPr>
              <a:t>Illustration: one object's confidence in each branch after the attack</a:t>
            </a:r>
            <a:endParaRPr lang="en-US" sz="1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3 · REVIEWS AND NEXT STEP</a:t>
            </a:r>
            <a:endParaRPr lang="en-US" sz="1200" dirty="0"/>
          </a:p>
        </p:txBody>
      </p:sp>
      <p:sp>
        <p:nvSpPr>
          <p:cNvPr id="3" name="Text 0"/>
          <p:cNvSpPr/>
          <p:nvPr>
            <p:ph idx="101"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Can the block handle it? Not tested yet</a:t>
            </a:r>
            <a:endParaRPr lang="en-US" sz="3200" dirty="0"/>
          </a:p>
        </p:txBody>
      </p:sp>
      <p:sp>
        <p:nvSpPr>
          <p:cNvPr id="4" name="Shape 2"/>
          <p:cNvSpPr/>
          <p:nvPr/>
        </p:nvSpPr>
        <p:spPr>
          <a:xfrm>
            <a:off x="548640" y="1417320"/>
            <a:ext cx="5432908" cy="1874520"/>
          </a:xfrm>
          <a:prstGeom prst="roundRect">
            <a:avLst>
              <a:gd name="adj" fmla="val 3902"/>
            </a:avLst>
          </a:prstGeom>
          <a:solidFill>
            <a:schemeClr val="bg2"/>
          </a:solidFill>
          <a:ln/>
          <a:effectLst>
            <a:outerShdw sx="100000" sy="100000" kx="0" ky="0" algn="bl" rotWithShape="0" blurRad="76200" dist="25400" dir="5400000">
              <a:srgbClr val="1B1F24">
                <a:alpha val="12000"/>
              </a:srgbClr>
            </a:outerShdw>
          </a:effectLst>
        </p:spPr>
      </p:sp>
      <p:sp>
        <p:nvSpPr>
          <p:cNvPr id="5" name="Shape 3"/>
          <p:cNvSpPr/>
          <p:nvPr/>
        </p:nvSpPr>
        <p:spPr>
          <a:xfrm>
            <a:off x="777240" y="1618488"/>
            <a:ext cx="475488" cy="475488"/>
          </a:xfrm>
          <a:prstGeom prst="ellipse">
            <a:avLst/>
          </a:prstGeom>
          <a:solidFill>
            <a:schemeClr val="accent1"/>
          </a:solidFill>
          <a:ln/>
        </p:spPr>
      </p:sp>
      <p:pic>
        <p:nvPicPr>
          <p:cNvPr id="6" name="Image 0" descr="FaShieldHalved">    </p:cNvPr>
          <p:cNvPicPr>
            <a:picLocks noChangeAspect="1"/>
          </p:cNvPicPr>
          <p:nvPr/>
        </p:nvPicPr>
        <p:blipFill>
          <a:blip r:embed="rId1"/>
          <a:stretch>
            <a:fillRect/>
          </a:stretch>
        </p:blipFill>
        <p:spPr>
          <a:xfrm>
            <a:off x="891357" y="1732605"/>
            <a:ext cx="247254" cy="247254"/>
          </a:xfrm>
          <a:prstGeom prst="rect">
            <a:avLst/>
          </a:prstGeom>
        </p:spPr>
      </p:pic>
      <p:sp>
        <p:nvSpPr>
          <p:cNvPr id="7" name="Text 4"/>
          <p:cNvSpPr txBox="1"/>
          <p:nvPr/>
        </p:nvSpPr>
        <p:spPr>
          <a:xfrm>
            <a:off x="1417320" y="1636776"/>
            <a:ext cx="4335628" cy="438912"/>
          </a:xfrm>
          <a:prstGeom prst="rect">
            <a:avLst/>
          </a:prstGeom>
          <a:noFill/>
          <a:ln/>
        </p:spPr>
        <p:txBody>
          <a:bodyPr wrap="square" lIns="0" tIns="0" rIns="0" bIns="0" rtlCol="0" anchor="ctr"/>
          <a:lstStyle/>
          <a:p>
            <a:pPr indent="0" marL="0">
              <a:buNone/>
            </a:pPr>
            <a:r>
              <a:rPr lang="en-US" sz="1600" b="1" dirty="0">
                <a:solidFill>
                  <a:schemeClr val="tx1"/>
                </a:solidFill>
              </a:rPr>
              <a:t>Why it may hold</a:t>
            </a:r>
            <a:endParaRPr lang="en-US" sz="1600" dirty="0"/>
          </a:p>
        </p:txBody>
      </p:sp>
      <p:sp>
        <p:nvSpPr>
          <p:cNvPr id="8" name="Text 5"/>
          <p:cNvSpPr txBox="1"/>
          <p:nvPr/>
        </p:nvSpPr>
        <p:spPr>
          <a:xfrm>
            <a:off x="777240" y="2194560"/>
            <a:ext cx="4975708" cy="1005840"/>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tx1"/>
                </a:solidFill>
              </a:rPr>
              <a:t>The attacker must beat all three branches at once</a:t>
            </a:r>
            <a:endParaRPr lang="en-US" sz="1300" dirty="0"/>
          </a:p>
          <a:p>
            <a:pPr marL="177800" indent="-177800">
              <a:spcAft>
                <a:spcPts val="300"/>
              </a:spcAft>
              <a:buSzPct val="100000"/>
              <a:buChar char="•"/>
            </a:pPr>
            <a:r>
              <a:rPr lang="en-US" sz="1300" dirty="0">
                <a:solidFill>
                  <a:schemeClr val="tx1"/>
                </a:solidFill>
              </a:rPr>
              <a:t>JPEG and Median have no gradient; the attacker must approximate them</a:t>
            </a:r>
            <a:endParaRPr lang="en-US" sz="1300" dirty="0"/>
          </a:p>
          <a:p>
            <a:pPr marL="177800" indent="-177800">
              <a:spcAft>
                <a:spcPts val="300"/>
              </a:spcAft>
              <a:buSzPct val="100000"/>
              <a:buChar char="•"/>
            </a:pPr>
            <a:r>
              <a:rPr lang="en-US" sz="1300" dirty="0">
                <a:solidFill>
                  <a:schemeClr val="tx1"/>
                </a:solidFill>
              </a:rPr>
              <a:t>Strong blind results: 85–90% of clean mAP under PGD</a:t>
            </a:r>
            <a:endParaRPr lang="en-US" sz="1300" dirty="0"/>
          </a:p>
        </p:txBody>
      </p:sp>
      <p:sp>
        <p:nvSpPr>
          <p:cNvPr id="9" name="Shape 6"/>
          <p:cNvSpPr/>
          <p:nvPr/>
        </p:nvSpPr>
        <p:spPr>
          <a:xfrm>
            <a:off x="6210148" y="1417320"/>
            <a:ext cx="5432908" cy="1874520"/>
          </a:xfrm>
          <a:prstGeom prst="roundRect">
            <a:avLst>
              <a:gd name="adj" fmla="val 3902"/>
            </a:avLst>
          </a:prstGeom>
          <a:solidFill>
            <a:schemeClr val="bg2"/>
          </a:solidFill>
          <a:ln/>
          <a:effectLst>
            <a:outerShdw sx="100000" sy="100000" kx="0" ky="0" algn="bl" rotWithShape="0" blurRad="76200" dist="25400" dir="5400000">
              <a:srgbClr val="1B1F24">
                <a:alpha val="12000"/>
              </a:srgbClr>
            </a:outerShdw>
          </a:effectLst>
        </p:spPr>
      </p:sp>
      <p:sp>
        <p:nvSpPr>
          <p:cNvPr id="10" name="Shape 7"/>
          <p:cNvSpPr/>
          <p:nvPr/>
        </p:nvSpPr>
        <p:spPr>
          <a:xfrm>
            <a:off x="6438748" y="1618488"/>
            <a:ext cx="475488" cy="475488"/>
          </a:xfrm>
          <a:prstGeom prst="ellipse">
            <a:avLst/>
          </a:prstGeom>
          <a:solidFill>
            <a:schemeClr val="accent2"/>
          </a:solidFill>
          <a:ln/>
        </p:spPr>
      </p:sp>
      <p:pic>
        <p:nvPicPr>
          <p:cNvPr id="11" name="Image 1" descr="FaTriangleExclamation">    </p:cNvPr>
          <p:cNvPicPr>
            <a:picLocks noChangeAspect="1"/>
          </p:cNvPicPr>
          <p:nvPr/>
        </p:nvPicPr>
        <p:blipFill>
          <a:blip r:embed="rId2"/>
          <a:stretch>
            <a:fillRect/>
          </a:stretch>
        </p:blipFill>
        <p:spPr>
          <a:xfrm>
            <a:off x="6552865" y="1732605"/>
            <a:ext cx="247254" cy="247254"/>
          </a:xfrm>
          <a:prstGeom prst="rect">
            <a:avLst/>
          </a:prstGeom>
        </p:spPr>
      </p:pic>
      <p:sp>
        <p:nvSpPr>
          <p:cNvPr id="12" name="Text 8"/>
          <p:cNvSpPr txBox="1"/>
          <p:nvPr/>
        </p:nvSpPr>
        <p:spPr>
          <a:xfrm>
            <a:off x="7078828" y="1636776"/>
            <a:ext cx="4335628" cy="438912"/>
          </a:xfrm>
          <a:prstGeom prst="rect">
            <a:avLst/>
          </a:prstGeom>
          <a:noFill/>
          <a:ln/>
        </p:spPr>
        <p:txBody>
          <a:bodyPr wrap="square" lIns="0" tIns="0" rIns="0" bIns="0" rtlCol="0" anchor="ctr"/>
          <a:lstStyle/>
          <a:p>
            <a:pPr indent="0" marL="0">
              <a:buNone/>
            </a:pPr>
            <a:r>
              <a:rPr lang="en-US" sz="1600" b="1" dirty="0">
                <a:solidFill>
                  <a:schemeClr val="tx1"/>
                </a:solidFill>
              </a:rPr>
              <a:t>Why it may not</a:t>
            </a:r>
            <a:endParaRPr lang="en-US" sz="1600" dirty="0"/>
          </a:p>
        </p:txBody>
      </p:sp>
      <p:sp>
        <p:nvSpPr>
          <p:cNvPr id="13" name="Text 9"/>
          <p:cNvSpPr txBox="1"/>
          <p:nvPr/>
        </p:nvSpPr>
        <p:spPr>
          <a:xfrm>
            <a:off x="6438748" y="2194560"/>
            <a:ext cx="4975708" cy="1005840"/>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tx1"/>
                </a:solidFill>
              </a:rPr>
              <a:t>BPDA + EOT broke JPEG-, TVM- and bit-depth-style defenses on classifiers (Athalye et al., ICML 2018)</a:t>
            </a:r>
            <a:endParaRPr lang="en-US" sz="1300" dirty="0"/>
          </a:p>
          <a:p>
            <a:pPr marL="177800" indent="-177800">
              <a:spcAft>
                <a:spcPts val="300"/>
              </a:spcAft>
              <a:buSzPct val="100000"/>
              <a:buChar char="•"/>
            </a:pPr>
            <a:r>
              <a:rPr lang="en-US" sz="1300" dirty="0">
                <a:solidFill>
                  <a:schemeClr val="tx1"/>
                </a:solidFill>
              </a:rPr>
              <a:t>Ensembles of weak defenses were not strong (He et al., WOOT 2017)</a:t>
            </a:r>
            <a:endParaRPr lang="en-US" sz="1300" dirty="0"/>
          </a:p>
        </p:txBody>
      </p:sp>
      <p:sp>
        <p:nvSpPr>
          <p:cNvPr id="14" name="Text 10"/>
          <p:cNvSpPr txBox="1"/>
          <p:nvPr/>
        </p:nvSpPr>
        <p:spPr>
          <a:xfrm>
            <a:off x="548640" y="3456432"/>
            <a:ext cx="5486400" cy="292608"/>
          </a:xfrm>
          <a:prstGeom prst="rect">
            <a:avLst/>
          </a:prstGeom>
          <a:noFill/>
          <a:ln/>
        </p:spPr>
        <p:txBody>
          <a:bodyPr wrap="square" lIns="0" tIns="0" rIns="0" bIns="0" rtlCol="0" anchor="t"/>
          <a:lstStyle/>
          <a:p>
            <a:pPr indent="0" marL="0">
              <a:buNone/>
            </a:pPr>
            <a:r>
              <a:rPr lang="en-US" sz="1500" b="1" dirty="0">
                <a:solidFill>
                  <a:schemeClr val="tx1"/>
                </a:solidFill>
              </a:rPr>
              <a:t>Possible outcomes, all publishable</a:t>
            </a:r>
            <a:endParaRPr lang="en-US" sz="1500" dirty="0"/>
          </a:p>
        </p:txBody>
      </p:sp>
      <p:sp>
        <p:nvSpPr>
          <p:cNvPr id="15" name="Shape 11"/>
          <p:cNvSpPr/>
          <p:nvPr/>
        </p:nvSpPr>
        <p:spPr>
          <a:xfrm>
            <a:off x="548640" y="3794760"/>
            <a:ext cx="3545738" cy="1188720"/>
          </a:xfrm>
          <a:prstGeom prst="roundRect">
            <a:avLst>
              <a:gd name="adj" fmla="val 6154"/>
            </a:avLst>
          </a:prstGeom>
          <a:solidFill>
            <a:schemeClr val="bg2"/>
          </a:solidFill>
          <a:ln/>
          <a:effectLst>
            <a:outerShdw sx="100000" sy="100000" kx="0" ky="0" algn="bl" rotWithShape="0" blurRad="76200" dist="25400" dir="5400000">
              <a:srgbClr val="1B1F24">
                <a:alpha val="12000"/>
              </a:srgbClr>
            </a:outerShdw>
          </a:effectLst>
        </p:spPr>
      </p:sp>
      <p:sp>
        <p:nvSpPr>
          <p:cNvPr id="16" name="Shape 12"/>
          <p:cNvSpPr/>
          <p:nvPr/>
        </p:nvSpPr>
        <p:spPr>
          <a:xfrm>
            <a:off x="731520" y="3931920"/>
            <a:ext cx="1325880" cy="310896"/>
          </a:xfrm>
          <a:prstGeom prst="roundRect">
            <a:avLst>
              <a:gd name="adj" fmla="val 50000"/>
            </a:avLst>
          </a:prstGeom>
          <a:solidFill>
            <a:schemeClr val="accent1"/>
          </a:solidFill>
          <a:ln/>
        </p:spPr>
      </p:sp>
      <p:sp>
        <p:nvSpPr>
          <p:cNvPr id="17" name="Text 13"/>
          <p:cNvSpPr txBox="1"/>
          <p:nvPr/>
        </p:nvSpPr>
        <p:spPr>
          <a:xfrm>
            <a:off x="731520" y="3931920"/>
            <a:ext cx="1325880" cy="310896"/>
          </a:xfrm>
          <a:prstGeom prst="rect">
            <a:avLst/>
          </a:prstGeom>
          <a:noFill/>
          <a:ln/>
        </p:spPr>
        <p:txBody>
          <a:bodyPr wrap="square" lIns="0" tIns="0" rIns="0" bIns="0" rtlCol="0" anchor="ctr"/>
          <a:lstStyle/>
          <a:p>
            <a:pPr algn="ctr" indent="0" marL="0">
              <a:buNone/>
            </a:pPr>
            <a:r>
              <a:rPr lang="en-US" sz="1200" b="1" dirty="0">
                <a:solidFill>
                  <a:schemeClr val="bg1"/>
                </a:solidFill>
              </a:rPr>
              <a:t>Holds</a:t>
            </a:r>
            <a:endParaRPr lang="en-US" sz="1200" dirty="0"/>
          </a:p>
        </p:txBody>
      </p:sp>
      <p:sp>
        <p:nvSpPr>
          <p:cNvPr id="18" name="Text 14"/>
          <p:cNvSpPr txBox="1"/>
          <p:nvPr/>
        </p:nvSpPr>
        <p:spPr>
          <a:xfrm>
            <a:off x="731520" y="4315968"/>
            <a:ext cx="3179978" cy="621792"/>
          </a:xfrm>
          <a:prstGeom prst="rect">
            <a:avLst/>
          </a:prstGeom>
          <a:noFill/>
          <a:ln/>
        </p:spPr>
        <p:txBody>
          <a:bodyPr wrap="square" lIns="0" tIns="0" rIns="0" bIns="0" rtlCol="0" anchor="t"/>
          <a:lstStyle/>
          <a:p>
            <a:pPr indent="0" marL="0">
              <a:buNone/>
            </a:pPr>
            <a:r>
              <a:rPr lang="en-US" sz="1200" dirty="0">
                <a:solidFill>
                  <a:schemeClr val="tx1"/>
                </a:solidFill>
              </a:rPr>
              <a:t>A training-free shield that survives an adaptive attacker on detectors: a strong positive result</a:t>
            </a:r>
            <a:endParaRPr lang="en-US" sz="1200" dirty="0"/>
          </a:p>
        </p:txBody>
      </p:sp>
      <p:sp>
        <p:nvSpPr>
          <p:cNvPr id="19" name="Shape 15"/>
          <p:cNvSpPr/>
          <p:nvPr/>
        </p:nvSpPr>
        <p:spPr>
          <a:xfrm>
            <a:off x="4322978" y="3794760"/>
            <a:ext cx="3545738" cy="1188720"/>
          </a:xfrm>
          <a:prstGeom prst="roundRect">
            <a:avLst>
              <a:gd name="adj" fmla="val 6154"/>
            </a:avLst>
          </a:prstGeom>
          <a:solidFill>
            <a:schemeClr val="bg2"/>
          </a:solidFill>
          <a:ln/>
          <a:effectLst>
            <a:outerShdw sx="100000" sy="100000" kx="0" ky="0" algn="bl" rotWithShape="0" blurRad="76200" dist="25400" dir="5400000">
              <a:srgbClr val="1B1F24">
                <a:alpha val="12000"/>
              </a:srgbClr>
            </a:outerShdw>
          </a:effectLst>
        </p:spPr>
      </p:sp>
      <p:sp>
        <p:nvSpPr>
          <p:cNvPr id="20" name="Shape 16"/>
          <p:cNvSpPr/>
          <p:nvPr/>
        </p:nvSpPr>
        <p:spPr>
          <a:xfrm>
            <a:off x="4505858" y="3931920"/>
            <a:ext cx="1325880" cy="310896"/>
          </a:xfrm>
          <a:prstGeom prst="roundRect">
            <a:avLst>
              <a:gd name="adj" fmla="val 50000"/>
            </a:avLst>
          </a:prstGeom>
          <a:solidFill>
            <a:schemeClr val="accent3"/>
          </a:solidFill>
          <a:ln/>
        </p:spPr>
      </p:sp>
      <p:sp>
        <p:nvSpPr>
          <p:cNvPr id="21" name="Text 17"/>
          <p:cNvSpPr txBox="1"/>
          <p:nvPr/>
        </p:nvSpPr>
        <p:spPr>
          <a:xfrm>
            <a:off x="4505858" y="3931920"/>
            <a:ext cx="1325880" cy="310896"/>
          </a:xfrm>
          <a:prstGeom prst="rect">
            <a:avLst/>
          </a:prstGeom>
          <a:noFill/>
          <a:ln/>
        </p:spPr>
        <p:txBody>
          <a:bodyPr wrap="square" lIns="0" tIns="0" rIns="0" bIns="0" rtlCol="0" anchor="ctr"/>
          <a:lstStyle/>
          <a:p>
            <a:pPr algn="ctr" indent="0" marL="0">
              <a:buNone/>
            </a:pPr>
            <a:r>
              <a:rPr lang="en-US" sz="1200" b="1" dirty="0">
                <a:solidFill>
                  <a:schemeClr val="tx1"/>
                </a:solidFill>
              </a:rPr>
              <a:t>Partly holds</a:t>
            </a:r>
            <a:endParaRPr lang="en-US" sz="1200" dirty="0"/>
          </a:p>
        </p:txBody>
      </p:sp>
      <p:sp>
        <p:nvSpPr>
          <p:cNvPr id="22" name="Text 18"/>
          <p:cNvSpPr txBox="1"/>
          <p:nvPr/>
        </p:nvSpPr>
        <p:spPr>
          <a:xfrm>
            <a:off x="4505858" y="4315968"/>
            <a:ext cx="3179978" cy="621792"/>
          </a:xfrm>
          <a:prstGeom prst="rect">
            <a:avLst/>
          </a:prstGeom>
          <a:noFill/>
          <a:ln/>
        </p:spPr>
        <p:txBody>
          <a:bodyPr wrap="square" lIns="0" tIns="0" rIns="0" bIns="0" rtlCol="0" anchor="t"/>
          <a:lstStyle/>
          <a:p>
            <a:pPr indent="0" marL="0">
              <a:buNone/>
            </a:pPr>
            <a:r>
              <a:rPr lang="en-US" sz="1200" dirty="0">
                <a:solidFill>
                  <a:schemeClr val="tx1"/>
                </a:solidFill>
              </a:rPr>
              <a:t>Report how much blind testing overstates it, then harden the block</a:t>
            </a:r>
            <a:endParaRPr lang="en-US" sz="1200" dirty="0"/>
          </a:p>
        </p:txBody>
      </p:sp>
      <p:sp>
        <p:nvSpPr>
          <p:cNvPr id="23" name="Shape 19"/>
          <p:cNvSpPr/>
          <p:nvPr/>
        </p:nvSpPr>
        <p:spPr>
          <a:xfrm>
            <a:off x="8097317" y="3794760"/>
            <a:ext cx="3545738" cy="1188720"/>
          </a:xfrm>
          <a:prstGeom prst="roundRect">
            <a:avLst>
              <a:gd name="adj" fmla="val 6154"/>
            </a:avLst>
          </a:prstGeom>
          <a:solidFill>
            <a:schemeClr val="bg2"/>
          </a:solidFill>
          <a:ln/>
          <a:effectLst>
            <a:outerShdw sx="100000" sy="100000" kx="0" ky="0" algn="bl" rotWithShape="0" blurRad="76200" dist="25400" dir="5400000">
              <a:srgbClr val="1B1F24">
                <a:alpha val="12000"/>
              </a:srgbClr>
            </a:outerShdw>
          </a:effectLst>
        </p:spPr>
      </p:sp>
      <p:sp>
        <p:nvSpPr>
          <p:cNvPr id="24" name="Shape 20"/>
          <p:cNvSpPr/>
          <p:nvPr/>
        </p:nvSpPr>
        <p:spPr>
          <a:xfrm>
            <a:off x="8280197" y="3931920"/>
            <a:ext cx="1325880" cy="310896"/>
          </a:xfrm>
          <a:prstGeom prst="roundRect">
            <a:avLst>
              <a:gd name="adj" fmla="val 50000"/>
            </a:avLst>
          </a:prstGeom>
          <a:solidFill>
            <a:schemeClr val="accent2"/>
          </a:solidFill>
          <a:ln/>
        </p:spPr>
      </p:sp>
      <p:sp>
        <p:nvSpPr>
          <p:cNvPr id="25" name="Text 21"/>
          <p:cNvSpPr txBox="1"/>
          <p:nvPr/>
        </p:nvSpPr>
        <p:spPr>
          <a:xfrm>
            <a:off x="8280197" y="3931920"/>
            <a:ext cx="1325880" cy="310896"/>
          </a:xfrm>
          <a:prstGeom prst="rect">
            <a:avLst/>
          </a:prstGeom>
          <a:noFill/>
          <a:ln/>
        </p:spPr>
        <p:txBody>
          <a:bodyPr wrap="square" lIns="0" tIns="0" rIns="0" bIns="0" rtlCol="0" anchor="ctr"/>
          <a:lstStyle/>
          <a:p>
            <a:pPr algn="ctr" indent="0" marL="0">
              <a:buNone/>
            </a:pPr>
            <a:r>
              <a:rPr lang="en-US" sz="1200" b="1" dirty="0">
                <a:solidFill>
                  <a:schemeClr val="bg1"/>
                </a:solidFill>
              </a:rPr>
              <a:t>Breaks</a:t>
            </a:r>
            <a:endParaRPr lang="en-US" sz="1200" dirty="0"/>
          </a:p>
        </p:txBody>
      </p:sp>
      <p:sp>
        <p:nvSpPr>
          <p:cNvPr id="26" name="Text 22"/>
          <p:cNvSpPr txBox="1"/>
          <p:nvPr/>
        </p:nvSpPr>
        <p:spPr>
          <a:xfrm>
            <a:off x="8280197" y="4315968"/>
            <a:ext cx="3179978" cy="621792"/>
          </a:xfrm>
          <a:prstGeom prst="rect">
            <a:avLst/>
          </a:prstGeom>
          <a:noFill/>
          <a:ln/>
        </p:spPr>
        <p:txBody>
          <a:bodyPr wrap="square" lIns="0" tIns="0" rIns="0" bIns="0" rtlCol="0" anchor="t"/>
          <a:lstStyle/>
          <a:p>
            <a:pPr indent="0" marL="0">
              <a:buNone/>
            </a:pPr>
            <a:r>
              <a:rPr lang="en-US" sz="1200" dirty="0">
                <a:solidFill>
                  <a:schemeClr val="tx1"/>
                </a:solidFill>
              </a:rPr>
              <a:t>An evaluation finding: blind tests overstate input filters for detectors, by a measured amount</a:t>
            </a:r>
            <a:endParaRPr lang="en-US" sz="1200" dirty="0"/>
          </a:p>
        </p:txBody>
      </p:sp>
      <p:sp>
        <p:nvSpPr>
          <p:cNvPr id="27" name="Shape 23"/>
          <p:cNvSpPr/>
          <p:nvPr/>
        </p:nvSpPr>
        <p:spPr>
          <a:xfrm>
            <a:off x="548640" y="5138928"/>
            <a:ext cx="11094415" cy="1097280"/>
          </a:xfrm>
          <a:prstGeom prst="roundRect">
            <a:avLst>
              <a:gd name="adj" fmla="val 6667"/>
            </a:avLst>
          </a:prstGeom>
          <a:solidFill>
            <a:schemeClr val="bg2"/>
          </a:solidFill>
          <a:ln/>
        </p:spPr>
      </p:sp>
      <p:sp>
        <p:nvSpPr>
          <p:cNvPr id="28" name="Shape 24"/>
          <p:cNvSpPr/>
          <p:nvPr/>
        </p:nvSpPr>
        <p:spPr>
          <a:xfrm>
            <a:off x="749808" y="5431536"/>
            <a:ext cx="502920" cy="502920"/>
          </a:xfrm>
          <a:prstGeom prst="ellipse">
            <a:avLst/>
          </a:prstGeom>
          <a:solidFill>
            <a:schemeClr val="accent5"/>
          </a:solidFill>
          <a:ln/>
        </p:spPr>
      </p:sp>
      <p:pic>
        <p:nvPicPr>
          <p:cNvPr id="29" name="Image 2" descr="FaWandMagicSparkles">    </p:cNvPr>
          <p:cNvPicPr>
            <a:picLocks noChangeAspect="1"/>
          </p:cNvPicPr>
          <p:nvPr/>
        </p:nvPicPr>
        <p:blipFill>
          <a:blip r:embed="rId3"/>
          <a:stretch>
            <a:fillRect/>
          </a:stretch>
        </p:blipFill>
        <p:spPr>
          <a:xfrm>
            <a:off x="870509" y="5552237"/>
            <a:ext cx="261518" cy="261518"/>
          </a:xfrm>
          <a:prstGeom prst="rect">
            <a:avLst/>
          </a:prstGeom>
        </p:spPr>
      </p:pic>
      <p:sp>
        <p:nvSpPr>
          <p:cNvPr id="30" name="Text 25"/>
          <p:cNvSpPr txBox="1"/>
          <p:nvPr/>
        </p:nvSpPr>
        <p:spPr>
          <a:xfrm>
            <a:off x="1463040" y="5212080"/>
            <a:ext cx="10058400" cy="987552"/>
          </a:xfrm>
          <a:prstGeom prst="rect">
            <a:avLst/>
          </a:prstGeom>
          <a:noFill/>
          <a:ln/>
        </p:spPr>
        <p:txBody>
          <a:bodyPr wrap="square" lIns="0" tIns="0" rIns="0" bIns="0" rtlCol="0" anchor="t"/>
          <a:lstStyle/>
          <a:p>
            <a:pPr indent="0" marL="0">
              <a:buNone/>
            </a:pPr>
            <a:r>
              <a:rPr lang="en-US" sz="1300" b="1" dirty="0">
                <a:solidFill>
                  <a:schemeClr val="tx1"/>
                </a:solidFill>
              </a:rPr>
              <a:t>If it falls, training-free ways to harden it</a:t>
            </a:r>
            <a:endParaRPr lang="en-US" sz="1300" dirty="0"/>
          </a:p>
          <a:p>
            <a:pPr marL="177800" indent="-177800">
              <a:spcAft>
                <a:spcPts val="100"/>
              </a:spcAft>
              <a:buSzPct val="100000"/>
              <a:buChar char="•"/>
            </a:pPr>
            <a:r>
              <a:rPr lang="en-US" sz="1300" b="1" dirty="0">
                <a:solidFill>
                  <a:schemeClr val="tx1"/>
                </a:solidFill>
              </a:rPr>
              <a:t>Randomize </a:t>
            </a:r>
            <a:r>
              <a:rPr lang="en-US" sz="1300" dirty="0">
                <a:solidFill>
                  <a:schemeClr val="tx1"/>
                </a:solidFill>
              </a:rPr>
              <a:t>filter settings per image (raises the cost; EOT can still average over it)</a:t>
            </a:r>
            <a:endParaRPr lang="en-US" sz="1300" dirty="0"/>
          </a:p>
          <a:p>
            <a:pPr marL="177800" indent="-177800">
              <a:spcAft>
                <a:spcPts val="100"/>
              </a:spcAft>
              <a:buSzPct val="100000"/>
              <a:buChar char="•"/>
            </a:pPr>
            <a:r>
              <a:rPr lang="en-US" sz="1300" b="1" dirty="0">
                <a:solidFill>
                  <a:schemeClr val="tx1"/>
                </a:solidFill>
              </a:rPr>
              <a:t>Add a branch: </a:t>
            </a:r>
            <a:r>
              <a:rPr lang="en-US" sz="1300" dirty="0">
                <a:solidFill>
                  <a:schemeClr val="tx1"/>
                </a:solidFill>
              </a:rPr>
              <a:t>a pretrained diffusion purifier (option B)</a:t>
            </a:r>
            <a:endParaRPr lang="en-US" sz="1300" dirty="0"/>
          </a:p>
          <a:p>
            <a:pPr marL="177800" indent="-177800">
              <a:spcAft>
                <a:spcPts val="100"/>
              </a:spcAft>
              <a:buSzPct val="100000"/>
              <a:buChar char="•"/>
            </a:pPr>
            <a:r>
              <a:rPr lang="en-US" sz="1300" b="1" dirty="0">
                <a:solidFill>
                  <a:schemeClr val="tx1"/>
                </a:solidFill>
              </a:rPr>
              <a:t>Raise an alarm </a:t>
            </a:r>
            <a:r>
              <a:rPr lang="en-US" sz="1300" dirty="0">
                <a:solidFill>
                  <a:schemeClr val="tx1"/>
                </a:solidFill>
              </a:rPr>
              <a:t>when branches disagree, as in feature squeezing (Xu et al., NDSS 2018)</a:t>
            </a:r>
            <a:endParaRPr lang="en-US" sz="13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4 · OPTIONS WE ARE EXPLORING</a:t>
            </a:r>
            <a:endParaRPr lang="en-US" sz="1200" dirty="0"/>
          </a:p>
        </p:txBody>
      </p:sp>
      <p:sp>
        <p:nvSpPr>
          <p:cNvPr id="3" name="Text 0"/>
          <p:cNvSpPr/>
          <p:nvPr>
            <p:ph idx="101"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Option B: add a modern pretrained denoiser</a:t>
            </a:r>
            <a:endParaRPr lang="en-US" sz="3200" dirty="0"/>
          </a:p>
        </p:txBody>
      </p:sp>
      <p:sp>
        <p:nvSpPr>
          <p:cNvPr id="4" name="Shape 2"/>
          <p:cNvSpPr/>
          <p:nvPr/>
        </p:nvSpPr>
        <p:spPr>
          <a:xfrm>
            <a:off x="548640" y="1463040"/>
            <a:ext cx="3545738" cy="3520440"/>
          </a:xfrm>
          <a:prstGeom prst="roundRect">
            <a:avLst>
              <a:gd name="adj" fmla="val 2078"/>
            </a:avLst>
          </a:prstGeom>
          <a:solidFill>
            <a:schemeClr val="bg2"/>
          </a:solidFill>
          <a:ln/>
          <a:effectLst>
            <a:outerShdw sx="100000" sy="100000" kx="0" ky="0" algn="bl" rotWithShape="0" blurRad="76200" dist="25400" dir="5400000">
              <a:srgbClr val="1B1F24">
                <a:alpha val="12000"/>
              </a:srgbClr>
            </a:outerShdw>
          </a:effectLst>
        </p:spPr>
      </p:sp>
      <p:sp>
        <p:nvSpPr>
          <p:cNvPr id="5" name="Shape 3"/>
          <p:cNvSpPr/>
          <p:nvPr/>
        </p:nvSpPr>
        <p:spPr>
          <a:xfrm>
            <a:off x="777240" y="1691640"/>
            <a:ext cx="548640" cy="548640"/>
          </a:xfrm>
          <a:prstGeom prst="ellipse">
            <a:avLst/>
          </a:prstGeom>
          <a:solidFill>
            <a:schemeClr val="accent1"/>
          </a:solidFill>
          <a:ln/>
        </p:spPr>
      </p:sp>
      <p:pic>
        <p:nvPicPr>
          <p:cNvPr id="6" name="Image 0" descr="FaWandMagicSparkles">    </p:cNvPr>
          <p:cNvPicPr>
            <a:picLocks noChangeAspect="1"/>
          </p:cNvPicPr>
          <p:nvPr/>
        </p:nvPicPr>
        <p:blipFill>
          <a:blip r:embed="rId1"/>
          <a:stretch>
            <a:fillRect/>
          </a:stretch>
        </p:blipFill>
        <p:spPr>
          <a:xfrm>
            <a:off x="908914" y="1823314"/>
            <a:ext cx="285293" cy="285293"/>
          </a:xfrm>
          <a:prstGeom prst="rect">
            <a:avLst/>
          </a:prstGeom>
        </p:spPr>
      </p:pic>
      <p:sp>
        <p:nvSpPr>
          <p:cNvPr id="7" name="Text 4"/>
          <p:cNvSpPr txBox="1"/>
          <p:nvPr/>
        </p:nvSpPr>
        <p:spPr>
          <a:xfrm>
            <a:off x="1463040" y="1691640"/>
            <a:ext cx="2448458" cy="320040"/>
          </a:xfrm>
          <a:prstGeom prst="rect">
            <a:avLst/>
          </a:prstGeom>
          <a:noFill/>
          <a:ln/>
        </p:spPr>
        <p:txBody>
          <a:bodyPr wrap="square" lIns="0" tIns="0" rIns="0" bIns="0" rtlCol="0" anchor="t"/>
          <a:lstStyle/>
          <a:p>
            <a:pPr indent="0" marL="0">
              <a:buNone/>
            </a:pPr>
            <a:r>
              <a:rPr lang="en-US" sz="1800" b="1" dirty="0">
                <a:solidFill>
                  <a:schemeClr val="tx1"/>
                </a:solidFill>
              </a:rPr>
              <a:t>DiffPure</a:t>
            </a:r>
            <a:endParaRPr lang="en-US" sz="1800" dirty="0"/>
          </a:p>
        </p:txBody>
      </p:sp>
      <p:sp>
        <p:nvSpPr>
          <p:cNvPr id="8" name="Text 5"/>
          <p:cNvSpPr txBox="1"/>
          <p:nvPr/>
        </p:nvSpPr>
        <p:spPr>
          <a:xfrm>
            <a:off x="1463040" y="2011680"/>
            <a:ext cx="2448458" cy="274320"/>
          </a:xfrm>
          <a:prstGeom prst="rect">
            <a:avLst/>
          </a:prstGeom>
          <a:noFill/>
          <a:ln/>
        </p:spPr>
        <p:txBody>
          <a:bodyPr wrap="square" lIns="0" tIns="0" rIns="0" bIns="0" rtlCol="0" anchor="t"/>
          <a:lstStyle/>
          <a:p>
            <a:pPr indent="0" marL="0">
              <a:buNone/>
            </a:pPr>
            <a:r>
              <a:rPr lang="en-US" sz="1200" dirty="0">
                <a:solidFill>
                  <a:schemeClr val="accent4"/>
                </a:solidFill>
              </a:rPr>
              <a:t>Nie et al., ICML 2022</a:t>
            </a:r>
            <a:endParaRPr lang="en-US" sz="1200" dirty="0"/>
          </a:p>
        </p:txBody>
      </p:sp>
      <p:sp>
        <p:nvSpPr>
          <p:cNvPr id="9" name="Text 6"/>
          <p:cNvSpPr txBox="1"/>
          <p:nvPr/>
        </p:nvSpPr>
        <p:spPr>
          <a:xfrm>
            <a:off x="777240" y="2468880"/>
            <a:ext cx="3088538" cy="1874520"/>
          </a:xfrm>
          <a:prstGeom prst="rect">
            <a:avLst/>
          </a:prstGeom>
          <a:noFill/>
          <a:ln/>
        </p:spPr>
        <p:txBody>
          <a:bodyPr wrap="square" lIns="0" tIns="0" rIns="0" bIns="0" rtlCol="0" anchor="t"/>
          <a:lstStyle/>
          <a:p>
            <a:pPr indent="0" marL="0">
              <a:buNone/>
            </a:pPr>
            <a:r>
              <a:rPr lang="en-US" sz="1500" dirty="0">
                <a:solidFill>
                  <a:schemeClr val="tx1"/>
                </a:solidFill>
              </a:rPr>
              <a:t>Add noise, then denoise with a pretrained diffusion model. The standard purifier today; as a baseline or as a 4th branch. Slow per image, and hard to attack fairly (Lee &amp; Kim, ICCV 2023).</a:t>
            </a:r>
            <a:endParaRPr lang="en-US" sz="1500" dirty="0"/>
          </a:p>
        </p:txBody>
      </p:sp>
      <p:sp>
        <p:nvSpPr>
          <p:cNvPr id="10" name="Shape 7"/>
          <p:cNvSpPr/>
          <p:nvPr/>
        </p:nvSpPr>
        <p:spPr>
          <a:xfrm>
            <a:off x="777240" y="4434840"/>
            <a:ext cx="1920240" cy="347472"/>
          </a:xfrm>
          <a:prstGeom prst="roundRect">
            <a:avLst>
              <a:gd name="adj" fmla="val 50000"/>
            </a:avLst>
          </a:prstGeom>
          <a:solidFill>
            <a:schemeClr val="accent1"/>
          </a:solidFill>
          <a:ln/>
        </p:spPr>
      </p:sp>
      <p:sp>
        <p:nvSpPr>
          <p:cNvPr id="11" name="Text 8"/>
          <p:cNvSpPr txBox="1"/>
          <p:nvPr/>
        </p:nvSpPr>
        <p:spPr>
          <a:xfrm>
            <a:off x="777240" y="4434840"/>
            <a:ext cx="1920240" cy="347472"/>
          </a:xfrm>
          <a:prstGeom prst="rect">
            <a:avLst/>
          </a:prstGeom>
          <a:noFill/>
          <a:ln/>
        </p:spPr>
        <p:txBody>
          <a:bodyPr wrap="square" lIns="0" tIns="0" rIns="0" bIns="0" rtlCol="0" anchor="ctr"/>
          <a:lstStyle/>
          <a:p>
            <a:pPr algn="ctr" indent="0" marL="0">
              <a:buNone/>
            </a:pPr>
            <a:r>
              <a:rPr lang="en-US" sz="1200" b="1" dirty="0">
                <a:solidFill>
                  <a:schemeClr val="bg1"/>
                </a:solidFill>
              </a:rPr>
              <a:t>Plug-and-play: yes</a:t>
            </a:r>
            <a:endParaRPr lang="en-US" sz="1200" dirty="0"/>
          </a:p>
        </p:txBody>
      </p:sp>
      <p:sp>
        <p:nvSpPr>
          <p:cNvPr id="12" name="Shape 9"/>
          <p:cNvSpPr/>
          <p:nvPr/>
        </p:nvSpPr>
        <p:spPr>
          <a:xfrm>
            <a:off x="4322978" y="1463040"/>
            <a:ext cx="3545738" cy="3520440"/>
          </a:xfrm>
          <a:prstGeom prst="roundRect">
            <a:avLst>
              <a:gd name="adj" fmla="val 2078"/>
            </a:avLst>
          </a:prstGeom>
          <a:solidFill>
            <a:schemeClr val="bg2"/>
          </a:solidFill>
          <a:ln/>
          <a:effectLst>
            <a:outerShdw sx="100000" sy="100000" kx="0" ky="0" algn="bl" rotWithShape="0" blurRad="76200" dist="25400" dir="5400000">
              <a:srgbClr val="1B1F24">
                <a:alpha val="12000"/>
              </a:srgbClr>
            </a:outerShdw>
          </a:effectLst>
        </p:spPr>
      </p:sp>
      <p:sp>
        <p:nvSpPr>
          <p:cNvPr id="13" name="Shape 10"/>
          <p:cNvSpPr/>
          <p:nvPr/>
        </p:nvSpPr>
        <p:spPr>
          <a:xfrm>
            <a:off x="4551578" y="1691640"/>
            <a:ext cx="548640" cy="548640"/>
          </a:xfrm>
          <a:prstGeom prst="ellipse">
            <a:avLst/>
          </a:prstGeom>
          <a:solidFill>
            <a:schemeClr val="accent3"/>
          </a:solidFill>
          <a:ln/>
        </p:spPr>
      </p:sp>
      <p:pic>
        <p:nvPicPr>
          <p:cNvPr id="14" name="Image 1" descr="FaGraduationCap">    </p:cNvPr>
          <p:cNvPicPr>
            <a:picLocks noChangeAspect="1"/>
          </p:cNvPicPr>
          <p:nvPr/>
        </p:nvPicPr>
        <p:blipFill>
          <a:blip r:embed="rId2"/>
          <a:stretch>
            <a:fillRect/>
          </a:stretch>
        </p:blipFill>
        <p:spPr>
          <a:xfrm>
            <a:off x="4683252" y="1823314"/>
            <a:ext cx="285293" cy="285293"/>
          </a:xfrm>
          <a:prstGeom prst="rect">
            <a:avLst/>
          </a:prstGeom>
        </p:spPr>
      </p:pic>
      <p:sp>
        <p:nvSpPr>
          <p:cNvPr id="15" name="Text 11"/>
          <p:cNvSpPr txBox="1"/>
          <p:nvPr/>
        </p:nvSpPr>
        <p:spPr>
          <a:xfrm>
            <a:off x="5237378" y="1691640"/>
            <a:ext cx="2448458" cy="320040"/>
          </a:xfrm>
          <a:prstGeom prst="rect">
            <a:avLst/>
          </a:prstGeom>
          <a:noFill/>
          <a:ln/>
        </p:spPr>
        <p:txBody>
          <a:bodyPr wrap="square" lIns="0" tIns="0" rIns="0" bIns="0" rtlCol="0" anchor="t"/>
          <a:lstStyle/>
          <a:p>
            <a:pPr indent="0" marL="0">
              <a:buNone/>
            </a:pPr>
            <a:r>
              <a:rPr lang="en-US" sz="1800" b="1" dirty="0">
                <a:solidFill>
                  <a:schemeClr val="tx1"/>
                </a:solidFill>
              </a:rPr>
              <a:t>HGD</a:t>
            </a:r>
            <a:endParaRPr lang="en-US" sz="1800" dirty="0"/>
          </a:p>
        </p:txBody>
      </p:sp>
      <p:sp>
        <p:nvSpPr>
          <p:cNvPr id="16" name="Text 12"/>
          <p:cNvSpPr txBox="1"/>
          <p:nvPr/>
        </p:nvSpPr>
        <p:spPr>
          <a:xfrm>
            <a:off x="5237378" y="2011680"/>
            <a:ext cx="2448458" cy="274320"/>
          </a:xfrm>
          <a:prstGeom prst="rect">
            <a:avLst/>
          </a:prstGeom>
          <a:noFill/>
          <a:ln/>
        </p:spPr>
        <p:txBody>
          <a:bodyPr wrap="square" lIns="0" tIns="0" rIns="0" bIns="0" rtlCol="0" anchor="t"/>
          <a:lstStyle/>
          <a:p>
            <a:pPr indent="0" marL="0">
              <a:buNone/>
            </a:pPr>
            <a:r>
              <a:rPr lang="en-US" sz="1200" dirty="0">
                <a:solidFill>
                  <a:schemeClr val="accent4"/>
                </a:solidFill>
              </a:rPr>
              <a:t>Liao et al., CVPR 2018</a:t>
            </a:r>
            <a:endParaRPr lang="en-US" sz="1200" dirty="0"/>
          </a:p>
        </p:txBody>
      </p:sp>
      <p:sp>
        <p:nvSpPr>
          <p:cNvPr id="17" name="Text 13"/>
          <p:cNvSpPr txBox="1"/>
          <p:nvPr/>
        </p:nvSpPr>
        <p:spPr>
          <a:xfrm>
            <a:off x="4551578" y="2468880"/>
            <a:ext cx="3088538" cy="1874520"/>
          </a:xfrm>
          <a:prstGeom prst="rect">
            <a:avLst/>
          </a:prstGeom>
          <a:noFill/>
          <a:ln/>
        </p:spPr>
        <p:txBody>
          <a:bodyPr wrap="square" lIns="0" tIns="0" rIns="0" bIns="0" rtlCol="0" anchor="t"/>
          <a:lstStyle/>
          <a:p>
            <a:pPr indent="0" marL="0">
              <a:buNone/>
            </a:pPr>
            <a:r>
              <a:rPr lang="en-US" sz="1500" dirty="0">
                <a:solidFill>
                  <a:schemeClr val="tx1"/>
                </a:solidFill>
              </a:rPr>
              <a:t>A denoiser trained against adversarial noise, guided by the model's own features. Strong, but needs training for each model.</a:t>
            </a:r>
            <a:endParaRPr lang="en-US" sz="1500" dirty="0"/>
          </a:p>
        </p:txBody>
      </p:sp>
      <p:sp>
        <p:nvSpPr>
          <p:cNvPr id="18" name="Shape 14"/>
          <p:cNvSpPr/>
          <p:nvPr/>
        </p:nvSpPr>
        <p:spPr>
          <a:xfrm>
            <a:off x="4551578" y="4434840"/>
            <a:ext cx="1920240" cy="347472"/>
          </a:xfrm>
          <a:prstGeom prst="roundRect">
            <a:avLst>
              <a:gd name="adj" fmla="val 50000"/>
            </a:avLst>
          </a:prstGeom>
          <a:solidFill>
            <a:schemeClr val="accent4"/>
          </a:solidFill>
          <a:ln/>
        </p:spPr>
      </p:sp>
      <p:sp>
        <p:nvSpPr>
          <p:cNvPr id="19" name="Text 15"/>
          <p:cNvSpPr txBox="1"/>
          <p:nvPr/>
        </p:nvSpPr>
        <p:spPr>
          <a:xfrm>
            <a:off x="4551578" y="4434840"/>
            <a:ext cx="1920240" cy="347472"/>
          </a:xfrm>
          <a:prstGeom prst="rect">
            <a:avLst/>
          </a:prstGeom>
          <a:noFill/>
          <a:ln/>
        </p:spPr>
        <p:txBody>
          <a:bodyPr wrap="square" lIns="0" tIns="0" rIns="0" bIns="0" rtlCol="0" anchor="ctr"/>
          <a:lstStyle/>
          <a:p>
            <a:pPr algn="ctr" indent="0" marL="0">
              <a:buNone/>
            </a:pPr>
            <a:r>
              <a:rPr lang="en-US" sz="1200" b="1" dirty="0">
                <a:solidFill>
                  <a:schemeClr val="bg1"/>
                </a:solidFill>
              </a:rPr>
              <a:t>Plug-and-play: no</a:t>
            </a:r>
            <a:endParaRPr lang="en-US" sz="1200" dirty="0"/>
          </a:p>
        </p:txBody>
      </p:sp>
      <p:sp>
        <p:nvSpPr>
          <p:cNvPr id="20" name="Shape 16"/>
          <p:cNvSpPr/>
          <p:nvPr/>
        </p:nvSpPr>
        <p:spPr>
          <a:xfrm>
            <a:off x="8097317" y="1463040"/>
            <a:ext cx="3545738" cy="3520440"/>
          </a:xfrm>
          <a:prstGeom prst="roundRect">
            <a:avLst>
              <a:gd name="adj" fmla="val 2078"/>
            </a:avLst>
          </a:prstGeom>
          <a:solidFill>
            <a:schemeClr val="bg2"/>
          </a:solidFill>
          <a:ln/>
          <a:effectLst>
            <a:outerShdw sx="100000" sy="100000" kx="0" ky="0" algn="bl" rotWithShape="0" blurRad="76200" dist="25400" dir="5400000">
              <a:srgbClr val="1B1F24">
                <a:alpha val="12000"/>
              </a:srgbClr>
            </a:outerShdw>
          </a:effectLst>
        </p:spPr>
      </p:sp>
      <p:sp>
        <p:nvSpPr>
          <p:cNvPr id="21" name="Shape 17"/>
          <p:cNvSpPr/>
          <p:nvPr/>
        </p:nvSpPr>
        <p:spPr>
          <a:xfrm>
            <a:off x="8325917" y="1691640"/>
            <a:ext cx="548640" cy="548640"/>
          </a:xfrm>
          <a:prstGeom prst="ellipse">
            <a:avLst/>
          </a:prstGeom>
          <a:solidFill>
            <a:schemeClr val="accent4"/>
          </a:solidFill>
          <a:ln/>
        </p:spPr>
      </p:sp>
      <p:pic>
        <p:nvPicPr>
          <p:cNvPr id="22" name="Image 2" descr="FaLayerGroup">    </p:cNvPr>
          <p:cNvPicPr>
            <a:picLocks noChangeAspect="1"/>
          </p:cNvPicPr>
          <p:nvPr/>
        </p:nvPicPr>
        <p:blipFill>
          <a:blip r:embed="rId3"/>
          <a:stretch>
            <a:fillRect/>
          </a:stretch>
        </p:blipFill>
        <p:spPr>
          <a:xfrm>
            <a:off x="8457590" y="1823314"/>
            <a:ext cx="285293" cy="285293"/>
          </a:xfrm>
          <a:prstGeom prst="rect">
            <a:avLst/>
          </a:prstGeom>
        </p:spPr>
      </p:pic>
      <p:sp>
        <p:nvSpPr>
          <p:cNvPr id="23" name="Text 18"/>
          <p:cNvSpPr txBox="1"/>
          <p:nvPr/>
        </p:nvSpPr>
        <p:spPr>
          <a:xfrm>
            <a:off x="9011717" y="1691640"/>
            <a:ext cx="2448458" cy="320040"/>
          </a:xfrm>
          <a:prstGeom prst="rect">
            <a:avLst/>
          </a:prstGeom>
          <a:noFill/>
          <a:ln/>
        </p:spPr>
        <p:txBody>
          <a:bodyPr wrap="square" lIns="0" tIns="0" rIns="0" bIns="0" rtlCol="0" anchor="t"/>
          <a:lstStyle/>
          <a:p>
            <a:pPr indent="0" marL="0">
              <a:buNone/>
            </a:pPr>
            <a:r>
              <a:rPr lang="en-US" sz="1800" b="1" dirty="0">
                <a:solidFill>
                  <a:schemeClr val="tx1"/>
                </a:solidFill>
              </a:rPr>
              <a:t>Generic denoisers</a:t>
            </a:r>
            <a:endParaRPr lang="en-US" sz="1800" dirty="0"/>
          </a:p>
        </p:txBody>
      </p:sp>
      <p:sp>
        <p:nvSpPr>
          <p:cNvPr id="24" name="Text 19"/>
          <p:cNvSpPr txBox="1"/>
          <p:nvPr/>
        </p:nvSpPr>
        <p:spPr>
          <a:xfrm>
            <a:off x="9011717" y="2011680"/>
            <a:ext cx="2448458" cy="274320"/>
          </a:xfrm>
          <a:prstGeom prst="rect">
            <a:avLst/>
          </a:prstGeom>
          <a:noFill/>
          <a:ln/>
        </p:spPr>
        <p:txBody>
          <a:bodyPr wrap="square" lIns="0" tIns="0" rIns="0" bIns="0" rtlCol="0" anchor="t"/>
          <a:lstStyle/>
          <a:p>
            <a:pPr indent="0" marL="0">
              <a:buNone/>
            </a:pPr>
            <a:r>
              <a:rPr lang="en-US" sz="1200" dirty="0">
                <a:solidFill>
                  <a:schemeClr val="accent4"/>
                </a:solidFill>
              </a:rPr>
              <a:t>DnCNN, Restormer, NAFNet</a:t>
            </a:r>
            <a:endParaRPr lang="en-US" sz="1200" dirty="0"/>
          </a:p>
        </p:txBody>
      </p:sp>
      <p:sp>
        <p:nvSpPr>
          <p:cNvPr id="25" name="Text 20"/>
          <p:cNvSpPr txBox="1"/>
          <p:nvPr/>
        </p:nvSpPr>
        <p:spPr>
          <a:xfrm>
            <a:off x="8325917" y="2468880"/>
            <a:ext cx="3088538" cy="1874520"/>
          </a:xfrm>
          <a:prstGeom prst="rect">
            <a:avLst/>
          </a:prstGeom>
          <a:noFill/>
          <a:ln/>
        </p:spPr>
        <p:txBody>
          <a:bodyPr wrap="square" lIns="0" tIns="0" rIns="0" bIns="0" rtlCol="0" anchor="t"/>
          <a:lstStyle/>
          <a:p>
            <a:pPr indent="0" marL="0">
              <a:buNone/>
            </a:pPr>
            <a:r>
              <a:rPr lang="en-US" sz="1500" dirty="0">
                <a:solidFill>
                  <a:schemeClr val="tx1"/>
                </a:solidFill>
              </a:rPr>
              <a:t>Pretrained, but on random noise, not adversarial noise. The HGD paper shows leftover noise gets amplified inside the network.</a:t>
            </a:r>
            <a:endParaRPr lang="en-US" sz="1500" dirty="0"/>
          </a:p>
        </p:txBody>
      </p:sp>
      <p:sp>
        <p:nvSpPr>
          <p:cNvPr id="26" name="Shape 21"/>
          <p:cNvSpPr/>
          <p:nvPr/>
        </p:nvSpPr>
        <p:spPr>
          <a:xfrm>
            <a:off x="8325917" y="4434840"/>
            <a:ext cx="1920240" cy="347472"/>
          </a:xfrm>
          <a:prstGeom prst="roundRect">
            <a:avLst>
              <a:gd name="adj" fmla="val 50000"/>
            </a:avLst>
          </a:prstGeom>
          <a:solidFill>
            <a:schemeClr val="accent6"/>
          </a:solidFill>
          <a:ln/>
        </p:spPr>
      </p:sp>
      <p:sp>
        <p:nvSpPr>
          <p:cNvPr id="27" name="Text 22"/>
          <p:cNvSpPr txBox="1"/>
          <p:nvPr/>
        </p:nvSpPr>
        <p:spPr>
          <a:xfrm>
            <a:off x="8325917" y="4434840"/>
            <a:ext cx="1920240" cy="347472"/>
          </a:xfrm>
          <a:prstGeom prst="rect">
            <a:avLst/>
          </a:prstGeom>
          <a:noFill/>
          <a:ln/>
        </p:spPr>
        <p:txBody>
          <a:bodyPr wrap="square" lIns="0" tIns="0" rIns="0" bIns="0" rtlCol="0" anchor="ctr"/>
          <a:lstStyle/>
          <a:p>
            <a:pPr algn="ctr" indent="0" marL="0">
              <a:buNone/>
            </a:pPr>
            <a:r>
              <a:rPr lang="en-US" sz="1200" b="1" dirty="0">
                <a:solidFill>
                  <a:schemeClr val="tx1"/>
                </a:solidFill>
              </a:rPr>
              <a:t>Plug-and-play: yes</a:t>
            </a:r>
            <a:endParaRPr lang="en-US" sz="1200" dirty="0"/>
          </a:p>
        </p:txBody>
      </p:sp>
      <p:sp>
        <p:nvSpPr>
          <p:cNvPr id="28" name="Shape 23"/>
          <p:cNvSpPr/>
          <p:nvPr/>
        </p:nvSpPr>
        <p:spPr>
          <a:xfrm>
            <a:off x="548640" y="5166360"/>
            <a:ext cx="11094415" cy="1005840"/>
          </a:xfrm>
          <a:prstGeom prst="roundRect">
            <a:avLst>
              <a:gd name="adj" fmla="val 7273"/>
            </a:avLst>
          </a:prstGeom>
          <a:solidFill>
            <a:schemeClr val="bg2"/>
          </a:solidFill>
          <a:ln/>
        </p:spPr>
      </p:sp>
      <p:sp>
        <p:nvSpPr>
          <p:cNvPr id="29" name="Shape 24"/>
          <p:cNvSpPr/>
          <p:nvPr/>
        </p:nvSpPr>
        <p:spPr>
          <a:xfrm>
            <a:off x="749808" y="5413248"/>
            <a:ext cx="502920" cy="502920"/>
          </a:xfrm>
          <a:prstGeom prst="ellipse">
            <a:avLst/>
          </a:prstGeom>
          <a:solidFill>
            <a:schemeClr val="accent5"/>
          </a:solidFill>
          <a:ln/>
        </p:spPr>
      </p:sp>
      <p:pic>
        <p:nvPicPr>
          <p:cNvPr id="30" name="Image 3" descr="FaCircleCheck">    </p:cNvPr>
          <p:cNvPicPr>
            <a:picLocks noChangeAspect="1"/>
          </p:cNvPicPr>
          <p:nvPr/>
        </p:nvPicPr>
        <p:blipFill>
          <a:blip r:embed="rId4"/>
          <a:stretch>
            <a:fillRect/>
          </a:stretch>
        </p:blipFill>
        <p:spPr>
          <a:xfrm>
            <a:off x="870509" y="5533949"/>
            <a:ext cx="261518" cy="261518"/>
          </a:xfrm>
          <a:prstGeom prst="rect">
            <a:avLst/>
          </a:prstGeom>
        </p:spPr>
      </p:pic>
      <p:sp>
        <p:nvSpPr>
          <p:cNvPr id="31" name="Text 25"/>
          <p:cNvSpPr txBox="1"/>
          <p:nvPr/>
        </p:nvSpPr>
        <p:spPr>
          <a:xfrm>
            <a:off x="1463040" y="5230368"/>
            <a:ext cx="10012680" cy="877824"/>
          </a:xfrm>
          <a:prstGeom prst="rect">
            <a:avLst/>
          </a:prstGeom>
          <a:noFill/>
          <a:ln/>
        </p:spPr>
        <p:txBody>
          <a:bodyPr wrap="square" lIns="0" tIns="0" rIns="0" bIns="0" rtlCol="0" anchor="ctr"/>
          <a:lstStyle/>
          <a:p>
            <a:pPr indent="0" marL="0">
              <a:buNone/>
            </a:pPr>
            <a:r>
              <a:rPr lang="en-US" sz="1400" b="1" dirty="0">
                <a:solidFill>
                  <a:schemeClr val="tx1"/>
                </a:solidFill>
              </a:rPr>
              <a:t>Already tested (classic, all training-free): </a:t>
            </a:r>
            <a:r>
              <a:rPr lang="en-US" sz="1400" dirty="0">
                <a:solidFill>
                  <a:schemeClr val="tx1"/>
                </a:solidFill>
              </a:rPr>
              <a:t>JPEG, Median, Gaussian, TVM, Blur+TVM, Bilateral, anisotropic diffusion, NLM, BM3D, bit-depth, dithering, SVD, random resize.</a:t>
            </a:r>
            <a:endParaRPr lang="en-US" sz="14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4 · OPTIONS WE ARE EXPLORING</a:t>
            </a:r>
            <a:endParaRPr lang="en-US" sz="1200" dirty="0"/>
          </a:p>
        </p:txBody>
      </p:sp>
      <p:sp>
        <p:nvSpPr>
          <p:cNvPr id="3" name="Text 0"/>
          <p:cNvSpPr/>
          <p:nvPr>
            <p:ph idx="101"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Option C: one filter instead of three?</a:t>
            </a:r>
            <a:endParaRPr lang="en-US" sz="3200" dirty="0"/>
          </a:p>
        </p:txBody>
      </p:sp>
      <p:sp>
        <p:nvSpPr>
          <p:cNvPr id="4" name="Shape 2"/>
          <p:cNvSpPr/>
          <p:nvPr/>
        </p:nvSpPr>
        <p:spPr>
          <a:xfrm>
            <a:off x="548640" y="1463040"/>
            <a:ext cx="3545738" cy="3520440"/>
          </a:xfrm>
          <a:prstGeom prst="roundRect">
            <a:avLst>
              <a:gd name="adj" fmla="val 2078"/>
            </a:avLst>
          </a:prstGeom>
          <a:solidFill>
            <a:schemeClr val="bg2"/>
          </a:solidFill>
          <a:ln/>
          <a:effectLst>
            <a:outerShdw sx="100000" sy="100000" kx="0" ky="0" algn="bl" rotWithShape="0" blurRad="76200" dist="25400" dir="5400000">
              <a:srgbClr val="1B1F24">
                <a:alpha val="12000"/>
              </a:srgbClr>
            </a:outerShdw>
          </a:effectLst>
        </p:spPr>
      </p:sp>
      <p:sp>
        <p:nvSpPr>
          <p:cNvPr id="5" name="Text 3"/>
          <p:cNvSpPr txBox="1"/>
          <p:nvPr/>
        </p:nvSpPr>
        <p:spPr>
          <a:xfrm>
            <a:off x="777240" y="1645920"/>
            <a:ext cx="3088538" cy="365760"/>
          </a:xfrm>
          <a:prstGeom prst="rect">
            <a:avLst/>
          </a:prstGeom>
          <a:noFill/>
          <a:ln/>
        </p:spPr>
        <p:txBody>
          <a:bodyPr wrap="square" lIns="0" tIns="0" rIns="0" bIns="0" rtlCol="0" anchor="t"/>
          <a:lstStyle/>
          <a:p>
            <a:pPr indent="0" marL="0">
              <a:buNone/>
            </a:pPr>
            <a:r>
              <a:rPr lang="en-US" sz="1600" b="1" dirty="0">
                <a:solidFill>
                  <a:schemeClr val="tx1"/>
                </a:solidFill>
              </a:rPr>
              <a:t>Ensemble (now)</a:t>
            </a:r>
            <a:endParaRPr lang="en-US" sz="1600" dirty="0"/>
          </a:p>
        </p:txBody>
      </p:sp>
      <p:sp>
        <p:nvSpPr>
          <p:cNvPr id="6" name="Shape 4"/>
          <p:cNvSpPr/>
          <p:nvPr/>
        </p:nvSpPr>
        <p:spPr>
          <a:xfrm>
            <a:off x="822960" y="2148840"/>
            <a:ext cx="2997098" cy="365760"/>
          </a:xfrm>
          <a:prstGeom prst="roundRect">
            <a:avLst>
              <a:gd name="adj" fmla="val 15000"/>
            </a:avLst>
          </a:prstGeom>
          <a:solidFill>
            <a:schemeClr val="bg1"/>
          </a:solidFill>
          <a:ln w="9525">
            <a:solidFill>
              <a:schemeClr val="accent4"/>
            </a:solidFill>
            <a:prstDash val="solid"/>
          </a:ln>
        </p:spPr>
      </p:sp>
      <p:sp>
        <p:nvSpPr>
          <p:cNvPr id="7" name="Text 5"/>
          <p:cNvSpPr txBox="1"/>
          <p:nvPr/>
        </p:nvSpPr>
        <p:spPr>
          <a:xfrm>
            <a:off x="822960" y="2148840"/>
            <a:ext cx="2997098" cy="365760"/>
          </a:xfrm>
          <a:prstGeom prst="rect">
            <a:avLst/>
          </a:prstGeom>
          <a:noFill/>
          <a:ln/>
        </p:spPr>
        <p:txBody>
          <a:bodyPr wrap="square" lIns="0" tIns="0" rIns="0" bIns="0" rtlCol="0" anchor="ctr"/>
          <a:lstStyle/>
          <a:p>
            <a:pPr algn="ctr" indent="0" marL="0">
              <a:buNone/>
            </a:pPr>
            <a:r>
              <a:rPr lang="en-US" sz="1200" b="1" dirty="0">
                <a:solidFill>
                  <a:schemeClr val="tx1"/>
                </a:solidFill>
              </a:rPr>
              <a:t>Image</a:t>
            </a:r>
            <a:endParaRPr lang="en-US" sz="1200" dirty="0"/>
          </a:p>
        </p:txBody>
      </p:sp>
      <p:sp>
        <p:nvSpPr>
          <p:cNvPr id="8" name="Shape 6"/>
          <p:cNvSpPr/>
          <p:nvPr/>
        </p:nvSpPr>
        <p:spPr>
          <a:xfrm>
            <a:off x="2321509" y="2514600"/>
            <a:ext cx="0" cy="164592"/>
          </a:xfrm>
          <a:prstGeom prst="line">
            <a:avLst/>
          </a:prstGeom>
          <a:noFill/>
          <a:ln w="19050">
            <a:solidFill>
              <a:schemeClr val="accent4"/>
            </a:solidFill>
            <a:prstDash val="solid"/>
            <a:tailEnd type="triangle"/>
          </a:ln>
        </p:spPr>
      </p:sp>
      <p:sp>
        <p:nvSpPr>
          <p:cNvPr id="9" name="Shape 7"/>
          <p:cNvSpPr/>
          <p:nvPr/>
        </p:nvSpPr>
        <p:spPr>
          <a:xfrm>
            <a:off x="822960" y="2679192"/>
            <a:ext cx="907593" cy="365760"/>
          </a:xfrm>
          <a:prstGeom prst="roundRect">
            <a:avLst>
              <a:gd name="adj" fmla="val 15000"/>
            </a:avLst>
          </a:prstGeom>
          <a:solidFill>
            <a:schemeClr val="bg1"/>
          </a:solidFill>
          <a:ln w="9525">
            <a:solidFill>
              <a:schemeClr val="accent4"/>
            </a:solidFill>
            <a:prstDash val="solid"/>
          </a:ln>
        </p:spPr>
      </p:sp>
      <p:sp>
        <p:nvSpPr>
          <p:cNvPr id="10" name="Text 8"/>
          <p:cNvSpPr txBox="1"/>
          <p:nvPr/>
        </p:nvSpPr>
        <p:spPr>
          <a:xfrm>
            <a:off x="822960" y="2679192"/>
            <a:ext cx="907593" cy="365760"/>
          </a:xfrm>
          <a:prstGeom prst="rect">
            <a:avLst/>
          </a:prstGeom>
          <a:noFill/>
          <a:ln/>
        </p:spPr>
        <p:txBody>
          <a:bodyPr wrap="square" lIns="0" tIns="0" rIns="0" bIns="0" rtlCol="0" anchor="ctr"/>
          <a:lstStyle/>
          <a:p>
            <a:pPr algn="ctr" indent="0" marL="0">
              <a:buNone/>
            </a:pPr>
            <a:r>
              <a:rPr lang="en-US" sz="1200" b="1" dirty="0">
                <a:solidFill>
                  <a:schemeClr val="tx1"/>
                </a:solidFill>
              </a:rPr>
              <a:t>J</a:t>
            </a:r>
            <a:endParaRPr lang="en-US" sz="1200" dirty="0"/>
          </a:p>
        </p:txBody>
      </p:sp>
      <p:sp>
        <p:nvSpPr>
          <p:cNvPr id="11" name="Shape 9"/>
          <p:cNvSpPr/>
          <p:nvPr/>
        </p:nvSpPr>
        <p:spPr>
          <a:xfrm>
            <a:off x="1867713" y="2679192"/>
            <a:ext cx="907593" cy="365760"/>
          </a:xfrm>
          <a:prstGeom prst="roundRect">
            <a:avLst>
              <a:gd name="adj" fmla="val 15000"/>
            </a:avLst>
          </a:prstGeom>
          <a:solidFill>
            <a:schemeClr val="bg1"/>
          </a:solidFill>
          <a:ln w="9525">
            <a:solidFill>
              <a:schemeClr val="accent4"/>
            </a:solidFill>
            <a:prstDash val="solid"/>
          </a:ln>
        </p:spPr>
      </p:sp>
      <p:sp>
        <p:nvSpPr>
          <p:cNvPr id="12" name="Text 10"/>
          <p:cNvSpPr txBox="1"/>
          <p:nvPr/>
        </p:nvSpPr>
        <p:spPr>
          <a:xfrm>
            <a:off x="1867713" y="2679192"/>
            <a:ext cx="907593" cy="365760"/>
          </a:xfrm>
          <a:prstGeom prst="rect">
            <a:avLst/>
          </a:prstGeom>
          <a:noFill/>
          <a:ln/>
        </p:spPr>
        <p:txBody>
          <a:bodyPr wrap="square" lIns="0" tIns="0" rIns="0" bIns="0" rtlCol="0" anchor="ctr"/>
          <a:lstStyle/>
          <a:p>
            <a:pPr algn="ctr" indent="0" marL="0">
              <a:buNone/>
            </a:pPr>
            <a:r>
              <a:rPr lang="en-US" sz="1200" b="1" dirty="0">
                <a:solidFill>
                  <a:schemeClr val="tx1"/>
                </a:solidFill>
              </a:rPr>
              <a:t>M</a:t>
            </a:r>
            <a:endParaRPr lang="en-US" sz="1200" dirty="0"/>
          </a:p>
        </p:txBody>
      </p:sp>
      <p:sp>
        <p:nvSpPr>
          <p:cNvPr id="13" name="Shape 11"/>
          <p:cNvSpPr/>
          <p:nvPr/>
        </p:nvSpPr>
        <p:spPr>
          <a:xfrm>
            <a:off x="2912466" y="2679192"/>
            <a:ext cx="907593" cy="365760"/>
          </a:xfrm>
          <a:prstGeom prst="roundRect">
            <a:avLst>
              <a:gd name="adj" fmla="val 15000"/>
            </a:avLst>
          </a:prstGeom>
          <a:solidFill>
            <a:schemeClr val="bg1"/>
          </a:solidFill>
          <a:ln w="9525">
            <a:solidFill>
              <a:schemeClr val="accent4"/>
            </a:solidFill>
            <a:prstDash val="solid"/>
          </a:ln>
        </p:spPr>
      </p:sp>
      <p:sp>
        <p:nvSpPr>
          <p:cNvPr id="14" name="Text 12"/>
          <p:cNvSpPr txBox="1"/>
          <p:nvPr/>
        </p:nvSpPr>
        <p:spPr>
          <a:xfrm>
            <a:off x="2912466" y="2679192"/>
            <a:ext cx="907593" cy="365760"/>
          </a:xfrm>
          <a:prstGeom prst="rect">
            <a:avLst/>
          </a:prstGeom>
          <a:noFill/>
          <a:ln/>
        </p:spPr>
        <p:txBody>
          <a:bodyPr wrap="square" lIns="0" tIns="0" rIns="0" bIns="0" rtlCol="0" anchor="ctr"/>
          <a:lstStyle/>
          <a:p>
            <a:pPr algn="ctr" indent="0" marL="0">
              <a:buNone/>
            </a:pPr>
            <a:r>
              <a:rPr lang="en-US" sz="1200" b="1" dirty="0">
                <a:solidFill>
                  <a:schemeClr val="tx1"/>
                </a:solidFill>
              </a:rPr>
              <a:t>G</a:t>
            </a:r>
            <a:endParaRPr lang="en-US" sz="1200" dirty="0"/>
          </a:p>
        </p:txBody>
      </p:sp>
      <p:sp>
        <p:nvSpPr>
          <p:cNvPr id="15" name="Shape 13"/>
          <p:cNvSpPr/>
          <p:nvPr/>
        </p:nvSpPr>
        <p:spPr>
          <a:xfrm>
            <a:off x="2321509" y="3044952"/>
            <a:ext cx="0" cy="164592"/>
          </a:xfrm>
          <a:prstGeom prst="line">
            <a:avLst/>
          </a:prstGeom>
          <a:noFill/>
          <a:ln w="19050">
            <a:solidFill>
              <a:schemeClr val="accent4"/>
            </a:solidFill>
            <a:prstDash val="solid"/>
            <a:tailEnd type="triangle"/>
          </a:ln>
        </p:spPr>
      </p:sp>
      <p:sp>
        <p:nvSpPr>
          <p:cNvPr id="16" name="Shape 14"/>
          <p:cNvSpPr/>
          <p:nvPr/>
        </p:nvSpPr>
        <p:spPr>
          <a:xfrm>
            <a:off x="822960" y="3209544"/>
            <a:ext cx="907593" cy="365760"/>
          </a:xfrm>
          <a:prstGeom prst="roundRect">
            <a:avLst>
              <a:gd name="adj" fmla="val 15000"/>
            </a:avLst>
          </a:prstGeom>
          <a:solidFill>
            <a:schemeClr val="accent5"/>
          </a:solidFill>
          <a:ln/>
        </p:spPr>
      </p:sp>
      <p:sp>
        <p:nvSpPr>
          <p:cNvPr id="17" name="Text 15"/>
          <p:cNvSpPr txBox="1"/>
          <p:nvPr/>
        </p:nvSpPr>
        <p:spPr>
          <a:xfrm>
            <a:off x="822960" y="3209544"/>
            <a:ext cx="907593" cy="365760"/>
          </a:xfrm>
          <a:prstGeom prst="rect">
            <a:avLst/>
          </a:prstGeom>
          <a:noFill/>
          <a:ln/>
        </p:spPr>
        <p:txBody>
          <a:bodyPr wrap="square" lIns="0" tIns="0" rIns="0" bIns="0" rtlCol="0" anchor="ctr"/>
          <a:lstStyle/>
          <a:p>
            <a:pPr algn="ctr" indent="0" marL="0">
              <a:buNone/>
            </a:pPr>
            <a:r>
              <a:rPr lang="en-US" sz="1200" b="1" dirty="0">
                <a:solidFill>
                  <a:schemeClr val="bg1"/>
                </a:solidFill>
              </a:rPr>
              <a:t>Model</a:t>
            </a:r>
            <a:endParaRPr lang="en-US" sz="1200" dirty="0"/>
          </a:p>
        </p:txBody>
      </p:sp>
      <p:sp>
        <p:nvSpPr>
          <p:cNvPr id="18" name="Shape 16"/>
          <p:cNvSpPr/>
          <p:nvPr/>
        </p:nvSpPr>
        <p:spPr>
          <a:xfrm>
            <a:off x="1867713" y="3209544"/>
            <a:ext cx="907593" cy="365760"/>
          </a:xfrm>
          <a:prstGeom prst="roundRect">
            <a:avLst>
              <a:gd name="adj" fmla="val 15000"/>
            </a:avLst>
          </a:prstGeom>
          <a:solidFill>
            <a:schemeClr val="accent5"/>
          </a:solidFill>
          <a:ln/>
        </p:spPr>
      </p:sp>
      <p:sp>
        <p:nvSpPr>
          <p:cNvPr id="19" name="Text 17"/>
          <p:cNvSpPr txBox="1"/>
          <p:nvPr/>
        </p:nvSpPr>
        <p:spPr>
          <a:xfrm>
            <a:off x="1867713" y="3209544"/>
            <a:ext cx="907593" cy="365760"/>
          </a:xfrm>
          <a:prstGeom prst="rect">
            <a:avLst/>
          </a:prstGeom>
          <a:noFill/>
          <a:ln/>
        </p:spPr>
        <p:txBody>
          <a:bodyPr wrap="square" lIns="0" tIns="0" rIns="0" bIns="0" rtlCol="0" anchor="ctr"/>
          <a:lstStyle/>
          <a:p>
            <a:pPr algn="ctr" indent="0" marL="0">
              <a:buNone/>
            </a:pPr>
            <a:r>
              <a:rPr lang="en-US" sz="1200" b="1" dirty="0">
                <a:solidFill>
                  <a:schemeClr val="bg1"/>
                </a:solidFill>
              </a:rPr>
              <a:t>Model</a:t>
            </a:r>
            <a:endParaRPr lang="en-US" sz="1200" dirty="0"/>
          </a:p>
        </p:txBody>
      </p:sp>
      <p:sp>
        <p:nvSpPr>
          <p:cNvPr id="20" name="Shape 18"/>
          <p:cNvSpPr/>
          <p:nvPr/>
        </p:nvSpPr>
        <p:spPr>
          <a:xfrm>
            <a:off x="2912466" y="3209544"/>
            <a:ext cx="907593" cy="365760"/>
          </a:xfrm>
          <a:prstGeom prst="roundRect">
            <a:avLst>
              <a:gd name="adj" fmla="val 15000"/>
            </a:avLst>
          </a:prstGeom>
          <a:solidFill>
            <a:schemeClr val="accent5"/>
          </a:solidFill>
          <a:ln/>
        </p:spPr>
      </p:sp>
      <p:sp>
        <p:nvSpPr>
          <p:cNvPr id="21" name="Text 19"/>
          <p:cNvSpPr txBox="1"/>
          <p:nvPr/>
        </p:nvSpPr>
        <p:spPr>
          <a:xfrm>
            <a:off x="2912466" y="3209544"/>
            <a:ext cx="907593" cy="365760"/>
          </a:xfrm>
          <a:prstGeom prst="rect">
            <a:avLst/>
          </a:prstGeom>
          <a:noFill/>
          <a:ln/>
        </p:spPr>
        <p:txBody>
          <a:bodyPr wrap="square" lIns="0" tIns="0" rIns="0" bIns="0" rtlCol="0" anchor="ctr"/>
          <a:lstStyle/>
          <a:p>
            <a:pPr algn="ctr" indent="0" marL="0">
              <a:buNone/>
            </a:pPr>
            <a:r>
              <a:rPr lang="en-US" sz="1200" b="1" dirty="0">
                <a:solidFill>
                  <a:schemeClr val="bg1"/>
                </a:solidFill>
              </a:rPr>
              <a:t>Model</a:t>
            </a:r>
            <a:endParaRPr lang="en-US" sz="1200" dirty="0"/>
          </a:p>
        </p:txBody>
      </p:sp>
      <p:sp>
        <p:nvSpPr>
          <p:cNvPr id="22" name="Shape 20"/>
          <p:cNvSpPr/>
          <p:nvPr/>
        </p:nvSpPr>
        <p:spPr>
          <a:xfrm>
            <a:off x="2321509" y="3575304"/>
            <a:ext cx="0" cy="164592"/>
          </a:xfrm>
          <a:prstGeom prst="line">
            <a:avLst/>
          </a:prstGeom>
          <a:noFill/>
          <a:ln w="19050">
            <a:solidFill>
              <a:schemeClr val="accent4"/>
            </a:solidFill>
            <a:prstDash val="solid"/>
            <a:tailEnd type="triangle"/>
          </a:ln>
        </p:spPr>
      </p:sp>
      <p:sp>
        <p:nvSpPr>
          <p:cNvPr id="23" name="Shape 21"/>
          <p:cNvSpPr/>
          <p:nvPr/>
        </p:nvSpPr>
        <p:spPr>
          <a:xfrm>
            <a:off x="822960" y="3739896"/>
            <a:ext cx="2997098" cy="365760"/>
          </a:xfrm>
          <a:prstGeom prst="roundRect">
            <a:avLst>
              <a:gd name="adj" fmla="val 15000"/>
            </a:avLst>
          </a:prstGeom>
          <a:solidFill>
            <a:schemeClr val="accent1"/>
          </a:solidFill>
          <a:ln/>
        </p:spPr>
      </p:sp>
      <p:sp>
        <p:nvSpPr>
          <p:cNvPr id="24" name="Text 22"/>
          <p:cNvSpPr txBox="1"/>
          <p:nvPr/>
        </p:nvSpPr>
        <p:spPr>
          <a:xfrm>
            <a:off x="822960" y="3739896"/>
            <a:ext cx="2997098" cy="365760"/>
          </a:xfrm>
          <a:prstGeom prst="rect">
            <a:avLst/>
          </a:prstGeom>
          <a:noFill/>
          <a:ln/>
        </p:spPr>
        <p:txBody>
          <a:bodyPr wrap="square" lIns="0" tIns="0" rIns="0" bIns="0" rtlCol="0" anchor="ctr"/>
          <a:lstStyle/>
          <a:p>
            <a:pPr algn="ctr" indent="0" marL="0">
              <a:buNone/>
            </a:pPr>
            <a:r>
              <a:rPr lang="en-US" sz="1200" b="1" dirty="0">
                <a:solidFill>
                  <a:schemeClr val="bg1"/>
                </a:solidFill>
              </a:rPr>
              <a:t>Merge boxes (NMS)</a:t>
            </a:r>
            <a:endParaRPr lang="en-US" sz="1200" dirty="0"/>
          </a:p>
        </p:txBody>
      </p:sp>
      <p:sp>
        <p:nvSpPr>
          <p:cNvPr id="25" name="Text 23"/>
          <p:cNvSpPr txBox="1"/>
          <p:nvPr/>
        </p:nvSpPr>
        <p:spPr>
          <a:xfrm>
            <a:off x="777240" y="4279392"/>
            <a:ext cx="3088538" cy="594360"/>
          </a:xfrm>
          <a:prstGeom prst="rect">
            <a:avLst/>
          </a:prstGeom>
          <a:noFill/>
          <a:ln/>
        </p:spPr>
        <p:txBody>
          <a:bodyPr wrap="square" lIns="0" tIns="0" rIns="0" bIns="0" rtlCol="0" anchor="t"/>
          <a:lstStyle/>
          <a:p>
            <a:pPr indent="0" marL="0">
              <a:buNone/>
            </a:pPr>
            <a:r>
              <a:rPr lang="en-US" sz="1200" dirty="0">
                <a:solidFill>
                  <a:schemeClr val="tx1"/>
                </a:solidFill>
              </a:rPr>
              <a:t>3 model passes; the merge happens after the model</a:t>
            </a:r>
            <a:endParaRPr lang="en-US" sz="1200" dirty="0"/>
          </a:p>
        </p:txBody>
      </p:sp>
      <p:sp>
        <p:nvSpPr>
          <p:cNvPr id="26" name="Shape 24"/>
          <p:cNvSpPr/>
          <p:nvPr/>
        </p:nvSpPr>
        <p:spPr>
          <a:xfrm>
            <a:off x="4322978" y="1463040"/>
            <a:ext cx="3545738" cy="3520440"/>
          </a:xfrm>
          <a:prstGeom prst="roundRect">
            <a:avLst>
              <a:gd name="adj" fmla="val 2078"/>
            </a:avLst>
          </a:prstGeom>
          <a:solidFill>
            <a:schemeClr val="bg2"/>
          </a:solidFill>
          <a:ln/>
          <a:effectLst>
            <a:outerShdw sx="100000" sy="100000" kx="0" ky="0" algn="bl" rotWithShape="0" blurRad="76200" dist="25400" dir="5400000">
              <a:srgbClr val="1B1F24">
                <a:alpha val="12000"/>
              </a:srgbClr>
            </a:outerShdw>
          </a:effectLst>
        </p:spPr>
      </p:sp>
      <p:sp>
        <p:nvSpPr>
          <p:cNvPr id="27" name="Text 25"/>
          <p:cNvSpPr txBox="1"/>
          <p:nvPr/>
        </p:nvSpPr>
        <p:spPr>
          <a:xfrm>
            <a:off x="4551578" y="1645920"/>
            <a:ext cx="3088538" cy="365760"/>
          </a:xfrm>
          <a:prstGeom prst="rect">
            <a:avLst/>
          </a:prstGeom>
          <a:noFill/>
          <a:ln/>
        </p:spPr>
        <p:txBody>
          <a:bodyPr wrap="square" lIns="0" tIns="0" rIns="0" bIns="0" rtlCol="0" anchor="t"/>
          <a:lstStyle/>
          <a:p>
            <a:pPr indent="0" marL="0">
              <a:buNone/>
            </a:pPr>
            <a:r>
              <a:rPr lang="en-US" sz="1600" b="1" dirty="0">
                <a:solidFill>
                  <a:schemeClr val="tx1"/>
                </a:solidFill>
              </a:rPr>
              <a:t>Pixel average</a:t>
            </a:r>
            <a:endParaRPr lang="en-US" sz="1600" dirty="0"/>
          </a:p>
        </p:txBody>
      </p:sp>
      <p:sp>
        <p:nvSpPr>
          <p:cNvPr id="28" name="Shape 26"/>
          <p:cNvSpPr/>
          <p:nvPr/>
        </p:nvSpPr>
        <p:spPr>
          <a:xfrm>
            <a:off x="4597298" y="2148840"/>
            <a:ext cx="2997098" cy="365760"/>
          </a:xfrm>
          <a:prstGeom prst="roundRect">
            <a:avLst>
              <a:gd name="adj" fmla="val 15000"/>
            </a:avLst>
          </a:prstGeom>
          <a:solidFill>
            <a:schemeClr val="bg1"/>
          </a:solidFill>
          <a:ln w="9525">
            <a:solidFill>
              <a:schemeClr val="accent4"/>
            </a:solidFill>
            <a:prstDash val="solid"/>
          </a:ln>
        </p:spPr>
      </p:sp>
      <p:sp>
        <p:nvSpPr>
          <p:cNvPr id="29" name="Text 27"/>
          <p:cNvSpPr txBox="1"/>
          <p:nvPr/>
        </p:nvSpPr>
        <p:spPr>
          <a:xfrm>
            <a:off x="4597298" y="2148840"/>
            <a:ext cx="2997098" cy="365760"/>
          </a:xfrm>
          <a:prstGeom prst="rect">
            <a:avLst/>
          </a:prstGeom>
          <a:noFill/>
          <a:ln/>
        </p:spPr>
        <p:txBody>
          <a:bodyPr wrap="square" lIns="0" tIns="0" rIns="0" bIns="0" rtlCol="0" anchor="ctr"/>
          <a:lstStyle/>
          <a:p>
            <a:pPr algn="ctr" indent="0" marL="0">
              <a:buNone/>
            </a:pPr>
            <a:r>
              <a:rPr lang="en-US" sz="1200" b="1" dirty="0">
                <a:solidFill>
                  <a:schemeClr val="tx1"/>
                </a:solidFill>
              </a:rPr>
              <a:t>Image</a:t>
            </a:r>
            <a:endParaRPr lang="en-US" sz="1200" dirty="0"/>
          </a:p>
        </p:txBody>
      </p:sp>
      <p:sp>
        <p:nvSpPr>
          <p:cNvPr id="30" name="Shape 28"/>
          <p:cNvSpPr/>
          <p:nvPr/>
        </p:nvSpPr>
        <p:spPr>
          <a:xfrm>
            <a:off x="6095848" y="2514600"/>
            <a:ext cx="0" cy="164592"/>
          </a:xfrm>
          <a:prstGeom prst="line">
            <a:avLst/>
          </a:prstGeom>
          <a:noFill/>
          <a:ln w="19050">
            <a:solidFill>
              <a:schemeClr val="accent4"/>
            </a:solidFill>
            <a:prstDash val="solid"/>
            <a:tailEnd type="triangle"/>
          </a:ln>
        </p:spPr>
      </p:sp>
      <p:sp>
        <p:nvSpPr>
          <p:cNvPr id="31" name="Shape 29"/>
          <p:cNvSpPr/>
          <p:nvPr/>
        </p:nvSpPr>
        <p:spPr>
          <a:xfrm>
            <a:off x="4597298" y="2679192"/>
            <a:ext cx="907593" cy="365760"/>
          </a:xfrm>
          <a:prstGeom prst="roundRect">
            <a:avLst>
              <a:gd name="adj" fmla="val 15000"/>
            </a:avLst>
          </a:prstGeom>
          <a:solidFill>
            <a:schemeClr val="bg1"/>
          </a:solidFill>
          <a:ln w="9525">
            <a:solidFill>
              <a:schemeClr val="accent4"/>
            </a:solidFill>
            <a:prstDash val="solid"/>
          </a:ln>
        </p:spPr>
      </p:sp>
      <p:sp>
        <p:nvSpPr>
          <p:cNvPr id="32" name="Text 30"/>
          <p:cNvSpPr txBox="1"/>
          <p:nvPr/>
        </p:nvSpPr>
        <p:spPr>
          <a:xfrm>
            <a:off x="4597298" y="2679192"/>
            <a:ext cx="907593" cy="365760"/>
          </a:xfrm>
          <a:prstGeom prst="rect">
            <a:avLst/>
          </a:prstGeom>
          <a:noFill/>
          <a:ln/>
        </p:spPr>
        <p:txBody>
          <a:bodyPr wrap="square" lIns="0" tIns="0" rIns="0" bIns="0" rtlCol="0" anchor="ctr"/>
          <a:lstStyle/>
          <a:p>
            <a:pPr algn="ctr" indent="0" marL="0">
              <a:buNone/>
            </a:pPr>
            <a:r>
              <a:rPr lang="en-US" sz="1200" b="1" dirty="0">
                <a:solidFill>
                  <a:schemeClr val="tx1"/>
                </a:solidFill>
              </a:rPr>
              <a:t>J</a:t>
            </a:r>
            <a:endParaRPr lang="en-US" sz="1200" dirty="0"/>
          </a:p>
        </p:txBody>
      </p:sp>
      <p:sp>
        <p:nvSpPr>
          <p:cNvPr id="33" name="Shape 31"/>
          <p:cNvSpPr/>
          <p:nvPr/>
        </p:nvSpPr>
        <p:spPr>
          <a:xfrm>
            <a:off x="5642051" y="2679192"/>
            <a:ext cx="907593" cy="365760"/>
          </a:xfrm>
          <a:prstGeom prst="roundRect">
            <a:avLst>
              <a:gd name="adj" fmla="val 15000"/>
            </a:avLst>
          </a:prstGeom>
          <a:solidFill>
            <a:schemeClr val="bg1"/>
          </a:solidFill>
          <a:ln w="9525">
            <a:solidFill>
              <a:schemeClr val="accent4"/>
            </a:solidFill>
            <a:prstDash val="solid"/>
          </a:ln>
        </p:spPr>
      </p:sp>
      <p:sp>
        <p:nvSpPr>
          <p:cNvPr id="34" name="Text 32"/>
          <p:cNvSpPr txBox="1"/>
          <p:nvPr/>
        </p:nvSpPr>
        <p:spPr>
          <a:xfrm>
            <a:off x="5642051" y="2679192"/>
            <a:ext cx="907593" cy="365760"/>
          </a:xfrm>
          <a:prstGeom prst="rect">
            <a:avLst/>
          </a:prstGeom>
          <a:noFill/>
          <a:ln/>
        </p:spPr>
        <p:txBody>
          <a:bodyPr wrap="square" lIns="0" tIns="0" rIns="0" bIns="0" rtlCol="0" anchor="ctr"/>
          <a:lstStyle/>
          <a:p>
            <a:pPr algn="ctr" indent="0" marL="0">
              <a:buNone/>
            </a:pPr>
            <a:r>
              <a:rPr lang="en-US" sz="1200" b="1" dirty="0">
                <a:solidFill>
                  <a:schemeClr val="tx1"/>
                </a:solidFill>
              </a:rPr>
              <a:t>M</a:t>
            </a:r>
            <a:endParaRPr lang="en-US" sz="1200" dirty="0"/>
          </a:p>
        </p:txBody>
      </p:sp>
      <p:sp>
        <p:nvSpPr>
          <p:cNvPr id="35" name="Shape 33"/>
          <p:cNvSpPr/>
          <p:nvPr/>
        </p:nvSpPr>
        <p:spPr>
          <a:xfrm>
            <a:off x="6686804" y="2679192"/>
            <a:ext cx="907593" cy="365760"/>
          </a:xfrm>
          <a:prstGeom prst="roundRect">
            <a:avLst>
              <a:gd name="adj" fmla="val 15000"/>
            </a:avLst>
          </a:prstGeom>
          <a:solidFill>
            <a:schemeClr val="bg1"/>
          </a:solidFill>
          <a:ln w="9525">
            <a:solidFill>
              <a:schemeClr val="accent4"/>
            </a:solidFill>
            <a:prstDash val="solid"/>
          </a:ln>
        </p:spPr>
      </p:sp>
      <p:sp>
        <p:nvSpPr>
          <p:cNvPr id="36" name="Text 34"/>
          <p:cNvSpPr txBox="1"/>
          <p:nvPr/>
        </p:nvSpPr>
        <p:spPr>
          <a:xfrm>
            <a:off x="6686804" y="2679192"/>
            <a:ext cx="907593" cy="365760"/>
          </a:xfrm>
          <a:prstGeom prst="rect">
            <a:avLst/>
          </a:prstGeom>
          <a:noFill/>
          <a:ln/>
        </p:spPr>
        <p:txBody>
          <a:bodyPr wrap="square" lIns="0" tIns="0" rIns="0" bIns="0" rtlCol="0" anchor="ctr"/>
          <a:lstStyle/>
          <a:p>
            <a:pPr algn="ctr" indent="0" marL="0">
              <a:buNone/>
            </a:pPr>
            <a:r>
              <a:rPr lang="en-US" sz="1200" b="1" dirty="0">
                <a:solidFill>
                  <a:schemeClr val="tx1"/>
                </a:solidFill>
              </a:rPr>
              <a:t>G</a:t>
            </a:r>
            <a:endParaRPr lang="en-US" sz="1200" dirty="0"/>
          </a:p>
        </p:txBody>
      </p:sp>
      <p:sp>
        <p:nvSpPr>
          <p:cNvPr id="37" name="Shape 35"/>
          <p:cNvSpPr/>
          <p:nvPr/>
        </p:nvSpPr>
        <p:spPr>
          <a:xfrm>
            <a:off x="6095848" y="3044952"/>
            <a:ext cx="0" cy="164592"/>
          </a:xfrm>
          <a:prstGeom prst="line">
            <a:avLst/>
          </a:prstGeom>
          <a:noFill/>
          <a:ln w="19050">
            <a:solidFill>
              <a:schemeClr val="accent4"/>
            </a:solidFill>
            <a:prstDash val="solid"/>
            <a:tailEnd type="triangle"/>
          </a:ln>
        </p:spPr>
      </p:sp>
      <p:sp>
        <p:nvSpPr>
          <p:cNvPr id="38" name="Shape 36"/>
          <p:cNvSpPr/>
          <p:nvPr/>
        </p:nvSpPr>
        <p:spPr>
          <a:xfrm>
            <a:off x="4597298" y="3209544"/>
            <a:ext cx="2997098" cy="365760"/>
          </a:xfrm>
          <a:prstGeom prst="roundRect">
            <a:avLst>
              <a:gd name="adj" fmla="val 15000"/>
            </a:avLst>
          </a:prstGeom>
          <a:solidFill>
            <a:schemeClr val="bg1"/>
          </a:solidFill>
          <a:ln w="9525">
            <a:solidFill>
              <a:schemeClr val="accent4"/>
            </a:solidFill>
            <a:prstDash val="solid"/>
          </a:ln>
        </p:spPr>
      </p:sp>
      <p:sp>
        <p:nvSpPr>
          <p:cNvPr id="39" name="Text 37"/>
          <p:cNvSpPr txBox="1"/>
          <p:nvPr/>
        </p:nvSpPr>
        <p:spPr>
          <a:xfrm>
            <a:off x="4597298" y="3209544"/>
            <a:ext cx="2997098" cy="365760"/>
          </a:xfrm>
          <a:prstGeom prst="rect">
            <a:avLst/>
          </a:prstGeom>
          <a:noFill/>
          <a:ln/>
        </p:spPr>
        <p:txBody>
          <a:bodyPr wrap="square" lIns="0" tIns="0" rIns="0" bIns="0" rtlCol="0" anchor="ctr"/>
          <a:lstStyle/>
          <a:p>
            <a:pPr algn="ctr" indent="0" marL="0">
              <a:buNone/>
            </a:pPr>
            <a:r>
              <a:rPr lang="en-US" sz="1200" b="1" dirty="0">
                <a:solidFill>
                  <a:schemeClr val="tx1"/>
                </a:solidFill>
              </a:rPr>
              <a:t>Average the 3 images</a:t>
            </a:r>
            <a:endParaRPr lang="en-US" sz="1200" dirty="0"/>
          </a:p>
        </p:txBody>
      </p:sp>
      <p:sp>
        <p:nvSpPr>
          <p:cNvPr id="40" name="Shape 38"/>
          <p:cNvSpPr/>
          <p:nvPr/>
        </p:nvSpPr>
        <p:spPr>
          <a:xfrm>
            <a:off x="6095848" y="3575304"/>
            <a:ext cx="0" cy="164592"/>
          </a:xfrm>
          <a:prstGeom prst="line">
            <a:avLst/>
          </a:prstGeom>
          <a:noFill/>
          <a:ln w="19050">
            <a:solidFill>
              <a:schemeClr val="accent4"/>
            </a:solidFill>
            <a:prstDash val="solid"/>
            <a:tailEnd type="triangle"/>
          </a:ln>
        </p:spPr>
      </p:sp>
      <p:sp>
        <p:nvSpPr>
          <p:cNvPr id="41" name="Shape 39"/>
          <p:cNvSpPr/>
          <p:nvPr/>
        </p:nvSpPr>
        <p:spPr>
          <a:xfrm>
            <a:off x="4597298" y="3739896"/>
            <a:ext cx="2997098" cy="365760"/>
          </a:xfrm>
          <a:prstGeom prst="roundRect">
            <a:avLst>
              <a:gd name="adj" fmla="val 15000"/>
            </a:avLst>
          </a:prstGeom>
          <a:solidFill>
            <a:schemeClr val="accent5"/>
          </a:solidFill>
          <a:ln/>
        </p:spPr>
      </p:sp>
      <p:sp>
        <p:nvSpPr>
          <p:cNvPr id="42" name="Text 40"/>
          <p:cNvSpPr txBox="1"/>
          <p:nvPr/>
        </p:nvSpPr>
        <p:spPr>
          <a:xfrm>
            <a:off x="4597298" y="3739896"/>
            <a:ext cx="2997098" cy="365760"/>
          </a:xfrm>
          <a:prstGeom prst="rect">
            <a:avLst/>
          </a:prstGeom>
          <a:noFill/>
          <a:ln/>
        </p:spPr>
        <p:txBody>
          <a:bodyPr wrap="square" lIns="0" tIns="0" rIns="0" bIns="0" rtlCol="0" anchor="ctr"/>
          <a:lstStyle/>
          <a:p>
            <a:pPr algn="ctr" indent="0" marL="0">
              <a:buNone/>
            </a:pPr>
            <a:r>
              <a:rPr lang="en-US" sz="1200" b="1" dirty="0">
                <a:solidFill>
                  <a:schemeClr val="bg1"/>
                </a:solidFill>
              </a:rPr>
              <a:t>Model × 1</a:t>
            </a:r>
            <a:endParaRPr lang="en-US" sz="1200" dirty="0"/>
          </a:p>
        </p:txBody>
      </p:sp>
      <p:sp>
        <p:nvSpPr>
          <p:cNvPr id="43" name="Text 41"/>
          <p:cNvSpPr txBox="1"/>
          <p:nvPr/>
        </p:nvSpPr>
        <p:spPr>
          <a:xfrm>
            <a:off x="4551578" y="4279392"/>
            <a:ext cx="3088538" cy="594360"/>
          </a:xfrm>
          <a:prstGeom prst="rect">
            <a:avLst/>
          </a:prstGeom>
          <a:noFill/>
          <a:ln/>
        </p:spPr>
        <p:txBody>
          <a:bodyPr wrap="square" lIns="0" tIns="0" rIns="0" bIns="0" rtlCol="0" anchor="t"/>
          <a:lstStyle/>
          <a:p>
            <a:pPr indent="0" marL="0">
              <a:buNone/>
            </a:pPr>
            <a:r>
              <a:rPr lang="en-US" sz="1200" dirty="0">
                <a:solidFill>
                  <a:schemeClr val="tx1"/>
                </a:solidFill>
              </a:rPr>
              <a:t>1 model pass; a cheap ablation: does merging boxes matter?</a:t>
            </a:r>
            <a:endParaRPr lang="en-US" sz="1200" dirty="0"/>
          </a:p>
        </p:txBody>
      </p:sp>
      <p:sp>
        <p:nvSpPr>
          <p:cNvPr id="44" name="Shape 42"/>
          <p:cNvSpPr/>
          <p:nvPr/>
        </p:nvSpPr>
        <p:spPr>
          <a:xfrm>
            <a:off x="8097317" y="1463040"/>
            <a:ext cx="3545738" cy="3520440"/>
          </a:xfrm>
          <a:prstGeom prst="roundRect">
            <a:avLst>
              <a:gd name="adj" fmla="val 2078"/>
            </a:avLst>
          </a:prstGeom>
          <a:solidFill>
            <a:schemeClr val="bg2"/>
          </a:solidFill>
          <a:ln/>
          <a:effectLst>
            <a:outerShdw sx="100000" sy="100000" kx="0" ky="0" algn="bl" rotWithShape="0" blurRad="76200" dist="25400" dir="5400000">
              <a:srgbClr val="1B1F24">
                <a:alpha val="12000"/>
              </a:srgbClr>
            </a:outerShdw>
          </a:effectLst>
        </p:spPr>
      </p:sp>
      <p:sp>
        <p:nvSpPr>
          <p:cNvPr id="45" name="Text 43"/>
          <p:cNvSpPr txBox="1"/>
          <p:nvPr/>
        </p:nvSpPr>
        <p:spPr>
          <a:xfrm>
            <a:off x="8325917" y="1645920"/>
            <a:ext cx="3088538" cy="365760"/>
          </a:xfrm>
          <a:prstGeom prst="rect">
            <a:avLst/>
          </a:prstGeom>
          <a:noFill/>
          <a:ln/>
        </p:spPr>
        <p:txBody>
          <a:bodyPr wrap="square" lIns="0" tIns="0" rIns="0" bIns="0" rtlCol="0" anchor="t"/>
          <a:lstStyle/>
          <a:p>
            <a:pPr indent="0" marL="0">
              <a:buNone/>
            </a:pPr>
            <a:r>
              <a:rPr lang="en-US" sz="1600" b="1" dirty="0">
                <a:solidFill>
                  <a:schemeClr val="tx1"/>
                </a:solidFill>
              </a:rPr>
              <a:t>Single filter</a:t>
            </a:r>
            <a:endParaRPr lang="en-US" sz="1600" dirty="0"/>
          </a:p>
        </p:txBody>
      </p:sp>
      <p:sp>
        <p:nvSpPr>
          <p:cNvPr id="46" name="Shape 44"/>
          <p:cNvSpPr/>
          <p:nvPr/>
        </p:nvSpPr>
        <p:spPr>
          <a:xfrm>
            <a:off x="8371637" y="2148840"/>
            <a:ext cx="2997098" cy="365760"/>
          </a:xfrm>
          <a:prstGeom prst="roundRect">
            <a:avLst>
              <a:gd name="adj" fmla="val 15000"/>
            </a:avLst>
          </a:prstGeom>
          <a:solidFill>
            <a:schemeClr val="bg1"/>
          </a:solidFill>
          <a:ln w="9525">
            <a:solidFill>
              <a:schemeClr val="accent4"/>
            </a:solidFill>
            <a:prstDash val="solid"/>
          </a:ln>
        </p:spPr>
      </p:sp>
      <p:sp>
        <p:nvSpPr>
          <p:cNvPr id="47" name="Text 45"/>
          <p:cNvSpPr txBox="1"/>
          <p:nvPr/>
        </p:nvSpPr>
        <p:spPr>
          <a:xfrm>
            <a:off x="8371637" y="2148840"/>
            <a:ext cx="2997098" cy="365760"/>
          </a:xfrm>
          <a:prstGeom prst="rect">
            <a:avLst/>
          </a:prstGeom>
          <a:noFill/>
          <a:ln/>
        </p:spPr>
        <p:txBody>
          <a:bodyPr wrap="square" lIns="0" tIns="0" rIns="0" bIns="0" rtlCol="0" anchor="ctr"/>
          <a:lstStyle/>
          <a:p>
            <a:pPr algn="ctr" indent="0" marL="0">
              <a:buNone/>
            </a:pPr>
            <a:r>
              <a:rPr lang="en-US" sz="1200" b="1" dirty="0">
                <a:solidFill>
                  <a:schemeClr val="tx1"/>
                </a:solidFill>
              </a:rPr>
              <a:t>Image</a:t>
            </a:r>
            <a:endParaRPr lang="en-US" sz="1200" dirty="0"/>
          </a:p>
        </p:txBody>
      </p:sp>
      <p:sp>
        <p:nvSpPr>
          <p:cNvPr id="48" name="Shape 46"/>
          <p:cNvSpPr/>
          <p:nvPr/>
        </p:nvSpPr>
        <p:spPr>
          <a:xfrm>
            <a:off x="9870186" y="2514600"/>
            <a:ext cx="0" cy="164592"/>
          </a:xfrm>
          <a:prstGeom prst="line">
            <a:avLst/>
          </a:prstGeom>
          <a:noFill/>
          <a:ln w="19050">
            <a:solidFill>
              <a:schemeClr val="accent4"/>
            </a:solidFill>
            <a:prstDash val="solid"/>
            <a:tailEnd type="triangle"/>
          </a:ln>
        </p:spPr>
      </p:sp>
      <p:sp>
        <p:nvSpPr>
          <p:cNvPr id="49" name="Shape 47"/>
          <p:cNvSpPr/>
          <p:nvPr/>
        </p:nvSpPr>
        <p:spPr>
          <a:xfrm>
            <a:off x="8371637" y="2679192"/>
            <a:ext cx="2997098" cy="365760"/>
          </a:xfrm>
          <a:prstGeom prst="roundRect">
            <a:avLst>
              <a:gd name="adj" fmla="val 15000"/>
            </a:avLst>
          </a:prstGeom>
          <a:solidFill>
            <a:schemeClr val="bg1"/>
          </a:solidFill>
          <a:ln w="9525">
            <a:solidFill>
              <a:schemeClr val="accent4"/>
            </a:solidFill>
            <a:prstDash val="solid"/>
          </a:ln>
        </p:spPr>
      </p:sp>
      <p:sp>
        <p:nvSpPr>
          <p:cNvPr id="50" name="Text 48"/>
          <p:cNvSpPr txBox="1"/>
          <p:nvPr/>
        </p:nvSpPr>
        <p:spPr>
          <a:xfrm>
            <a:off x="8371637" y="2679192"/>
            <a:ext cx="2997098" cy="365760"/>
          </a:xfrm>
          <a:prstGeom prst="rect">
            <a:avLst/>
          </a:prstGeom>
          <a:noFill/>
          <a:ln/>
        </p:spPr>
        <p:txBody>
          <a:bodyPr wrap="square" lIns="0" tIns="0" rIns="0" bIns="0" rtlCol="0" anchor="ctr"/>
          <a:lstStyle/>
          <a:p>
            <a:pPr algn="ctr" indent="0" marL="0">
              <a:buNone/>
            </a:pPr>
            <a:r>
              <a:rPr lang="en-US" sz="1200" b="1" dirty="0">
                <a:solidFill>
                  <a:schemeClr val="tx1"/>
                </a:solidFill>
              </a:rPr>
              <a:t>Chain J∘M∘G, or a trained net</a:t>
            </a:r>
            <a:endParaRPr lang="en-US" sz="1200" dirty="0"/>
          </a:p>
        </p:txBody>
      </p:sp>
      <p:sp>
        <p:nvSpPr>
          <p:cNvPr id="51" name="Shape 49"/>
          <p:cNvSpPr/>
          <p:nvPr/>
        </p:nvSpPr>
        <p:spPr>
          <a:xfrm>
            <a:off x="9870186" y="3044952"/>
            <a:ext cx="0" cy="164592"/>
          </a:xfrm>
          <a:prstGeom prst="line">
            <a:avLst/>
          </a:prstGeom>
          <a:noFill/>
          <a:ln w="19050">
            <a:solidFill>
              <a:schemeClr val="accent4"/>
            </a:solidFill>
            <a:prstDash val="solid"/>
            <a:tailEnd type="triangle"/>
          </a:ln>
        </p:spPr>
      </p:sp>
      <p:sp>
        <p:nvSpPr>
          <p:cNvPr id="52" name="Shape 50"/>
          <p:cNvSpPr/>
          <p:nvPr/>
        </p:nvSpPr>
        <p:spPr>
          <a:xfrm>
            <a:off x="8371637" y="3209544"/>
            <a:ext cx="2997098" cy="365760"/>
          </a:xfrm>
          <a:prstGeom prst="roundRect">
            <a:avLst>
              <a:gd name="adj" fmla="val 15000"/>
            </a:avLst>
          </a:prstGeom>
          <a:solidFill>
            <a:schemeClr val="accent5"/>
          </a:solidFill>
          <a:ln/>
        </p:spPr>
      </p:sp>
      <p:sp>
        <p:nvSpPr>
          <p:cNvPr id="53" name="Text 51"/>
          <p:cNvSpPr txBox="1"/>
          <p:nvPr/>
        </p:nvSpPr>
        <p:spPr>
          <a:xfrm>
            <a:off x="8371637" y="3209544"/>
            <a:ext cx="2997098" cy="365760"/>
          </a:xfrm>
          <a:prstGeom prst="rect">
            <a:avLst/>
          </a:prstGeom>
          <a:noFill/>
          <a:ln/>
        </p:spPr>
        <p:txBody>
          <a:bodyPr wrap="square" lIns="0" tIns="0" rIns="0" bIns="0" rtlCol="0" anchor="ctr"/>
          <a:lstStyle/>
          <a:p>
            <a:pPr algn="ctr" indent="0" marL="0">
              <a:buNone/>
            </a:pPr>
            <a:r>
              <a:rPr lang="en-US" sz="1200" b="1" dirty="0">
                <a:solidFill>
                  <a:schemeClr val="bg1"/>
                </a:solidFill>
              </a:rPr>
              <a:t>Model × 1</a:t>
            </a:r>
            <a:endParaRPr lang="en-US" sz="1200" dirty="0"/>
          </a:p>
        </p:txBody>
      </p:sp>
      <p:sp>
        <p:nvSpPr>
          <p:cNvPr id="54" name="Text 52"/>
          <p:cNvSpPr txBox="1"/>
          <p:nvPr/>
        </p:nvSpPr>
        <p:spPr>
          <a:xfrm>
            <a:off x="8325917" y="4279392"/>
            <a:ext cx="3088538" cy="594360"/>
          </a:xfrm>
          <a:prstGeom prst="rect">
            <a:avLst/>
          </a:prstGeom>
          <a:noFill/>
          <a:ln/>
        </p:spPr>
        <p:txBody>
          <a:bodyPr wrap="square" lIns="0" tIns="0" rIns="0" bIns="0" rtlCol="0" anchor="t"/>
          <a:lstStyle/>
          <a:p>
            <a:pPr indent="0" marL="0">
              <a:buNone/>
            </a:pPr>
            <a:r>
              <a:rPr lang="en-US" sz="1200" dirty="0">
                <a:solidFill>
                  <a:schemeClr val="tx1"/>
                </a:solidFill>
              </a:rPr>
              <a:t>Chaining already tried (Blur+TVM): it cost Florence 9.5 points on clean images</a:t>
            </a:r>
            <a:endParaRPr lang="en-US" sz="1200" dirty="0"/>
          </a:p>
        </p:txBody>
      </p:sp>
      <p:sp>
        <p:nvSpPr>
          <p:cNvPr id="55" name="Shape 53"/>
          <p:cNvSpPr/>
          <p:nvPr/>
        </p:nvSpPr>
        <p:spPr>
          <a:xfrm>
            <a:off x="548640" y="5166360"/>
            <a:ext cx="11094415" cy="1005840"/>
          </a:xfrm>
          <a:prstGeom prst="roundRect">
            <a:avLst>
              <a:gd name="adj" fmla="val 7273"/>
            </a:avLst>
          </a:prstGeom>
          <a:solidFill>
            <a:schemeClr val="bg2"/>
          </a:solidFill>
          <a:ln/>
        </p:spPr>
      </p:sp>
      <p:sp>
        <p:nvSpPr>
          <p:cNvPr id="56" name="Shape 54"/>
          <p:cNvSpPr/>
          <p:nvPr/>
        </p:nvSpPr>
        <p:spPr>
          <a:xfrm>
            <a:off x="749808" y="5413248"/>
            <a:ext cx="502920" cy="502920"/>
          </a:xfrm>
          <a:prstGeom prst="ellipse">
            <a:avLst/>
          </a:prstGeom>
          <a:solidFill>
            <a:schemeClr val="accent5"/>
          </a:solidFill>
          <a:ln/>
        </p:spPr>
      </p:sp>
      <p:pic>
        <p:nvPicPr>
          <p:cNvPr id="57" name="Image 0" descr="FaScaleBalanced">    </p:cNvPr>
          <p:cNvPicPr>
            <a:picLocks noChangeAspect="1"/>
          </p:cNvPicPr>
          <p:nvPr/>
        </p:nvPicPr>
        <p:blipFill>
          <a:blip r:embed="rId1"/>
          <a:stretch>
            <a:fillRect/>
          </a:stretch>
        </p:blipFill>
        <p:spPr>
          <a:xfrm>
            <a:off x="870509" y="5533949"/>
            <a:ext cx="261518" cy="261518"/>
          </a:xfrm>
          <a:prstGeom prst="rect">
            <a:avLst/>
          </a:prstGeom>
        </p:spPr>
      </p:pic>
      <p:sp>
        <p:nvSpPr>
          <p:cNvPr id="58" name="Text 55"/>
          <p:cNvSpPr txBox="1"/>
          <p:nvPr/>
        </p:nvSpPr>
        <p:spPr>
          <a:xfrm>
            <a:off x="1463040" y="5230368"/>
            <a:ext cx="10012680" cy="877824"/>
          </a:xfrm>
          <a:prstGeom prst="rect">
            <a:avLst/>
          </a:prstGeom>
          <a:noFill/>
          <a:ln/>
        </p:spPr>
        <p:txBody>
          <a:bodyPr wrap="square" lIns="0" tIns="0" rIns="0" bIns="0" rtlCol="0" anchor="ctr"/>
          <a:lstStyle/>
          <a:p>
            <a:pPr indent="0" marL="0">
              <a:buNone/>
            </a:pPr>
            <a:r>
              <a:rPr lang="en-US" sz="1400" b="1" dirty="0">
                <a:solidFill>
                  <a:schemeClr val="tx1"/>
                </a:solidFill>
              </a:rPr>
              <a:t>Our view: </a:t>
            </a:r>
            <a:r>
              <a:rPr lang="en-US" sz="1400" dirty="0">
                <a:solidFill>
                  <a:schemeClr val="tx1"/>
                </a:solidFill>
              </a:rPr>
              <a:t>no exact single equation (the merge is after the model; Median and JPEG are non-linear). Planned: the pixel average at one pass, and a control that merges three plain views (flip, rescale) to separate the merge's effect from the filters'. A trained single filter would be smooth, so easier to attack.</a:t>
            </a:r>
            <a:endParaRPr lang="en-US" sz="14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4 · OPTIONS WE ARE EXPLORING</a:t>
            </a:r>
            <a:endParaRPr lang="en-US" sz="1200" dirty="0"/>
          </a:p>
        </p:txBody>
      </p:sp>
      <p:sp>
        <p:nvSpPr>
          <p:cNvPr id="3" name="Text 0"/>
          <p:cNvSpPr/>
          <p:nvPr>
            <p:ph idx="101"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Options side by side</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377440"/>
                <a:gridCol w="3566160"/>
                <a:gridCol w="2057400"/>
                <a:gridCol w="1901952"/>
                <a:gridCol w="1188720"/>
              </a:tblGrid>
              <a:tr h="384048">
                <a:tc>
                  <a:txBody>
                    <a:bodyPr/>
                    <a:lstStyle/>
                    <a:p>
                      <a:pPr indent="0" marL="0">
                        <a:buNone/>
                      </a:pPr>
                      <a:r>
                        <a:rPr lang="en-US" sz="1300" b="1" dirty="0">
                          <a:solidFill>
                            <a:schemeClr val="bg1"/>
                          </a:solidFill>
                        </a:rPr>
                        <a:t>Option</a:t>
                      </a:r>
                      <a:endParaRPr lang="en-US" sz="1300" dirty="0"/>
                    </a:p>
                  </a:txBody>
                  <a:tcPr marL="91440" marR="9144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What it adds</a:t>
                      </a:r>
                      <a:endParaRPr lang="en-US" sz="1300" dirty="0"/>
                    </a:p>
                  </a:txBody>
                  <a:tcPr marL="91440" marR="9144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Compute</a:t>
                      </a:r>
                      <a:endParaRPr lang="en-US" sz="1300" dirty="0"/>
                    </a:p>
                  </a:txBody>
                  <a:tcPr marL="91440" marR="9144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Main risk</a:t>
                      </a:r>
                      <a:endParaRPr lang="en-US" sz="1300" dirty="0"/>
                    </a:p>
                  </a:txBody>
                  <a:tcPr marL="91440" marR="9144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Our ranking</a:t>
                      </a:r>
                      <a:endParaRPr lang="en-US" sz="1300" dirty="0"/>
                    </a:p>
                  </a:txBody>
                  <a:tcPr marL="91440" marR="9144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512064">
                <a:tc>
                  <a:txBody>
                    <a:bodyPr/>
                    <a:lstStyle/>
                    <a:p>
                      <a:pPr indent="0" marL="0">
                        <a:buNone/>
                      </a:pPr>
                      <a:r>
                        <a:rPr lang="en-US" sz="1200" b="1" dirty="0">
                          <a:solidFill>
                            <a:schemeClr val="tx1"/>
                          </a:solidFill>
                        </a:rPr>
                        <a:t>A · Adaptive attack on the merge</a:t>
                      </a:r>
                      <a:endParaRPr lang="en-US" sz="1200" dirty="0"/>
                    </a:p>
                  </a:txBody>
                  <a:tcPr marL="91440" marR="9144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Answers the main review; our novelty (strongest-branch attack)</a:t>
                      </a:r>
                      <a:endParaRPr lang="en-US" sz="1200" dirty="0"/>
                    </a:p>
                  </a:txBody>
                  <a:tcPr marL="91440" marR="9144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~5–7 h, one A6000 (estimate)</a:t>
                      </a:r>
                      <a:endParaRPr lang="en-US" sz="1200" dirty="0"/>
                    </a:p>
                  </a:txBody>
                  <a:tcPr marL="91440" marR="9144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Close preprints (arXiv 2610.29196)</a:t>
                      </a:r>
                      <a:endParaRPr lang="en-US" sz="1200" dirty="0"/>
                    </a:p>
                  </a:txBody>
                  <a:tcPr marL="91440" marR="9144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bg1"/>
                          </a:solidFill>
                        </a:rPr>
                        <a:t>Must do</a:t>
                      </a:r>
                      <a:endParaRPr lang="en-US" sz="1200" dirty="0"/>
                    </a:p>
                  </a:txBody>
                  <a:tcPr marL="91440" marR="9144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512064">
                <a:tc>
                  <a:txBody>
                    <a:bodyPr/>
                    <a:lstStyle/>
                    <a:p>
                      <a:pPr indent="0" marL="0">
                        <a:buNone/>
                      </a:pPr>
                      <a:r>
                        <a:rPr lang="en-US" sz="1200" b="1" dirty="0">
                          <a:solidFill>
                            <a:schemeClr val="tx1"/>
                          </a:solidFill>
                        </a:rPr>
                        <a:t>B · Diffusion purifier</a:t>
                      </a:r>
                      <a:endParaRPr lang="en-US" sz="1200" dirty="0"/>
                    </a:p>
                  </a:txBody>
                  <a:tcPr marL="91440" marR="9144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Modern, still training-free; baseline or 4th branch</a:t>
                      </a:r>
                      <a:endParaRPr lang="en-US" sz="1200" dirty="0"/>
                    </a:p>
                  </a:txBody>
                  <a:tcPr marL="91440" marR="9144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High: slow per image</a:t>
                      </a:r>
                      <a:endParaRPr lang="en-US" sz="1200" dirty="0"/>
                    </a:p>
                  </a:txBody>
                  <a:tcPr marL="91440" marR="9144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Fair adaptive test is hard</a:t>
                      </a:r>
                      <a:endParaRPr lang="en-US" sz="1200" dirty="0"/>
                    </a:p>
                  </a:txBody>
                  <a:tcPr marL="91440" marR="9144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bg1"/>
                          </a:solidFill>
                        </a:rPr>
                        <a:t>Strong add</a:t>
                      </a:r>
                      <a:endParaRPr lang="en-US" sz="1200" dirty="0"/>
                    </a:p>
                  </a:txBody>
                  <a:tcPr marL="91440" marR="9144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solidFill>
                  </a:tcPr>
                </a:tc>
              </a:tr>
              <a:tr h="512064">
                <a:tc>
                  <a:txBody>
                    <a:bodyPr/>
                    <a:lstStyle/>
                    <a:p>
                      <a:pPr indent="0" marL="0">
                        <a:buNone/>
                      </a:pPr>
                      <a:r>
                        <a:rPr lang="en-US" sz="1200" b="1" dirty="0">
                          <a:solidFill>
                            <a:schemeClr val="tx1"/>
                          </a:solidFill>
                        </a:rPr>
                        <a:t>C · Pixel average</a:t>
                      </a:r>
                      <a:endParaRPr lang="en-US" sz="1200" dirty="0"/>
                    </a:p>
                  </a:txBody>
                  <a:tcPr marL="91440" marR="9144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The block at one model pass; is it the merge or the filters?</a:t>
                      </a:r>
                      <a:endParaRPr lang="en-US" sz="1200" dirty="0"/>
                    </a:p>
                  </a:txBody>
                  <a:tcPr marL="91440" marR="9144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Low</a:t>
                      </a:r>
                      <a:endParaRPr lang="en-US" sz="1200" dirty="0"/>
                    </a:p>
                  </a:txBody>
                  <a:tcPr marL="91440" marR="9144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Small, supporting claim</a:t>
                      </a:r>
                      <a:endParaRPr lang="en-US" sz="1200" dirty="0"/>
                    </a:p>
                  </a:txBody>
                  <a:tcPr marL="91440" marR="9144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tx1"/>
                          </a:solidFill>
                        </a:rPr>
                        <a:t>Ablation</a:t>
                      </a:r>
                      <a:endParaRPr lang="en-US" sz="1200" dirty="0"/>
                    </a:p>
                  </a:txBody>
                  <a:tcPr marL="91440" marR="9144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512064">
                <a:tc>
                  <a:txBody>
                    <a:bodyPr/>
                    <a:lstStyle/>
                    <a:p>
                      <a:pPr indent="0" marL="0">
                        <a:buNone/>
                      </a:pPr>
                      <a:r>
                        <a:rPr lang="en-US" sz="1200" b="1" dirty="0">
                          <a:solidFill>
                            <a:schemeClr val="tx1"/>
                          </a:solidFill>
                        </a:rPr>
                        <a:t>D · OCR ground truth</a:t>
                      </a:r>
                      <a:endParaRPr lang="en-US" sz="1200" dirty="0"/>
                    </a:p>
                  </a:txBody>
                  <a:tcPr marL="91440" marR="9144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Accuracy, not only consistency (COCO-Text labels)</a:t>
                      </a:r>
                      <a:endParaRPr lang="en-US" sz="1200" dirty="0"/>
                    </a:p>
                  </a:txBody>
                  <a:tcPr marL="91440" marR="9144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Low</a:t>
                      </a:r>
                      <a:endParaRPr lang="en-US" sz="1200" dirty="0"/>
                    </a:p>
                  </a:txBody>
                  <a:tcPr marL="91440" marR="9144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Coverage of val2017 unknown</a:t>
                      </a:r>
                      <a:endParaRPr lang="en-US" sz="1200" dirty="0"/>
                    </a:p>
                  </a:txBody>
                  <a:tcPr marL="91440" marR="9144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tx1"/>
                          </a:solidFill>
                        </a:rPr>
                        <a:t>Nice to have</a:t>
                      </a:r>
                      <a:endParaRPr lang="en-US" sz="1200" dirty="0"/>
                    </a:p>
                  </a:txBody>
                  <a:tcPr marL="91440" marR="9144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512064">
                <a:tc>
                  <a:txBody>
                    <a:bodyPr/>
                    <a:lstStyle/>
                    <a:p>
                      <a:pPr indent="0" marL="0">
                        <a:buNone/>
                      </a:pPr>
                      <a:r>
                        <a:rPr lang="en-US" sz="1200" b="1" dirty="0">
                          <a:solidFill>
                            <a:schemeClr val="tx1"/>
                          </a:solidFill>
                        </a:rPr>
                        <a:t>E · Hardening</a:t>
                      </a:r>
                      <a:endParaRPr lang="en-US" sz="1200" dirty="0"/>
                    </a:p>
                  </a:txBody>
                  <a:tcPr marL="91440" marR="9144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Randomized filters, branch-disagreement alarm</a:t>
                      </a:r>
                      <a:endParaRPr lang="en-US" sz="1200" dirty="0"/>
                    </a:p>
                  </a:txBody>
                  <a:tcPr marL="91440" marR="9144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Low</a:t>
                      </a:r>
                      <a:endParaRPr lang="en-US" sz="1200" dirty="0"/>
                    </a:p>
                  </a:txBody>
                  <a:tcPr marL="91440" marR="9144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Needed only if A breaks it</a:t>
                      </a:r>
                      <a:endParaRPr lang="en-US" sz="1200" dirty="0"/>
                    </a:p>
                  </a:txBody>
                  <a:tcPr marL="91440" marR="9144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tx1"/>
                          </a:solidFill>
                        </a:rPr>
                        <a:t>If needed</a:t>
                      </a:r>
                      <a:endParaRPr lang="en-US" sz="1200" dirty="0"/>
                    </a:p>
                  </a:txBody>
                  <a:tcPr marL="91440" marR="9144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5" name="Shape 2"/>
          <p:cNvSpPr/>
          <p:nvPr/>
        </p:nvSpPr>
        <p:spPr>
          <a:xfrm>
            <a:off x="548640" y="4663440"/>
            <a:ext cx="5432908" cy="1536192"/>
          </a:xfrm>
          <a:prstGeom prst="roundRect">
            <a:avLst>
              <a:gd name="adj" fmla="val 4762"/>
            </a:avLst>
          </a:prstGeom>
          <a:solidFill>
            <a:schemeClr val="bg2"/>
          </a:solidFill>
          <a:ln/>
          <a:effectLst>
            <a:outerShdw sx="100000" sy="100000" kx="0" ky="0" algn="bl" rotWithShape="0" blurRad="76200" dist="25400" dir="5400000">
              <a:srgbClr val="1B1F24">
                <a:alpha val="12000"/>
              </a:srgbClr>
            </a:outerShdw>
          </a:effectLst>
        </p:spPr>
      </p:sp>
      <p:sp>
        <p:nvSpPr>
          <p:cNvPr id="6" name="Shape 3"/>
          <p:cNvSpPr/>
          <p:nvPr/>
        </p:nvSpPr>
        <p:spPr>
          <a:xfrm>
            <a:off x="777240" y="4846320"/>
            <a:ext cx="457200" cy="457200"/>
          </a:xfrm>
          <a:prstGeom prst="ellipse">
            <a:avLst/>
          </a:prstGeom>
          <a:solidFill>
            <a:schemeClr val="accent5"/>
          </a:solidFill>
          <a:ln/>
        </p:spPr>
      </p:sp>
      <p:pic>
        <p:nvPicPr>
          <p:cNvPr id="7" name="Image 0" descr="FaBookOpen">    </p:cNvPr>
          <p:cNvPicPr>
            <a:picLocks noChangeAspect="1"/>
          </p:cNvPicPr>
          <p:nvPr/>
        </p:nvPicPr>
        <p:blipFill>
          <a:blip r:embed="rId1"/>
          <a:stretch>
            <a:fillRect/>
          </a:stretch>
        </p:blipFill>
        <p:spPr>
          <a:xfrm>
            <a:off x="886968" y="4956048"/>
            <a:ext cx="237744" cy="237744"/>
          </a:xfrm>
          <a:prstGeom prst="rect">
            <a:avLst/>
          </a:prstGeom>
        </p:spPr>
      </p:pic>
      <p:sp>
        <p:nvSpPr>
          <p:cNvPr id="8" name="Text 4"/>
          <p:cNvSpPr txBox="1"/>
          <p:nvPr/>
        </p:nvSpPr>
        <p:spPr>
          <a:xfrm>
            <a:off x="1417320" y="4864608"/>
            <a:ext cx="4335628" cy="411480"/>
          </a:xfrm>
          <a:prstGeom prst="rect">
            <a:avLst/>
          </a:prstGeom>
          <a:noFill/>
          <a:ln/>
        </p:spPr>
        <p:txBody>
          <a:bodyPr wrap="square" lIns="0" tIns="0" rIns="0" bIns="0" rtlCol="0" anchor="ctr"/>
          <a:lstStyle/>
          <a:p>
            <a:pPr indent="0" marL="0">
              <a:buNone/>
            </a:pPr>
            <a:r>
              <a:rPr lang="en-US" sz="1600" b="1" dirty="0">
                <a:solidFill>
                  <a:schemeClr val="tx1"/>
                </a:solidFill>
              </a:rPr>
              <a:t>Venue</a:t>
            </a:r>
            <a:endParaRPr lang="en-US" sz="1600" dirty="0"/>
          </a:p>
        </p:txBody>
      </p:sp>
      <p:sp>
        <p:nvSpPr>
          <p:cNvPr id="9" name="Text 5"/>
          <p:cNvSpPr txBox="1"/>
          <p:nvPr/>
        </p:nvSpPr>
        <p:spPr>
          <a:xfrm>
            <a:off x="1417320" y="5321808"/>
            <a:ext cx="4335628" cy="841248"/>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tx1"/>
                </a:solidFill>
              </a:rPr>
              <a:t>TMLR: rolling, judges correctness over novelty</a:t>
            </a:r>
            <a:endParaRPr lang="en-US" sz="1300" dirty="0"/>
          </a:p>
          <a:p>
            <a:pPr marL="177800" indent="-177800">
              <a:spcAft>
                <a:spcPts val="300"/>
              </a:spcAft>
              <a:buSzPct val="100000"/>
              <a:buChar char="•"/>
            </a:pPr>
            <a:r>
              <a:rPr lang="en-US" sz="1300" dirty="0">
                <a:solidFill>
                  <a:schemeClr val="tx1"/>
                </a:solidFill>
              </a:rPr>
              <a:t>CVPR / ICCV 2027 workshops: need one sharp finding</a:t>
            </a:r>
            <a:endParaRPr lang="en-US" sz="1300" dirty="0"/>
          </a:p>
          <a:p>
            <a:pPr marL="177800" indent="-177800">
              <a:spcAft>
                <a:spcPts val="300"/>
              </a:spcAft>
              <a:buSzPct val="100000"/>
              <a:buChar char="•"/>
            </a:pPr>
            <a:r>
              <a:rPr lang="en-US" sz="1300" dirty="0">
                <a:solidFill>
                  <a:schemeClr val="tx1"/>
                </a:solidFill>
              </a:rPr>
              <a:t>Main conference only if A is striking</a:t>
            </a:r>
            <a:endParaRPr lang="en-US" sz="1300" dirty="0"/>
          </a:p>
        </p:txBody>
      </p:sp>
      <p:sp>
        <p:nvSpPr>
          <p:cNvPr id="10" name="Shape 6"/>
          <p:cNvSpPr/>
          <p:nvPr/>
        </p:nvSpPr>
        <p:spPr>
          <a:xfrm>
            <a:off x="6210148" y="4663440"/>
            <a:ext cx="5432908" cy="1536192"/>
          </a:xfrm>
          <a:prstGeom prst="roundRect">
            <a:avLst>
              <a:gd name="adj" fmla="val 4762"/>
            </a:avLst>
          </a:prstGeom>
          <a:solidFill>
            <a:schemeClr val="bg2"/>
          </a:solidFill>
          <a:ln/>
          <a:effectLst>
            <a:outerShdw sx="100000" sy="100000" kx="0" ky="0" algn="bl" rotWithShape="0" blurRad="76200" dist="25400" dir="5400000">
              <a:srgbClr val="1B1F24">
                <a:alpha val="12000"/>
              </a:srgbClr>
            </a:outerShdw>
          </a:effectLst>
        </p:spPr>
      </p:sp>
      <p:sp>
        <p:nvSpPr>
          <p:cNvPr id="11" name="Shape 7"/>
          <p:cNvSpPr/>
          <p:nvPr/>
        </p:nvSpPr>
        <p:spPr>
          <a:xfrm>
            <a:off x="6438748" y="4846320"/>
            <a:ext cx="457200" cy="457200"/>
          </a:xfrm>
          <a:prstGeom prst="ellipse">
            <a:avLst/>
          </a:prstGeom>
          <a:solidFill>
            <a:schemeClr val="accent3"/>
          </a:solidFill>
          <a:ln/>
        </p:spPr>
      </p:sp>
      <p:pic>
        <p:nvPicPr>
          <p:cNvPr id="12" name="Image 1" descr="FaHourglassHalf">    </p:cNvPr>
          <p:cNvPicPr>
            <a:picLocks noChangeAspect="1"/>
          </p:cNvPicPr>
          <p:nvPr/>
        </p:nvPicPr>
        <p:blipFill>
          <a:blip r:embed="rId2"/>
          <a:stretch>
            <a:fillRect/>
          </a:stretch>
        </p:blipFill>
        <p:spPr>
          <a:xfrm>
            <a:off x="6548476" y="4956048"/>
            <a:ext cx="237744" cy="237744"/>
          </a:xfrm>
          <a:prstGeom prst="rect">
            <a:avLst/>
          </a:prstGeom>
        </p:spPr>
      </p:pic>
      <p:sp>
        <p:nvSpPr>
          <p:cNvPr id="13" name="Text 8"/>
          <p:cNvSpPr txBox="1"/>
          <p:nvPr/>
        </p:nvSpPr>
        <p:spPr>
          <a:xfrm>
            <a:off x="7078828" y="4864608"/>
            <a:ext cx="4335628" cy="411480"/>
          </a:xfrm>
          <a:prstGeom prst="rect">
            <a:avLst/>
          </a:prstGeom>
          <a:noFill/>
          <a:ln/>
        </p:spPr>
        <p:txBody>
          <a:bodyPr wrap="square" lIns="0" tIns="0" rIns="0" bIns="0" rtlCol="0" anchor="ctr"/>
          <a:lstStyle/>
          <a:p>
            <a:pPr indent="0" marL="0">
              <a:buNone/>
            </a:pPr>
            <a:r>
              <a:rPr lang="en-US" sz="1600" b="1" dirty="0">
                <a:solidFill>
                  <a:schemeClr val="tx1"/>
                </a:solidFill>
              </a:rPr>
              <a:t>Constraints</a:t>
            </a:r>
            <a:endParaRPr lang="en-US" sz="1600" dirty="0"/>
          </a:p>
        </p:txBody>
      </p:sp>
      <p:sp>
        <p:nvSpPr>
          <p:cNvPr id="14" name="Text 9"/>
          <p:cNvSpPr txBox="1"/>
          <p:nvPr/>
        </p:nvSpPr>
        <p:spPr>
          <a:xfrm>
            <a:off x="7078828" y="5321808"/>
            <a:ext cx="4335628" cy="841248"/>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tx1"/>
                </a:solidFill>
              </a:rPr>
              <a:t>Must clearly extend our APSCON 2026 paper</a:t>
            </a:r>
            <a:endParaRPr lang="en-US" sz="1300" dirty="0"/>
          </a:p>
          <a:p>
            <a:pPr marL="177800" indent="-177800">
              <a:spcAft>
                <a:spcPts val="300"/>
              </a:spcAft>
              <a:buSzPct val="100000"/>
              <a:buChar char="•"/>
            </a:pPr>
            <a:r>
              <a:rPr lang="en-US" sz="1300" dirty="0">
                <a:solidFill>
                  <a:schemeClr val="tx1"/>
                </a:solidFill>
              </a:rPr>
              <a:t>GPU runs need the full COCO val2017 and an A6000</a:t>
            </a:r>
            <a:endParaRPr lang="en-US" sz="1300" dirty="0"/>
          </a:p>
          <a:p>
            <a:pPr marL="177800" indent="-177800">
              <a:spcAft>
                <a:spcPts val="300"/>
              </a:spcAft>
              <a:buSzPct val="100000"/>
              <a:buChar char="•"/>
            </a:pPr>
            <a:r>
              <a:rPr lang="en-US" sz="1300" dirty="0">
                <a:solidFill>
                  <a:schemeClr val="tx1"/>
                </a:solidFill>
              </a:rPr>
              <a:t>TMLR no longer takes surveys: frame it as an evaluation</a:t>
            </a:r>
            <a:endParaRPr lang="en-US" sz="13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5 · DISCUSSION</a:t>
            </a:r>
            <a:endParaRPr lang="en-US" sz="1200" dirty="0"/>
          </a:p>
        </p:txBody>
      </p:sp>
      <p:sp>
        <p:nvSpPr>
          <p:cNvPr id="3" name="Text 0"/>
          <p:cNvSpPr/>
          <p:nvPr>
            <p:ph idx="101"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3200" b="1" dirty="0">
                <a:solidFill>
                  <a:schemeClr val="bg1"/>
                </a:solidFill>
              </a:rPr>
              <a:t>Where we would value your view</a:t>
            </a:r>
            <a:endParaRPr lang="en-US" sz="3200" dirty="0"/>
          </a:p>
        </p:txBody>
      </p:sp>
      <p:sp>
        <p:nvSpPr>
          <p:cNvPr id="4" name="Shape 2"/>
          <p:cNvSpPr/>
          <p:nvPr/>
        </p:nvSpPr>
        <p:spPr>
          <a:xfrm>
            <a:off x="731520" y="1600200"/>
            <a:ext cx="566928" cy="566928"/>
          </a:xfrm>
          <a:prstGeom prst="ellipse">
            <a:avLst/>
          </a:prstGeom>
          <a:solidFill>
            <a:schemeClr val="accent1"/>
          </a:solidFill>
          <a:ln/>
        </p:spPr>
      </p:sp>
      <p:sp>
        <p:nvSpPr>
          <p:cNvPr id="5" name="Text 3"/>
          <p:cNvSpPr txBox="1"/>
          <p:nvPr/>
        </p:nvSpPr>
        <p:spPr>
          <a:xfrm>
            <a:off x="731520" y="160020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4"/>
          <p:cNvSpPr txBox="1"/>
          <p:nvPr/>
        </p:nvSpPr>
        <p:spPr>
          <a:xfrm>
            <a:off x="1554480" y="1581912"/>
            <a:ext cx="9875520" cy="347472"/>
          </a:xfrm>
          <a:prstGeom prst="rect">
            <a:avLst/>
          </a:prstGeom>
          <a:noFill/>
          <a:ln/>
        </p:spPr>
        <p:txBody>
          <a:bodyPr wrap="square" lIns="0" tIns="0" rIns="0" bIns="0" rtlCol="0" anchor="t"/>
          <a:lstStyle/>
          <a:p>
            <a:pPr indent="0" marL="0">
              <a:buNone/>
            </a:pPr>
            <a:r>
              <a:rPr lang="en-US" sz="1800" b="1" dirty="0">
                <a:solidFill>
                  <a:schemeClr val="bg1"/>
                </a:solidFill>
              </a:rPr>
              <a:t>Novelty</a:t>
            </a:r>
            <a:endParaRPr lang="en-US" sz="1800" dirty="0"/>
          </a:p>
        </p:txBody>
      </p:sp>
      <p:sp>
        <p:nvSpPr>
          <p:cNvPr id="7" name="Text 5"/>
          <p:cNvSpPr txBox="1"/>
          <p:nvPr/>
        </p:nvSpPr>
        <p:spPr>
          <a:xfrm>
            <a:off x="1554480" y="1947672"/>
            <a:ext cx="9875520" cy="457200"/>
          </a:xfrm>
          <a:prstGeom prst="rect">
            <a:avLst/>
          </a:prstGeom>
          <a:noFill/>
          <a:ln/>
        </p:spPr>
        <p:txBody>
          <a:bodyPr wrap="square" lIns="0" tIns="0" rIns="0" bIns="0" rtlCol="0" anchor="t"/>
          <a:lstStyle/>
          <a:p>
            <a:pPr indent="0" marL="0">
              <a:buNone/>
            </a:pPr>
            <a:r>
              <a:rPr lang="en-US" sz="1600" dirty="0">
                <a:solidFill>
                  <a:schemeClr val="accent6"/>
                </a:solidFill>
              </a:rPr>
              <a:t>Is a fair adaptive test of the block enough of a contribution, or do reviewers expect a new defense?</a:t>
            </a:r>
            <a:endParaRPr lang="en-US" sz="1600" dirty="0"/>
          </a:p>
        </p:txBody>
      </p:sp>
      <p:sp>
        <p:nvSpPr>
          <p:cNvPr id="8" name="Shape 6"/>
          <p:cNvSpPr/>
          <p:nvPr/>
        </p:nvSpPr>
        <p:spPr>
          <a:xfrm>
            <a:off x="731520" y="2697480"/>
            <a:ext cx="566928" cy="566928"/>
          </a:xfrm>
          <a:prstGeom prst="ellipse">
            <a:avLst/>
          </a:prstGeom>
          <a:solidFill>
            <a:schemeClr val="accent1"/>
          </a:solidFill>
          <a:ln/>
        </p:spPr>
      </p:sp>
      <p:sp>
        <p:nvSpPr>
          <p:cNvPr id="9" name="Text 7"/>
          <p:cNvSpPr txBox="1"/>
          <p:nvPr/>
        </p:nvSpPr>
        <p:spPr>
          <a:xfrm>
            <a:off x="731520" y="269748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0" name="Text 8"/>
          <p:cNvSpPr txBox="1"/>
          <p:nvPr/>
        </p:nvSpPr>
        <p:spPr>
          <a:xfrm>
            <a:off x="1554480" y="2679192"/>
            <a:ext cx="9875520" cy="347472"/>
          </a:xfrm>
          <a:prstGeom prst="rect">
            <a:avLst/>
          </a:prstGeom>
          <a:noFill/>
          <a:ln/>
        </p:spPr>
        <p:txBody>
          <a:bodyPr wrap="square" lIns="0" tIns="0" rIns="0" bIns="0" rtlCol="0" anchor="t"/>
          <a:lstStyle/>
          <a:p>
            <a:pPr indent="0" marL="0">
              <a:buNone/>
            </a:pPr>
            <a:r>
              <a:rPr lang="en-US" sz="1800" b="1" dirty="0">
                <a:solidFill>
                  <a:schemeClr val="bg1"/>
                </a:solidFill>
              </a:rPr>
              <a:t>If it breaks</a:t>
            </a:r>
            <a:endParaRPr lang="en-US" sz="1800" dirty="0"/>
          </a:p>
        </p:txBody>
      </p:sp>
      <p:sp>
        <p:nvSpPr>
          <p:cNvPr id="11" name="Text 9"/>
          <p:cNvSpPr txBox="1"/>
          <p:nvPr/>
        </p:nvSpPr>
        <p:spPr>
          <a:xfrm>
            <a:off x="1554480" y="3044952"/>
            <a:ext cx="9875520" cy="457200"/>
          </a:xfrm>
          <a:prstGeom prst="rect">
            <a:avLst/>
          </a:prstGeom>
          <a:noFill/>
          <a:ln/>
        </p:spPr>
        <p:txBody>
          <a:bodyPr wrap="square" lIns="0" tIns="0" rIns="0" bIns="0" rtlCol="0" anchor="t"/>
          <a:lstStyle/>
          <a:p>
            <a:pPr indent="0" marL="0">
              <a:buNone/>
            </a:pPr>
            <a:r>
              <a:rPr lang="en-US" sz="1600" dirty="0">
                <a:solidFill>
                  <a:schemeClr val="accent6"/>
                </a:solidFill>
              </a:rPr>
              <a:t>Which training-free fix is most promising: randomized filters, a diffusion branch, or an alarm?</a:t>
            </a:r>
            <a:endParaRPr lang="en-US" sz="1600" dirty="0"/>
          </a:p>
        </p:txBody>
      </p:sp>
      <p:sp>
        <p:nvSpPr>
          <p:cNvPr id="12" name="Shape 10"/>
          <p:cNvSpPr/>
          <p:nvPr/>
        </p:nvSpPr>
        <p:spPr>
          <a:xfrm>
            <a:off x="731520" y="3794760"/>
            <a:ext cx="566928" cy="566928"/>
          </a:xfrm>
          <a:prstGeom prst="ellipse">
            <a:avLst/>
          </a:prstGeom>
          <a:solidFill>
            <a:schemeClr val="accent1"/>
          </a:solidFill>
          <a:ln/>
        </p:spPr>
      </p:sp>
      <p:sp>
        <p:nvSpPr>
          <p:cNvPr id="13" name="Text 11"/>
          <p:cNvSpPr txBox="1"/>
          <p:nvPr/>
        </p:nvSpPr>
        <p:spPr>
          <a:xfrm>
            <a:off x="731520" y="379476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4" name="Text 12"/>
          <p:cNvSpPr txBox="1"/>
          <p:nvPr/>
        </p:nvSpPr>
        <p:spPr>
          <a:xfrm>
            <a:off x="1554480" y="3776472"/>
            <a:ext cx="9875520" cy="347472"/>
          </a:xfrm>
          <a:prstGeom prst="rect">
            <a:avLst/>
          </a:prstGeom>
          <a:noFill/>
          <a:ln/>
        </p:spPr>
        <p:txBody>
          <a:bodyPr wrap="square" lIns="0" tIns="0" rIns="0" bIns="0" rtlCol="0" anchor="t"/>
          <a:lstStyle/>
          <a:p>
            <a:pPr indent="0" marL="0">
              <a:buNone/>
            </a:pPr>
            <a:r>
              <a:rPr lang="en-US" sz="1800" b="1" dirty="0">
                <a:solidFill>
                  <a:schemeClr val="bg1"/>
                </a:solidFill>
              </a:rPr>
              <a:t>Baselines and data</a:t>
            </a:r>
            <a:endParaRPr lang="en-US" sz="1800" dirty="0"/>
          </a:p>
        </p:txBody>
      </p:sp>
      <p:sp>
        <p:nvSpPr>
          <p:cNvPr id="15" name="Text 13"/>
          <p:cNvSpPr txBox="1"/>
          <p:nvPr/>
        </p:nvSpPr>
        <p:spPr>
          <a:xfrm>
            <a:off x="1554480" y="4142232"/>
            <a:ext cx="9875520" cy="457200"/>
          </a:xfrm>
          <a:prstGeom prst="rect">
            <a:avLst/>
          </a:prstGeom>
          <a:noFill/>
          <a:ln/>
        </p:spPr>
        <p:txBody>
          <a:bodyPr wrap="square" lIns="0" tIns="0" rIns="0" bIns="0" rtlCol="0" anchor="t"/>
          <a:lstStyle/>
          <a:p>
            <a:pPr indent="0" marL="0">
              <a:buNone/>
            </a:pPr>
            <a:r>
              <a:rPr lang="en-US" sz="1600" dirty="0">
                <a:solidFill>
                  <a:schemeClr val="accent6"/>
                </a:solidFill>
              </a:rPr>
              <a:t>Which modern baseline is a must (DiffPure, HGD, other), and is COCO enough?</a:t>
            </a:r>
            <a:endParaRPr lang="en-US" sz="1600" dirty="0"/>
          </a:p>
        </p:txBody>
      </p:sp>
      <p:sp>
        <p:nvSpPr>
          <p:cNvPr id="16" name="Shape 14"/>
          <p:cNvSpPr/>
          <p:nvPr/>
        </p:nvSpPr>
        <p:spPr>
          <a:xfrm>
            <a:off x="731520" y="4892040"/>
            <a:ext cx="566928" cy="566928"/>
          </a:xfrm>
          <a:prstGeom prst="ellipse">
            <a:avLst/>
          </a:prstGeom>
          <a:solidFill>
            <a:schemeClr val="accent1"/>
          </a:solidFill>
          <a:ln/>
        </p:spPr>
      </p:sp>
      <p:sp>
        <p:nvSpPr>
          <p:cNvPr id="17" name="Text 15"/>
          <p:cNvSpPr txBox="1"/>
          <p:nvPr/>
        </p:nvSpPr>
        <p:spPr>
          <a:xfrm>
            <a:off x="731520" y="489204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8" name="Text 16"/>
          <p:cNvSpPr txBox="1"/>
          <p:nvPr/>
        </p:nvSpPr>
        <p:spPr>
          <a:xfrm>
            <a:off x="1554480" y="4873752"/>
            <a:ext cx="9875520" cy="347472"/>
          </a:xfrm>
          <a:prstGeom prst="rect">
            <a:avLst/>
          </a:prstGeom>
          <a:noFill/>
          <a:ln/>
        </p:spPr>
        <p:txBody>
          <a:bodyPr wrap="square" lIns="0" tIns="0" rIns="0" bIns="0" rtlCol="0" anchor="t"/>
          <a:lstStyle/>
          <a:p>
            <a:pPr indent="0" marL="0">
              <a:buNone/>
            </a:pPr>
            <a:r>
              <a:rPr lang="en-US" sz="1800" b="1" dirty="0">
                <a:solidFill>
                  <a:schemeClr val="bg1"/>
                </a:solidFill>
              </a:rPr>
              <a:t>Venue</a:t>
            </a:r>
            <a:endParaRPr lang="en-US" sz="1800" dirty="0"/>
          </a:p>
        </p:txBody>
      </p:sp>
      <p:sp>
        <p:nvSpPr>
          <p:cNvPr id="19" name="Text 17"/>
          <p:cNvSpPr txBox="1"/>
          <p:nvPr/>
        </p:nvSpPr>
        <p:spPr>
          <a:xfrm>
            <a:off x="1554480" y="5239512"/>
            <a:ext cx="9875520" cy="457200"/>
          </a:xfrm>
          <a:prstGeom prst="rect">
            <a:avLst/>
          </a:prstGeom>
          <a:noFill/>
          <a:ln/>
        </p:spPr>
        <p:txBody>
          <a:bodyPr wrap="square" lIns="0" tIns="0" rIns="0" bIns="0" rtlCol="0" anchor="t"/>
          <a:lstStyle/>
          <a:p>
            <a:pPr indent="0" marL="0">
              <a:buNone/>
            </a:pPr>
            <a:r>
              <a:rPr lang="en-US" sz="1600" dirty="0">
                <a:solidFill>
                  <a:schemeClr val="accent6"/>
                </a:solidFill>
              </a:rPr>
              <a:t>TMLR, a CVPR / ICCV 2027 workshop, or a main conference?</a:t>
            </a:r>
            <a:endParaRPr lang="en-US"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005840"/>
          </a:xfrm>
          <a:prstGeom prst="rect">
            <a:avLst/>
          </a:prstGeom>
          <a:noFill/>
          <a:ln/>
        </p:spPr>
        <p:txBody>
          <a:bodyPr wrap="square" lIns="0" tIns="0" rIns="0" bIns="0" rtlCol="0" anchor="b"/>
          <a:lstStyle/>
          <a:p>
            <a:pPr algn="l" indent="0" marL="0">
              <a:buNone/>
            </a:pPr>
            <a:r>
              <a:rPr lang="en-US" sz="4400" b="1" dirty="0">
                <a:solidFill>
                  <a:schemeClr val="bg1"/>
                </a:solidFill>
              </a:rPr>
              <a:t>Backup</a:t>
            </a:r>
            <a:endParaRPr lang="en-US" sz="4400" dirty="0"/>
          </a:p>
        </p:txBody>
      </p:sp>
      <p:sp>
        <p:nvSpPr>
          <p:cNvPr id="3" name="Text 0"/>
          <p:cNvSpPr/>
          <p:nvPr>
            <p:ph idx="101" type="body" hasCustomPrompt="1"/>
          </p:nvPr>
        </p:nvSpPr>
        <p:spPr>
          <a:xfrm>
            <a:off x="731520" y="3566160"/>
            <a:ext cx="10698480" cy="731520"/>
          </a:xfrm>
          <a:prstGeom prst="rect">
            <a:avLst/>
          </a:prstGeom>
          <a:noFill/>
          <a:ln/>
        </p:spPr>
        <p:txBody>
          <a:bodyPr wrap="square" lIns="0" tIns="0" rIns="0" bIns="0" rtlCol="0" anchor="t"/>
          <a:lstStyle/>
          <a:p>
            <a:pPr indent="0" marL="0">
              <a:buNone/>
            </a:pPr>
            <a:r>
              <a:rPr lang="en-US" sz="1800" dirty="0">
                <a:solidFill>
                  <a:schemeClr val="accent6"/>
                </a:solidFill>
              </a:rPr>
              <a:t>Full detection and OCR tables · ensemble vs Median · clean cost with CIs · attack details</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BACKUP</a:t>
            </a:r>
            <a:endParaRPr lang="en-US" sz="1200" dirty="0"/>
          </a:p>
        </p:txBody>
      </p:sp>
      <p:sp>
        <p:nvSpPr>
          <p:cNvPr id="3" name="Text 0"/>
          <p:cNvSpPr/>
          <p:nvPr>
            <p:ph idx="101"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Full detection results, N = 5,000</a:t>
            </a:r>
            <a:endParaRPr lang="en-US" sz="3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313432"/>
                <a:gridCol w="1463040"/>
                <a:gridCol w="1463040"/>
                <a:gridCol w="1463040"/>
                <a:gridCol w="1463040"/>
                <a:gridCol w="1463040"/>
                <a:gridCol w="1463040"/>
              </a:tblGrid>
              <a:tr h="196596">
                <a:tc rowSpan="2">
                  <a:txBody>
                    <a:bodyPr/>
                    <a:lstStyle/>
                    <a:p>
                      <a:pPr algn="l" indent="0" marL="0">
                        <a:buNone/>
                      </a:pPr>
                      <a:r>
                        <a:rPr lang="en-US" sz="1100" b="1" dirty="0">
                          <a:solidFill>
                            <a:schemeClr val="bg1"/>
                          </a:solidFill>
                        </a:rPr>
                        <a:t>Defense</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chemeClr val="tx2"/>
                    </a:solidFill>
                  </a:tcPr>
                </a:tc>
                <a:tc gridSpan="3">
                  <a:txBody>
                    <a:bodyPr/>
                    <a:lstStyle/>
                    <a:p>
                      <a:pPr algn="ctr" indent="0" marL="0">
                        <a:buNone/>
                      </a:pPr>
                      <a:r>
                        <a:rPr lang="en-US" sz="1100" b="1" dirty="0">
                          <a:solidFill>
                            <a:schemeClr val="bg1"/>
                          </a:solidFill>
                        </a:rPr>
                        <a:t>YOLO-World (mAP)</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chemeClr val="tx2"/>
                    </a:solidFill>
                  </a:tcPr>
                </a:tc>
                <a:tc hMerge="1">
                  <a:tcPr/>
                </a:tc>
                <a:tc hMerge="1">
                  <a:tcPr/>
                </a:tc>
                <a:tc gridSpan="3">
                  <a:txBody>
                    <a:bodyPr/>
                    <a:lstStyle/>
                    <a:p>
                      <a:pPr algn="ctr" indent="0" marL="0">
                        <a:buNone/>
                      </a:pPr>
                      <a:r>
                        <a:rPr lang="en-US" sz="1100" b="1" dirty="0">
                          <a:solidFill>
                            <a:schemeClr val="bg1"/>
                          </a:solidFill>
                        </a:rPr>
                        <a:t>Florence-2 (mAP)</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chemeClr val="tx2"/>
                    </a:solidFill>
                  </a:tcPr>
                </a:tc>
                <a:tc hMerge="1">
                  <a:tcPr/>
                </a:tc>
                <a:tc hMerge="1">
                  <a:tcPr/>
                </a:tc>
              </a:tr>
              <a:tr h="196596">
                <a:tc vMerge="1">
                  <a:tcPr/>
                </a:tc>
                <a:tc>
                  <a:txBody>
                    <a:bodyPr/>
                    <a:lstStyle/>
                    <a:p>
                      <a:pPr algn="ctr" indent="0" marL="0">
                        <a:buNone/>
                      </a:pPr>
                      <a:r>
                        <a:rPr lang="en-US" sz="1100" b="1" dirty="0">
                          <a:solidFill>
                            <a:schemeClr val="bg1"/>
                          </a:solidFill>
                        </a:rPr>
                        <a:t>FGSM</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PGD</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Patch</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FGSM</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PGD</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Patch</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chemeClr val="tx2"/>
                    </a:solidFill>
                  </a:tcPr>
                </a:tc>
              </a:tr>
              <a:tr h="196596">
                <a:tc>
                  <a:txBody>
                    <a:bodyPr/>
                    <a:lstStyle/>
                    <a:p>
                      <a:pPr algn="l" indent="0" marL="0">
                        <a:buNone/>
                      </a:pPr>
                      <a:r>
                        <a:rPr lang="en-US" sz="1100" b="1" dirty="0">
                          <a:solidFill>
                            <a:schemeClr val="tx1"/>
                          </a:solidFill>
                        </a:rPr>
                        <a:t>Clean</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1"/>
                          </a:solidFill>
                        </a:rPr>
                        <a:t>0.4519</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1"/>
                          </a:solidFill>
                        </a:rPr>
                        <a:t>0.4519</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1"/>
                          </a:solidFill>
                        </a:rPr>
                        <a:t>0.4519</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1"/>
                          </a:solidFill>
                        </a:rPr>
                        <a:t>0.3300</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1"/>
                          </a:solidFill>
                        </a:rPr>
                        <a:t>0.3300</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1"/>
                          </a:solidFill>
                        </a:rPr>
                        <a:t>0.3300</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r>
              <a:tr h="196596">
                <a:tc>
                  <a:txBody>
                    <a:bodyPr/>
                    <a:lstStyle/>
                    <a:p>
                      <a:pPr algn="l" indent="0" marL="0">
                        <a:buNone/>
                      </a:pPr>
                      <a:r>
                        <a:rPr lang="en-US" sz="1100" b="1" dirty="0">
                          <a:solidFill>
                            <a:schemeClr val="tx1"/>
                          </a:solidFill>
                        </a:rPr>
                        <a:t>Attacked</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1"/>
                          </a:solidFill>
                        </a:rPr>
                        <a:t>0.2051</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1"/>
                          </a:solidFill>
                        </a:rPr>
                        <a:t>0.0619</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1"/>
                          </a:solidFill>
                        </a:rPr>
                        <a:t>0.4257</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1"/>
                          </a:solidFill>
                        </a:rPr>
                        <a:t>0.2488</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1"/>
                          </a:solidFill>
                        </a:rPr>
                        <a:t>0.2005</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1"/>
                          </a:solidFill>
                        </a:rPr>
                        <a:t>0.2958</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r>
              <a:tr h="196596">
                <a:tc>
                  <a:txBody>
                    <a:bodyPr/>
                    <a:lstStyle/>
                    <a:p>
                      <a:pPr algn="l" indent="0" marL="0">
                        <a:buNone/>
                      </a:pPr>
                      <a:r>
                        <a:rPr lang="en-US" sz="1100" b="1" dirty="0">
                          <a:solidFill>
                            <a:schemeClr val="tx1"/>
                          </a:solidFill>
                        </a:rPr>
                        <a:t>Median (3×3)</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A8D0CB"/>
                    </a:solidFill>
                  </a:tcPr>
                </a:tc>
                <a:tc>
                  <a:txBody>
                    <a:bodyPr/>
                    <a:lstStyle/>
                    <a:p>
                      <a:pPr algn="ctr" indent="0" marL="0">
                        <a:buNone/>
                      </a:pPr>
                      <a:r>
                        <a:rPr lang="en-US" sz="1100" b="1" dirty="0">
                          <a:solidFill>
                            <a:schemeClr val="tx1"/>
                          </a:solidFill>
                        </a:rPr>
                        <a:t>0.2750</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A8D0CB"/>
                    </a:solidFill>
                  </a:tcPr>
                </a:tc>
                <a:tc>
                  <a:txBody>
                    <a:bodyPr/>
                    <a:lstStyle/>
                    <a:p>
                      <a:pPr algn="ctr" indent="0" marL="0">
                        <a:buNone/>
                      </a:pPr>
                      <a:r>
                        <a:rPr lang="en-US" sz="1100" b="1" dirty="0">
                          <a:solidFill>
                            <a:schemeClr val="tx1"/>
                          </a:solidFill>
                        </a:rPr>
                        <a:t>0.3525</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A8D0CB"/>
                    </a:solidFill>
                  </a:tcPr>
                </a:tc>
                <a:tc>
                  <a:txBody>
                    <a:bodyPr/>
                    <a:lstStyle/>
                    <a:p>
                      <a:pPr algn="ctr" indent="0" marL="0">
                        <a:buNone/>
                      </a:pPr>
                      <a:r>
                        <a:rPr lang="en-US" sz="1100" b="1" dirty="0">
                          <a:solidFill>
                            <a:schemeClr val="tx1"/>
                          </a:solidFill>
                        </a:rPr>
                        <a:t>0.4299</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A8D0CB"/>
                    </a:solidFill>
                  </a:tcPr>
                </a:tc>
                <a:tc>
                  <a:txBody>
                    <a:bodyPr/>
                    <a:lstStyle/>
                    <a:p>
                      <a:pPr algn="ctr" indent="0" marL="0">
                        <a:buNone/>
                      </a:pPr>
                      <a:r>
                        <a:rPr lang="en-US" sz="1100" b="1" dirty="0">
                          <a:solidFill>
                            <a:schemeClr val="tx1"/>
                          </a:solidFill>
                        </a:rPr>
                        <a:t>0.2910</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A8D0CB"/>
                    </a:solidFill>
                  </a:tcPr>
                </a:tc>
                <a:tc>
                  <a:txBody>
                    <a:bodyPr/>
                    <a:lstStyle/>
                    <a:p>
                      <a:pPr algn="ctr" indent="0" marL="0">
                        <a:buNone/>
                      </a:pPr>
                      <a:r>
                        <a:rPr lang="en-US" sz="1100" b="1" dirty="0">
                          <a:solidFill>
                            <a:schemeClr val="tx1"/>
                          </a:solidFill>
                        </a:rPr>
                        <a:t>0.2881</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A8D0CB"/>
                    </a:solidFill>
                  </a:tcPr>
                </a:tc>
                <a:tc>
                  <a:txBody>
                    <a:bodyPr/>
                    <a:lstStyle/>
                    <a:p>
                      <a:pPr algn="ctr" indent="0" marL="0">
                        <a:buNone/>
                      </a:pPr>
                      <a:r>
                        <a:rPr lang="en-US" sz="1100" b="1" dirty="0">
                          <a:solidFill>
                            <a:schemeClr val="tx1"/>
                          </a:solidFill>
                        </a:rPr>
                        <a:t>0.3032</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A8D0CB"/>
                    </a:solidFill>
                  </a:tcPr>
                </a:tc>
              </a:tr>
              <a:tr h="196596">
                <a:tc>
                  <a:txBody>
                    <a:bodyPr/>
                    <a:lstStyle/>
                    <a:p>
                      <a:pPr algn="l" indent="0" marL="0">
                        <a:buNone/>
                      </a:pPr>
                      <a:r>
                        <a:rPr lang="en-US" sz="1100" dirty="0">
                          <a:solidFill>
                            <a:schemeClr val="tx1"/>
                          </a:solidFill>
                        </a:rPr>
                        <a:t>Gaussian (σ = 1)</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0.2948</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0.3871</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0.4261</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0.2621</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0.2625</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0.2719</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r>
              <a:tr h="196596">
                <a:tc>
                  <a:txBody>
                    <a:bodyPr/>
                    <a:lstStyle/>
                    <a:p>
                      <a:pPr algn="l" indent="0" marL="0">
                        <a:buNone/>
                      </a:pPr>
                      <a:r>
                        <a:rPr lang="en-US" sz="1100" dirty="0">
                          <a:solidFill>
                            <a:schemeClr val="tx1"/>
                          </a:solidFill>
                        </a:rPr>
                        <a:t>JPEG (q = 75)</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0.2503</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0.3377</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0.4133</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0.2922</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0.2937</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0.3044</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r>
              <a:tr h="196596">
                <a:tc>
                  <a:txBody>
                    <a:bodyPr/>
                    <a:lstStyle/>
                    <a:p>
                      <a:pPr algn="l" indent="0" marL="0">
                        <a:buNone/>
                      </a:pPr>
                      <a:r>
                        <a:rPr lang="en-US" sz="1100" dirty="0">
                          <a:solidFill>
                            <a:schemeClr val="tx1"/>
                          </a:solidFill>
                        </a:rPr>
                        <a:t>TVM</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0.2757</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0.3847</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0.4017</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0.2440</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0.2410</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0.2494</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r>
              <a:tr h="196596">
                <a:tc>
                  <a:txBody>
                    <a:bodyPr/>
                    <a:lstStyle/>
                    <a:p>
                      <a:pPr algn="l" indent="0" marL="0">
                        <a:buNone/>
                      </a:pPr>
                      <a:r>
                        <a:rPr lang="en-US" sz="1100" dirty="0">
                          <a:solidFill>
                            <a:schemeClr val="tx1"/>
                          </a:solidFill>
                        </a:rPr>
                        <a:t>Blur+TVM</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0.3265</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0.3815</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0.3840</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0.2467</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0.2457</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0.2437</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r>
              <a:tr h="196596">
                <a:tc>
                  <a:txBody>
                    <a:bodyPr/>
                    <a:lstStyle/>
                    <a:p>
                      <a:pPr algn="l" indent="0" marL="0">
                        <a:buNone/>
                      </a:pPr>
                      <a:r>
                        <a:rPr lang="en-US" sz="1100" dirty="0">
                          <a:solidFill>
                            <a:schemeClr val="tx1"/>
                          </a:solidFill>
                        </a:rPr>
                        <a:t>Bilateral</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0.2268</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0.3024</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0.4206</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0.2938</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0.2956</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0.3165</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r>
              <a:tr h="196596">
                <a:tc>
                  <a:txBody>
                    <a:bodyPr/>
                    <a:lstStyle/>
                    <a:p>
                      <a:pPr algn="l" indent="0" marL="0">
                        <a:buNone/>
                      </a:pPr>
                      <a:r>
                        <a:rPr lang="en-US" sz="1100" dirty="0">
                          <a:solidFill>
                            <a:schemeClr val="tx1"/>
                          </a:solidFill>
                        </a:rPr>
                        <a:t>Anisotropic diff.</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0.2151</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0.3006</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0.4085</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0.2855</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0.2856</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0.3028</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r>
              <a:tr h="196596">
                <a:tc>
                  <a:txBody>
                    <a:bodyPr/>
                    <a:lstStyle/>
                    <a:p>
                      <a:pPr algn="l" indent="0" marL="0">
                        <a:buNone/>
                      </a:pPr>
                      <a:r>
                        <a:rPr lang="en-US" sz="1100" dirty="0">
                          <a:solidFill>
                            <a:schemeClr val="tx1"/>
                          </a:solidFill>
                        </a:rPr>
                        <a:t>Dithering</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0.2191</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0.1581</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0.4139</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0.2610</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0.2529</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0.2852</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r>
              <a:tr h="196596">
                <a:tc>
                  <a:txBody>
                    <a:bodyPr/>
                    <a:lstStyle/>
                    <a:p>
                      <a:pPr algn="l" indent="0" marL="0">
                        <a:buNone/>
                      </a:pPr>
                      <a:r>
                        <a:rPr lang="en-US" sz="1100" dirty="0">
                          <a:solidFill>
                            <a:schemeClr val="tx1"/>
                          </a:solidFill>
                        </a:rPr>
                        <a:t>SVD (low-rank)</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0.2055</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0.0638</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0.4259</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0.2462</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0.1990</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0.2920</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r>
              <a:tr h="196596">
                <a:tc>
                  <a:txBody>
                    <a:bodyPr/>
                    <a:lstStyle/>
                    <a:p>
                      <a:pPr algn="l" indent="0" marL="0">
                        <a:buNone/>
                      </a:pPr>
                      <a:r>
                        <a:rPr lang="en-US" sz="1100" dirty="0">
                          <a:solidFill>
                            <a:schemeClr val="tx1"/>
                          </a:solidFill>
                        </a:rPr>
                        <a:t>Bit-depth (4-bit)</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0.2189</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0.1382</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0.4150</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0.2321</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0.2191</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0.2477</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r>
              <a:tr h="196596">
                <a:tc>
                  <a:txBody>
                    <a:bodyPr/>
                    <a:lstStyle/>
                    <a:p>
                      <a:pPr algn="l" indent="0" marL="0">
                        <a:buNone/>
                      </a:pPr>
                      <a:r>
                        <a:rPr lang="en-US" sz="1100" dirty="0">
                          <a:solidFill>
                            <a:schemeClr val="tx1"/>
                          </a:solidFill>
                        </a:rPr>
                        <a:t>NLM</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0.2018</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0.1793</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0.4225</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0.2420</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0.2058</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0.2791</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r>
              <a:tr h="196596">
                <a:tc>
                  <a:txBody>
                    <a:bodyPr/>
                    <a:lstStyle/>
                    <a:p>
                      <a:pPr algn="l" indent="0" marL="0">
                        <a:buNone/>
                      </a:pPr>
                      <a:r>
                        <a:rPr lang="en-US" sz="1100" dirty="0">
                          <a:solidFill>
                            <a:schemeClr val="tx1"/>
                          </a:solidFill>
                        </a:rPr>
                        <a:t>Ens4W</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100" dirty="0">
                          <a:solidFill>
                            <a:schemeClr val="tx1"/>
                          </a:solidFill>
                        </a:rPr>
                        <a:t>0.2896</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100" dirty="0">
                          <a:solidFill>
                            <a:schemeClr val="tx1"/>
                          </a:solidFill>
                        </a:rPr>
                        <a:t>0.3969</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100" dirty="0">
                          <a:solidFill>
                            <a:schemeClr val="tx1"/>
                          </a:solidFill>
                        </a:rPr>
                        <a:t>0.4358</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100" dirty="0">
                          <a:solidFill>
                            <a:schemeClr val="tx1"/>
                          </a:solidFill>
                        </a:rPr>
                        <a:t>0.2897</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100" dirty="0">
                          <a:solidFill>
                            <a:schemeClr val="tx1"/>
                          </a:solidFill>
                        </a:rPr>
                        <a:t>0.2927</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100" dirty="0">
                          <a:solidFill>
                            <a:schemeClr val="tx1"/>
                          </a:solidFill>
                        </a:rPr>
                        <a:t>0.3016</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r>
              <a:tr h="196596">
                <a:tc>
                  <a:txBody>
                    <a:bodyPr/>
                    <a:lstStyle/>
                    <a:p>
                      <a:pPr algn="l" indent="0" marL="0">
                        <a:buNone/>
                      </a:pPr>
                      <a:r>
                        <a:rPr lang="en-US" sz="1100" dirty="0">
                          <a:solidFill>
                            <a:schemeClr val="tx1"/>
                          </a:solidFill>
                        </a:rPr>
                        <a:t>EnsBTC</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100" dirty="0">
                          <a:solidFill>
                            <a:schemeClr val="tx1"/>
                          </a:solidFill>
                        </a:rPr>
                        <a:t>0.3134</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100" dirty="0">
                          <a:solidFill>
                            <a:schemeClr val="tx1"/>
                          </a:solidFill>
                        </a:rPr>
                        <a:t>0.3931</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100" dirty="0">
                          <a:solidFill>
                            <a:schemeClr val="tx1"/>
                          </a:solidFill>
                        </a:rPr>
                        <a:t>0.4317</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100" dirty="0">
                          <a:solidFill>
                            <a:schemeClr val="tx1"/>
                          </a:solidFill>
                        </a:rPr>
                        <a:t>0.2915</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100" dirty="0">
                          <a:solidFill>
                            <a:schemeClr val="tx1"/>
                          </a:solidFill>
                        </a:rPr>
                        <a:t>0.2955</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100" dirty="0">
                          <a:solidFill>
                            <a:schemeClr val="tx1"/>
                          </a:solidFill>
                        </a:rPr>
                        <a:t>0.3014</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r>
              <a:tr h="196596">
                <a:tc>
                  <a:txBody>
                    <a:bodyPr/>
                    <a:lstStyle/>
                    <a:p>
                      <a:pPr algn="l" indent="0" marL="0">
                        <a:buNone/>
                      </a:pPr>
                      <a:r>
                        <a:rPr lang="en-US" sz="1100" dirty="0">
                          <a:solidFill>
                            <a:schemeClr val="tx1"/>
                          </a:solidFill>
                        </a:rPr>
                        <a:t>EnsJMT</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100" dirty="0">
                          <a:solidFill>
                            <a:schemeClr val="tx1"/>
                          </a:solidFill>
                        </a:rPr>
                        <a:t>0.2832</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100" dirty="0">
                          <a:solidFill>
                            <a:schemeClr val="tx1"/>
                          </a:solidFill>
                        </a:rPr>
                        <a:t>0.3902</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100" dirty="0">
                          <a:solidFill>
                            <a:schemeClr val="tx1"/>
                          </a:solidFill>
                        </a:rPr>
                        <a:t>0.4347</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100" dirty="0">
                          <a:solidFill>
                            <a:schemeClr val="tx1"/>
                          </a:solidFill>
                        </a:rPr>
                        <a:t>0.2931</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100" dirty="0">
                          <a:solidFill>
                            <a:schemeClr val="tx1"/>
                          </a:solidFill>
                        </a:rPr>
                        <a:t>0.2961</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100" dirty="0">
                          <a:solidFill>
                            <a:schemeClr val="tx1"/>
                          </a:solidFill>
                        </a:rPr>
                        <a:t>0.3051</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r>
              <a:tr h="196596">
                <a:tc>
                  <a:txBody>
                    <a:bodyPr/>
                    <a:lstStyle/>
                    <a:p>
                      <a:pPr algn="l" indent="0" marL="0">
                        <a:buNone/>
                      </a:pPr>
                      <a:r>
                        <a:rPr lang="en-US" sz="1100" dirty="0">
                          <a:solidFill>
                            <a:schemeClr val="tx1"/>
                          </a:solidFill>
                        </a:rPr>
                        <a:t>EnsBMT</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100" dirty="0">
                          <a:solidFill>
                            <a:schemeClr val="tx1"/>
                          </a:solidFill>
                        </a:rPr>
                        <a:t>0.2739</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100" dirty="0">
                          <a:solidFill>
                            <a:schemeClr val="tx1"/>
                          </a:solidFill>
                        </a:rPr>
                        <a:t>0.3857</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100" dirty="0">
                          <a:solidFill>
                            <a:schemeClr val="tx1"/>
                          </a:solidFill>
                        </a:rPr>
                        <a:t>0.4347</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100" dirty="0">
                          <a:solidFill>
                            <a:schemeClr val="tx1"/>
                          </a:solidFill>
                        </a:rPr>
                        <a:t>0.2931</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100" dirty="0">
                          <a:solidFill>
                            <a:schemeClr val="tx1"/>
                          </a:solidFill>
                        </a:rPr>
                        <a:t>0.2938</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100" dirty="0">
                          <a:solidFill>
                            <a:schemeClr val="tx1"/>
                          </a:solidFill>
                        </a:rPr>
                        <a:t>0.3099</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r>
              <a:tr h="196596">
                <a:tc>
                  <a:txBody>
                    <a:bodyPr/>
                    <a:lstStyle/>
                    <a:p>
                      <a:pPr algn="l" indent="0" marL="0">
                        <a:buNone/>
                      </a:pPr>
                      <a:r>
                        <a:rPr lang="en-US" sz="1100" b="1" dirty="0">
                          <a:solidFill>
                            <a:schemeClr val="tx1"/>
                          </a:solidFill>
                        </a:rPr>
                        <a:t>EnsJMG</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A8D0CB"/>
                    </a:solidFill>
                  </a:tcPr>
                </a:tc>
                <a:tc>
                  <a:txBody>
                    <a:bodyPr/>
                    <a:lstStyle/>
                    <a:p>
                      <a:pPr algn="ctr" indent="0" marL="0">
                        <a:buNone/>
                      </a:pPr>
                      <a:r>
                        <a:rPr lang="en-US" sz="1100" b="1" dirty="0">
                          <a:solidFill>
                            <a:schemeClr val="tx1"/>
                          </a:solidFill>
                        </a:rPr>
                        <a:t>0.2882</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A8D0CB"/>
                    </a:solidFill>
                  </a:tcPr>
                </a:tc>
                <a:tc>
                  <a:txBody>
                    <a:bodyPr/>
                    <a:lstStyle/>
                    <a:p>
                      <a:pPr algn="ctr" indent="0" marL="0">
                        <a:buNone/>
                      </a:pPr>
                      <a:r>
                        <a:rPr lang="en-US" sz="1100" b="1" dirty="0">
                          <a:solidFill>
                            <a:schemeClr val="tx1"/>
                          </a:solidFill>
                        </a:rPr>
                        <a:t>0.3853</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A8D0CB"/>
                    </a:solidFill>
                  </a:tcPr>
                </a:tc>
                <a:tc>
                  <a:txBody>
                    <a:bodyPr/>
                    <a:lstStyle/>
                    <a:p>
                      <a:pPr algn="ctr" indent="0" marL="0">
                        <a:buNone/>
                      </a:pPr>
                      <a:r>
                        <a:rPr lang="en-US" sz="1100" b="1" dirty="0">
                          <a:solidFill>
                            <a:schemeClr val="tx1"/>
                          </a:solidFill>
                        </a:rPr>
                        <a:t>0.4366</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A8D0CB"/>
                    </a:solidFill>
                  </a:tcPr>
                </a:tc>
                <a:tc>
                  <a:txBody>
                    <a:bodyPr/>
                    <a:lstStyle/>
                    <a:p>
                      <a:pPr algn="ctr" indent="0" marL="0">
                        <a:buNone/>
                      </a:pPr>
                      <a:r>
                        <a:rPr lang="en-US" sz="1100" b="1" dirty="0">
                          <a:solidFill>
                            <a:schemeClr val="tx1"/>
                          </a:solidFill>
                        </a:rPr>
                        <a:t>0.2934</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A8D0CB"/>
                    </a:solidFill>
                  </a:tcPr>
                </a:tc>
                <a:tc>
                  <a:txBody>
                    <a:bodyPr/>
                    <a:lstStyle/>
                    <a:p>
                      <a:pPr algn="ctr" indent="0" marL="0">
                        <a:buNone/>
                      </a:pPr>
                      <a:r>
                        <a:rPr lang="en-US" sz="1100" b="1" dirty="0">
                          <a:solidFill>
                            <a:schemeClr val="tx1"/>
                          </a:solidFill>
                        </a:rPr>
                        <a:t>0.2957</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A8D0CB"/>
                    </a:solidFill>
                  </a:tcPr>
                </a:tc>
                <a:tc>
                  <a:txBody>
                    <a:bodyPr/>
                    <a:lstStyle/>
                    <a:p>
                      <a:pPr algn="ctr" indent="0" marL="0">
                        <a:buNone/>
                      </a:pPr>
                      <a:r>
                        <a:rPr lang="en-US" sz="1100" b="1" dirty="0">
                          <a:solidFill>
                            <a:schemeClr val="tx1"/>
                          </a:solidFill>
                        </a:rPr>
                        <a:t>0.3057</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A8D0CB"/>
                    </a:solidFill>
                  </a:tcPr>
                </a:tc>
              </a:tr>
              <a:tr h="196596">
                <a:tc>
                  <a:txBody>
                    <a:bodyPr/>
                    <a:lstStyle/>
                    <a:p>
                      <a:pPr algn="l" indent="0" marL="0">
                        <a:buNone/>
                      </a:pPr>
                      <a:r>
                        <a:rPr lang="en-US" sz="1100" dirty="0">
                          <a:solidFill>
                            <a:schemeClr val="tx1"/>
                          </a:solidFill>
                        </a:rPr>
                        <a:t>EnsJBT</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100" dirty="0">
                          <a:solidFill>
                            <a:schemeClr val="tx1"/>
                          </a:solidFill>
                        </a:rPr>
                        <a:t>0.2664</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100" dirty="0">
                          <a:solidFill>
                            <a:schemeClr val="tx1"/>
                          </a:solidFill>
                        </a:rPr>
                        <a:t>0.3834</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100" dirty="0">
                          <a:solidFill>
                            <a:schemeClr val="tx1"/>
                          </a:solidFill>
                        </a:rPr>
                        <a:t>0.4298</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100" dirty="0">
                          <a:solidFill>
                            <a:schemeClr val="tx1"/>
                          </a:solidFill>
                        </a:rPr>
                        <a:t>0.2942</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100" dirty="0">
                          <a:solidFill>
                            <a:schemeClr val="tx1"/>
                          </a:solidFill>
                        </a:rPr>
                        <a:t>0.2953</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100" dirty="0">
                          <a:solidFill>
                            <a:schemeClr val="tx1"/>
                          </a:solidFill>
                        </a:rPr>
                        <a:t>0.3105</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r>
              <a:tr h="196596">
                <a:tc>
                  <a:txBody>
                    <a:bodyPr/>
                    <a:lstStyle/>
                    <a:p>
                      <a:pPr algn="l" indent="0" marL="0">
                        <a:buNone/>
                      </a:pPr>
                      <a:r>
                        <a:rPr lang="en-US" sz="1100" dirty="0">
                          <a:solidFill>
                            <a:schemeClr val="tx1"/>
                          </a:solidFill>
                        </a:rPr>
                        <a:t>EnsJTS</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100" dirty="0">
                          <a:solidFill>
                            <a:schemeClr val="tx1"/>
                          </a:solidFill>
                        </a:rPr>
                        <a:t>0.2617</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100" dirty="0">
                          <a:solidFill>
                            <a:schemeClr val="tx1"/>
                          </a:solidFill>
                        </a:rPr>
                        <a:t>0.3751</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100" dirty="0">
                          <a:solidFill>
                            <a:schemeClr val="tx1"/>
                          </a:solidFill>
                        </a:rPr>
                        <a:t>0.4333</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100" dirty="0">
                          <a:solidFill>
                            <a:schemeClr val="tx1"/>
                          </a:solidFill>
                        </a:rPr>
                        <a:t>0.2792</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100" dirty="0">
                          <a:solidFill>
                            <a:schemeClr val="tx1"/>
                          </a:solidFill>
                        </a:rPr>
                        <a:t>0.2745</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100" dirty="0">
                          <a:solidFill>
                            <a:schemeClr val="tx1"/>
                          </a:solidFill>
                        </a:rPr>
                        <a:t>0.2994</a:t>
                      </a:r>
                      <a:endParaRPr lang="en-US" sz="11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r>
            </a:tbl>
          </a:graphicData>
        </a:graphic>
      </p:graphicFrame>
      <p:sp>
        <p:nvSpPr>
          <p:cNvPr id="5" name="Text 2"/>
          <p:cNvSpPr txBox="1"/>
          <p:nvPr/>
        </p:nvSpPr>
        <p:spPr>
          <a:xfrm>
            <a:off x="548640" y="5833872"/>
            <a:ext cx="11094415" cy="411480"/>
          </a:xfrm>
          <a:prstGeom prst="rect">
            <a:avLst/>
          </a:prstGeom>
          <a:noFill/>
          <a:ln/>
        </p:spPr>
        <p:txBody>
          <a:bodyPr wrap="square" lIns="0" tIns="0" rIns="0" bIns="0" rtlCol="0" anchor="t"/>
          <a:lstStyle/>
          <a:p>
            <a:pPr indent="0" marL="0">
              <a:buNone/>
            </a:pPr>
            <a:r>
              <a:rPr lang="en-US" sz="1000" dirty="0">
                <a:solidFill>
                  <a:schemeClr val="accent4"/>
                </a:solidFill>
              </a:rPr>
              <a:t>Highlighted: Median, EnsJMG; ensembles shaded. Random Resize omitted (it rescales the image, so its boxes are not comparable); BM3D was run on OCR only.</a:t>
            </a:r>
            <a:endParaRPr lang="en-US" sz="1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BACKUP</a:t>
            </a:r>
            <a:endParaRPr lang="en-US" sz="1200" dirty="0"/>
          </a:p>
        </p:txBody>
      </p:sp>
      <p:sp>
        <p:nvSpPr>
          <p:cNvPr id="3" name="Text 0"/>
          <p:cNvSpPr/>
          <p:nvPr>
            <p:ph idx="101"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Full OCR results (Florence-2), N = 5,000</a:t>
            </a:r>
            <a:endParaRPr lang="en-US" sz="3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130552"/>
                <a:gridCol w="1143000"/>
                <a:gridCol w="1143000"/>
                <a:gridCol w="1143000"/>
                <a:gridCol w="2130552"/>
                <a:gridCol w="1143000"/>
                <a:gridCol w="1143000"/>
                <a:gridCol w="1143000"/>
              </a:tblGrid>
              <a:tr h="274320">
                <a:tc>
                  <a:txBody>
                    <a:bodyPr/>
                    <a:lstStyle/>
                    <a:p>
                      <a:pPr algn="l" indent="0" marL="0">
                        <a:buNone/>
                      </a:pPr>
                      <a:r>
                        <a:rPr lang="en-US" sz="1200" b="1" dirty="0">
                          <a:solidFill>
                            <a:schemeClr val="bg1"/>
                          </a:solidFill>
                        </a:rPr>
                        <a:t>Defense</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FGSM</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PGD</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Patch</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chemeClr val="tx2"/>
                    </a:solidFill>
                  </a:tcPr>
                </a:tc>
                <a:tc>
                  <a:txBody>
                    <a:bodyPr/>
                    <a:lstStyle/>
                    <a:p>
                      <a:pPr algn="l" indent="0" marL="0">
                        <a:buNone/>
                      </a:pPr>
                      <a:r>
                        <a:rPr lang="en-US" sz="1200" b="1" dirty="0">
                          <a:solidFill>
                            <a:schemeClr val="bg1"/>
                          </a:solidFill>
                        </a:rPr>
                        <a:t>Defense</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FGSM</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PGD</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Patch</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chemeClr val="tx2"/>
                    </a:solidFill>
                  </a:tcPr>
                </a:tc>
              </a:tr>
              <a:tr h="274320">
                <a:tc>
                  <a:txBody>
                    <a:bodyPr/>
                    <a:lstStyle/>
                    <a:p>
                      <a:pPr indent="0" marL="0">
                        <a:buNone/>
                      </a:pPr>
                      <a:r>
                        <a:rPr lang="en-US" sz="1200" b="1" dirty="0">
                          <a:solidFill>
                            <a:schemeClr val="tx1"/>
                          </a:solidFill>
                        </a:rPr>
                        <a:t>Attacked</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200" b="1" dirty="0">
                          <a:solidFill>
                            <a:schemeClr val="tx1"/>
                          </a:solidFill>
                        </a:rPr>
                        <a:t>0.346</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200" b="1" dirty="0">
                          <a:solidFill>
                            <a:schemeClr val="tx1"/>
                          </a:solidFill>
                        </a:rPr>
                        <a:t>0.294</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200" b="1" dirty="0">
                          <a:solidFill>
                            <a:schemeClr val="tx1"/>
                          </a:solidFill>
                        </a:rPr>
                        <a:t>0.383</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EnsJBT</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200" dirty="0">
                          <a:solidFill>
                            <a:schemeClr val="tx1"/>
                          </a:solidFill>
                        </a:rPr>
                        <a:t>0.537</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200" dirty="0">
                          <a:solidFill>
                            <a:schemeClr val="tx1"/>
                          </a:solidFill>
                        </a:rPr>
                        <a:t>0.661</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200" dirty="0">
                          <a:solidFill>
                            <a:schemeClr val="tx1"/>
                          </a:solidFill>
                        </a:rPr>
                        <a:t>0.401</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r>
              <a:tr h="274320">
                <a:tc>
                  <a:txBody>
                    <a:bodyPr/>
                    <a:lstStyle/>
                    <a:p>
                      <a:pPr indent="0" marL="0">
                        <a:buNone/>
                      </a:pPr>
                      <a:r>
                        <a:rPr lang="en-US" sz="1200" dirty="0">
                          <a:solidFill>
                            <a:schemeClr val="tx1"/>
                          </a:solidFill>
                        </a:rPr>
                        <a:t>TVM</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0.598</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0.654</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0.406</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Ens4W</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200" dirty="0">
                          <a:solidFill>
                            <a:schemeClr val="tx1"/>
                          </a:solidFill>
                        </a:rPr>
                        <a:t>0.561</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200" dirty="0">
                          <a:solidFill>
                            <a:schemeClr val="tx1"/>
                          </a:solidFill>
                        </a:rPr>
                        <a:t>0.652</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200" dirty="0">
                          <a:solidFill>
                            <a:schemeClr val="tx1"/>
                          </a:solidFill>
                        </a:rPr>
                        <a:t>0.566</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r>
              <a:tr h="274320">
                <a:tc>
                  <a:txBody>
                    <a:bodyPr/>
                    <a:lstStyle/>
                    <a:p>
                      <a:pPr indent="0" marL="0">
                        <a:buNone/>
                      </a:pPr>
                      <a:r>
                        <a:rPr lang="en-US" sz="1200" dirty="0">
                          <a:solidFill>
                            <a:schemeClr val="tx1"/>
                          </a:solidFill>
                        </a:rPr>
                        <a:t>Bilateral</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0.482</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0.637</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0.380</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EnsBMT</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200" dirty="0">
                          <a:solidFill>
                            <a:schemeClr val="tx1"/>
                          </a:solidFill>
                        </a:rPr>
                        <a:t>0.530</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200" dirty="0">
                          <a:solidFill>
                            <a:schemeClr val="tx1"/>
                          </a:solidFill>
                        </a:rPr>
                        <a:t>0.651</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200" dirty="0">
                          <a:solidFill>
                            <a:schemeClr val="tx1"/>
                          </a:solidFill>
                        </a:rPr>
                        <a:t>0.427</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r>
              <a:tr h="274320">
                <a:tc>
                  <a:txBody>
                    <a:bodyPr/>
                    <a:lstStyle/>
                    <a:p>
                      <a:pPr indent="0" marL="0">
                        <a:buNone/>
                      </a:pPr>
                      <a:r>
                        <a:rPr lang="en-US" sz="1200" dirty="0">
                          <a:solidFill>
                            <a:schemeClr val="tx1"/>
                          </a:solidFill>
                        </a:rPr>
                        <a:t>Anisotropic diff.</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0.507</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0.630</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0.372</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EnsJMT</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200" dirty="0">
                          <a:solidFill>
                            <a:schemeClr val="tx1"/>
                          </a:solidFill>
                        </a:rPr>
                        <a:t>0.555</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200" dirty="0">
                          <a:solidFill>
                            <a:schemeClr val="tx1"/>
                          </a:solidFill>
                        </a:rPr>
                        <a:t>0.649</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200" dirty="0">
                          <a:solidFill>
                            <a:schemeClr val="tx1"/>
                          </a:solidFill>
                        </a:rPr>
                        <a:t>0.442</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r>
              <a:tr h="274320">
                <a:tc>
                  <a:txBody>
                    <a:bodyPr/>
                    <a:lstStyle/>
                    <a:p>
                      <a:pPr indent="0" marL="0">
                        <a:buNone/>
                      </a:pPr>
                      <a:r>
                        <a:rPr lang="en-US" sz="1200" dirty="0">
                          <a:solidFill>
                            <a:schemeClr val="tx1"/>
                          </a:solidFill>
                        </a:rPr>
                        <a:t>JPEG (q = 75)</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0.522</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0.616</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0.407</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EnsJMG</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200" dirty="0">
                          <a:solidFill>
                            <a:schemeClr val="tx1"/>
                          </a:solidFill>
                        </a:rPr>
                        <a:t>0.522</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200" dirty="0">
                          <a:solidFill>
                            <a:schemeClr val="tx1"/>
                          </a:solidFill>
                        </a:rPr>
                        <a:t>0.620</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200" dirty="0">
                          <a:solidFill>
                            <a:schemeClr val="tx1"/>
                          </a:solidFill>
                        </a:rPr>
                        <a:t>0.578</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r>
              <a:tr h="274320">
                <a:tc>
                  <a:txBody>
                    <a:bodyPr/>
                    <a:lstStyle/>
                    <a:p>
                      <a:pPr indent="0" marL="0">
                        <a:buNone/>
                      </a:pPr>
                      <a:r>
                        <a:rPr lang="en-US" sz="1200" dirty="0">
                          <a:solidFill>
                            <a:schemeClr val="tx1"/>
                          </a:solidFill>
                        </a:rPr>
                        <a:t>Gaussian (σ = 1)</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0.535</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0.609</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0.572</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EnsBTC</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200" dirty="0">
                          <a:solidFill>
                            <a:schemeClr val="tx1"/>
                          </a:solidFill>
                        </a:rPr>
                        <a:t>0.502</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200" dirty="0">
                          <a:solidFill>
                            <a:schemeClr val="tx1"/>
                          </a:solidFill>
                        </a:rPr>
                        <a:t>0.586</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200" dirty="0">
                          <a:solidFill>
                            <a:schemeClr val="tx1"/>
                          </a:solidFill>
                        </a:rPr>
                        <a:t>0.550</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r>
              <a:tr h="274320">
                <a:tc>
                  <a:txBody>
                    <a:bodyPr/>
                    <a:lstStyle/>
                    <a:p>
                      <a:pPr indent="0" marL="0">
                        <a:buNone/>
                      </a:pPr>
                      <a:r>
                        <a:rPr lang="en-US" sz="1200" dirty="0">
                          <a:solidFill>
                            <a:schemeClr val="tx1"/>
                          </a:solidFill>
                        </a:rPr>
                        <a:t>BM3D</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0.569</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0.598</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0.360</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EnsJTS</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200" dirty="0">
                          <a:solidFill>
                            <a:schemeClr val="tx1"/>
                          </a:solidFill>
                        </a:rPr>
                        <a:t>0.507</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200" dirty="0">
                          <a:solidFill>
                            <a:schemeClr val="tx1"/>
                          </a:solidFill>
                        </a:rPr>
                        <a:t>0.580</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200" dirty="0">
                          <a:solidFill>
                            <a:schemeClr val="tx1"/>
                          </a:solidFill>
                        </a:rPr>
                        <a:t>0.405</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r>
              <a:tr h="274320">
                <a:tc>
                  <a:txBody>
                    <a:bodyPr/>
                    <a:lstStyle/>
                    <a:p>
                      <a:pPr indent="0" marL="0">
                        <a:buNone/>
                      </a:pPr>
                      <a:r>
                        <a:rPr lang="en-US" sz="1200" dirty="0">
                          <a:solidFill>
                            <a:schemeClr val="tx1"/>
                          </a:solidFill>
                        </a:rPr>
                        <a:t>Random Resize</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0.532</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0.584</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0.567</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indent="0" marL="0">
                        <a:buNone/>
                      </a:pP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indent="0" marL="0">
                        <a:buNone/>
                      </a:pP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indent="0" marL="0">
                        <a:buNone/>
                      </a:pP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indent="0" marL="0">
                        <a:buNone/>
                      </a:pP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r>
              <a:tr h="274320">
                <a:tc>
                  <a:txBody>
                    <a:bodyPr/>
                    <a:lstStyle/>
                    <a:p>
                      <a:pPr indent="0" marL="0">
                        <a:buNone/>
                      </a:pPr>
                      <a:r>
                        <a:rPr lang="en-US" sz="1200" dirty="0">
                          <a:solidFill>
                            <a:schemeClr val="tx1"/>
                          </a:solidFill>
                        </a:rPr>
                        <a:t>Median (3×3)</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0.452</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0.546</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0.581</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indent="0" marL="0">
                        <a:buNone/>
                      </a:pP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indent="0" marL="0">
                        <a:buNone/>
                      </a:pP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indent="0" marL="0">
                        <a:buNone/>
                      </a:pP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indent="0" marL="0">
                        <a:buNone/>
                      </a:pP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r>
              <a:tr h="274320">
                <a:tc>
                  <a:txBody>
                    <a:bodyPr/>
                    <a:lstStyle/>
                    <a:p>
                      <a:pPr indent="0" marL="0">
                        <a:buNone/>
                      </a:pPr>
                      <a:r>
                        <a:rPr lang="en-US" sz="1200" dirty="0">
                          <a:solidFill>
                            <a:schemeClr val="tx1"/>
                          </a:solidFill>
                        </a:rPr>
                        <a:t>Bit-depth (4-bit)</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0.445</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0.521</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0.349</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indent="0" marL="0">
                        <a:buNone/>
                      </a:pP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indent="0" marL="0">
                        <a:buNone/>
                      </a:pP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indent="0" marL="0">
                        <a:buNone/>
                      </a:pP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indent="0" marL="0">
                        <a:buNone/>
                      </a:pP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r>
              <a:tr h="274320">
                <a:tc>
                  <a:txBody>
                    <a:bodyPr/>
                    <a:lstStyle/>
                    <a:p>
                      <a:pPr indent="0" marL="0">
                        <a:buNone/>
                      </a:pPr>
                      <a:r>
                        <a:rPr lang="en-US" sz="1200" dirty="0">
                          <a:solidFill>
                            <a:schemeClr val="tx1"/>
                          </a:solidFill>
                        </a:rPr>
                        <a:t>Dithering</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0.437</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0.516</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0.343</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indent="0" marL="0">
                        <a:buNone/>
                      </a:pP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indent="0" marL="0">
                        <a:buNone/>
                      </a:pP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indent="0" marL="0">
                        <a:buNone/>
                      </a:pP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indent="0" marL="0">
                        <a:buNone/>
                      </a:pP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r>
              <a:tr h="274320">
                <a:tc>
                  <a:txBody>
                    <a:bodyPr/>
                    <a:lstStyle/>
                    <a:p>
                      <a:pPr indent="0" marL="0">
                        <a:buNone/>
                      </a:pPr>
                      <a:r>
                        <a:rPr lang="en-US" sz="1200" dirty="0">
                          <a:solidFill>
                            <a:schemeClr val="tx1"/>
                          </a:solidFill>
                        </a:rPr>
                        <a:t>Blur+TVM</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0.470</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0.487</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0.477</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indent="0" marL="0">
                        <a:buNone/>
                      </a:pP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indent="0" marL="0">
                        <a:buNone/>
                      </a:pP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indent="0" marL="0">
                        <a:buNone/>
                      </a:pP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indent="0" marL="0">
                        <a:buNone/>
                      </a:pP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r>
              <a:tr h="274320">
                <a:tc>
                  <a:txBody>
                    <a:bodyPr/>
                    <a:lstStyle/>
                    <a:p>
                      <a:pPr indent="0" marL="0">
                        <a:buNone/>
                      </a:pPr>
                      <a:r>
                        <a:rPr lang="en-US" sz="1200" dirty="0">
                          <a:solidFill>
                            <a:schemeClr val="tx1"/>
                          </a:solidFill>
                        </a:rPr>
                        <a:t>NLM</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0.367</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0.383</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0.367</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indent="0" marL="0">
                        <a:buNone/>
                      </a:pP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indent="0" marL="0">
                        <a:buNone/>
                      </a:pP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indent="0" marL="0">
                        <a:buNone/>
                      </a:pP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indent="0" marL="0">
                        <a:buNone/>
                      </a:pP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r>
              <a:tr h="274320">
                <a:tc>
                  <a:txBody>
                    <a:bodyPr/>
                    <a:lstStyle/>
                    <a:p>
                      <a:pPr indent="0" marL="0">
                        <a:buNone/>
                      </a:pPr>
                      <a:r>
                        <a:rPr lang="en-US" sz="1200" dirty="0">
                          <a:solidFill>
                            <a:schemeClr val="tx1"/>
                          </a:solidFill>
                        </a:rPr>
                        <a:t>SVD (low-rank)</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0.350</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0.309</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0.385</a:t>
                      </a: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indent="0" marL="0">
                        <a:buNone/>
                      </a:pP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indent="0" marL="0">
                        <a:buNone/>
                      </a:pP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indent="0" marL="0">
                        <a:buNone/>
                      </a:pP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c>
                  <a:txBody>
                    <a:bodyPr/>
                    <a:lstStyle/>
                    <a:p>
                      <a:pPr indent="0" marL="0">
                        <a:buNone/>
                      </a:pPr>
                      <a:endParaRPr lang="en-US" sz="1200" dirty="0"/>
                    </a:p>
                  </a:txBody>
                  <a:tcPr marL="73152" marR="73152" marT="9144" marB="9144"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833872"/>
            <a:ext cx="11094415" cy="411480"/>
          </a:xfrm>
          <a:prstGeom prst="rect">
            <a:avLst/>
          </a:prstGeom>
          <a:noFill/>
          <a:ln/>
        </p:spPr>
        <p:txBody>
          <a:bodyPr wrap="square" lIns="0" tIns="0" rIns="0" bIns="0" rtlCol="0" anchor="t"/>
          <a:lstStyle/>
          <a:p>
            <a:pPr indent="0" marL="0">
              <a:buNone/>
            </a:pPr>
            <a:r>
              <a:rPr lang="en-US" sz="1000" dirty="0">
                <a:solidFill>
                  <a:schemeClr val="accent4"/>
                </a:solidFill>
              </a:rPr>
              <a:t>Similarity of the OCR text to the model's own clean output (character-level; clean = 1.0 by construction). Sorted by PGD. Left: filters; right: ensembles.</a:t>
            </a:r>
            <a:endParaRPr lang="en-US" sz="1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BACKUP</a:t>
            </a:r>
            <a:endParaRPr lang="en-US" sz="1200" dirty="0"/>
          </a:p>
        </p:txBody>
      </p:sp>
      <p:sp>
        <p:nvSpPr>
          <p:cNvPr id="3" name="Text 0"/>
          <p:cNvSpPr/>
          <p:nvPr>
            <p:ph idx="101"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Is the ensemble worth 3× compute over Median?</a:t>
            </a:r>
            <a:endParaRPr lang="en-US" sz="3200" dirty="0"/>
          </a:p>
        </p:txBody>
      </p:sp>
      <p:sp>
        <p:nvSpPr>
          <p:cNvPr id="4" name="Text 2"/>
          <p:cNvSpPr txBox="1"/>
          <p:nvPr/>
        </p:nvSpPr>
        <p:spPr>
          <a:xfrm>
            <a:off x="548640" y="1417320"/>
            <a:ext cx="8046720" cy="320040"/>
          </a:xfrm>
          <a:prstGeom prst="rect">
            <a:avLst/>
          </a:prstGeom>
          <a:noFill/>
          <a:ln/>
        </p:spPr>
        <p:txBody>
          <a:bodyPr wrap="square" lIns="0" tIns="0" rIns="0" bIns="0" rtlCol="0" anchor="t"/>
          <a:lstStyle/>
          <a:p>
            <a:pPr indent="0" marL="0">
              <a:buNone/>
            </a:pPr>
            <a:r>
              <a:rPr lang="en-US" sz="1500" b="1" dirty="0">
                <a:solidFill>
                  <a:schemeClr val="tx1"/>
                </a:solidFill>
              </a:rPr>
              <a:t>Best ensemble minus Median, mAP with 95% CI</a:t>
            </a:r>
            <a:endParaRPr lang="en-US" sz="1500" dirty="0"/>
          </a:p>
        </p:txBody>
      </p:sp>
      <p:sp>
        <p:nvSpPr>
          <p:cNvPr id="5" name="Text 3"/>
          <p:cNvSpPr txBox="1"/>
          <p:nvPr/>
        </p:nvSpPr>
        <p:spPr>
          <a:xfrm>
            <a:off x="548640" y="1737360"/>
            <a:ext cx="8138160" cy="274320"/>
          </a:xfrm>
          <a:prstGeom prst="rect">
            <a:avLst/>
          </a:prstGeom>
          <a:noFill/>
          <a:ln/>
        </p:spPr>
        <p:txBody>
          <a:bodyPr wrap="square" lIns="0" tIns="0" rIns="0" bIns="0" rtlCol="0" anchor="t"/>
          <a:lstStyle/>
          <a:p>
            <a:pPr indent="0" marL="0">
              <a:buNone/>
            </a:pPr>
            <a:r>
              <a:rPr lang="en-US" sz="1100" dirty="0">
                <a:solidFill>
                  <a:schemeClr val="accent4"/>
                </a:solidFill>
              </a:rPr>
              <a:t>N = 1,000 images · paired bootstrap   </a:t>
            </a:r>
            <a:r>
              <a:rPr lang="en-US" sz="1100" b="1" dirty="0">
                <a:solidFill>
                  <a:schemeClr val="accent1"/>
                </a:solidFill>
              </a:rPr>
              <a:t>● clearly above 0   </a:t>
            </a:r>
            <a:r>
              <a:rPr lang="en-US" sz="1100" b="1" dirty="0">
                <a:solidFill>
                  <a:schemeClr val="accent3"/>
                </a:solidFill>
              </a:rPr>
              <a:t>● borderline   </a:t>
            </a:r>
            <a:r>
              <a:rPr lang="en-US" sz="1100" b="1" dirty="0">
                <a:solidFill>
                  <a:schemeClr val="accent4"/>
                </a:solidFill>
              </a:rPr>
              <a:t>● within noise</a:t>
            </a:r>
            <a:endParaRPr lang="en-US" sz="1100" dirty="0"/>
          </a:p>
        </p:txBody>
      </p:sp>
      <p:sp>
        <p:nvSpPr>
          <p:cNvPr id="6" name="Shape 4"/>
          <p:cNvSpPr/>
          <p:nvPr/>
        </p:nvSpPr>
        <p:spPr>
          <a:xfrm>
            <a:off x="2834640" y="2103120"/>
            <a:ext cx="0" cy="3246120"/>
          </a:xfrm>
          <a:prstGeom prst="line">
            <a:avLst/>
          </a:prstGeom>
          <a:noFill/>
          <a:ln w="12700">
            <a:solidFill>
              <a:schemeClr val="accent4"/>
            </a:solidFill>
            <a:prstDash val="dash"/>
          </a:ln>
        </p:spPr>
      </p:sp>
      <p:sp>
        <p:nvSpPr>
          <p:cNvPr id="7" name="Shape 5"/>
          <p:cNvSpPr/>
          <p:nvPr/>
        </p:nvSpPr>
        <p:spPr>
          <a:xfrm>
            <a:off x="2240280" y="5394960"/>
            <a:ext cx="4160520" cy="0"/>
          </a:xfrm>
          <a:prstGeom prst="line">
            <a:avLst/>
          </a:prstGeom>
          <a:noFill/>
          <a:ln w="12700">
            <a:solidFill>
              <a:schemeClr val="accent4"/>
            </a:solidFill>
            <a:prstDash val="solid"/>
          </a:ln>
        </p:spPr>
      </p:sp>
      <p:sp>
        <p:nvSpPr>
          <p:cNvPr id="8" name="Shape 6"/>
          <p:cNvSpPr/>
          <p:nvPr/>
        </p:nvSpPr>
        <p:spPr>
          <a:xfrm>
            <a:off x="2834640" y="5394960"/>
            <a:ext cx="0" cy="64008"/>
          </a:xfrm>
          <a:prstGeom prst="line">
            <a:avLst/>
          </a:prstGeom>
          <a:noFill/>
          <a:ln w="12700">
            <a:solidFill>
              <a:schemeClr val="accent4"/>
            </a:solidFill>
            <a:prstDash val="solid"/>
          </a:ln>
        </p:spPr>
      </p:sp>
      <p:sp>
        <p:nvSpPr>
          <p:cNvPr id="9" name="Text 7"/>
          <p:cNvSpPr txBox="1"/>
          <p:nvPr/>
        </p:nvSpPr>
        <p:spPr>
          <a:xfrm>
            <a:off x="2468880" y="5486400"/>
            <a:ext cx="731520" cy="228600"/>
          </a:xfrm>
          <a:prstGeom prst="rect">
            <a:avLst/>
          </a:prstGeom>
          <a:noFill/>
          <a:ln/>
        </p:spPr>
        <p:txBody>
          <a:bodyPr wrap="square" lIns="0" tIns="0" rIns="0" bIns="0" rtlCol="0" anchor="t"/>
          <a:lstStyle/>
          <a:p>
            <a:pPr algn="ctr" indent="0" marL="0">
              <a:buNone/>
            </a:pPr>
            <a:r>
              <a:rPr lang="en-US" sz="1100" dirty="0">
                <a:solidFill>
                  <a:schemeClr val="accent4"/>
                </a:solidFill>
              </a:rPr>
              <a:t>0</a:t>
            </a:r>
            <a:endParaRPr lang="en-US" sz="1100" dirty="0"/>
          </a:p>
        </p:txBody>
      </p:sp>
      <p:sp>
        <p:nvSpPr>
          <p:cNvPr id="10" name="Shape 8"/>
          <p:cNvSpPr/>
          <p:nvPr/>
        </p:nvSpPr>
        <p:spPr>
          <a:xfrm>
            <a:off x="4023360" y="5394960"/>
            <a:ext cx="0" cy="64008"/>
          </a:xfrm>
          <a:prstGeom prst="line">
            <a:avLst/>
          </a:prstGeom>
          <a:noFill/>
          <a:ln w="12700">
            <a:solidFill>
              <a:schemeClr val="accent4"/>
            </a:solidFill>
            <a:prstDash val="solid"/>
          </a:ln>
        </p:spPr>
      </p:sp>
      <p:sp>
        <p:nvSpPr>
          <p:cNvPr id="11" name="Text 9"/>
          <p:cNvSpPr txBox="1"/>
          <p:nvPr/>
        </p:nvSpPr>
        <p:spPr>
          <a:xfrm>
            <a:off x="3657600" y="5486400"/>
            <a:ext cx="731520" cy="228600"/>
          </a:xfrm>
          <a:prstGeom prst="rect">
            <a:avLst/>
          </a:prstGeom>
          <a:noFill/>
          <a:ln/>
        </p:spPr>
        <p:txBody>
          <a:bodyPr wrap="square" lIns="0" tIns="0" rIns="0" bIns="0" rtlCol="0" anchor="t"/>
          <a:lstStyle/>
          <a:p>
            <a:pPr algn="ctr" indent="0" marL="0">
              <a:buNone/>
            </a:pPr>
            <a:r>
              <a:rPr lang="en-US" sz="1100" dirty="0">
                <a:solidFill>
                  <a:schemeClr val="accent4"/>
                </a:solidFill>
              </a:rPr>
              <a:t>+0.02</a:t>
            </a:r>
            <a:endParaRPr lang="en-US" sz="1100" dirty="0"/>
          </a:p>
        </p:txBody>
      </p:sp>
      <p:sp>
        <p:nvSpPr>
          <p:cNvPr id="12" name="Shape 10"/>
          <p:cNvSpPr/>
          <p:nvPr/>
        </p:nvSpPr>
        <p:spPr>
          <a:xfrm>
            <a:off x="5212080" y="5394960"/>
            <a:ext cx="0" cy="64008"/>
          </a:xfrm>
          <a:prstGeom prst="line">
            <a:avLst/>
          </a:prstGeom>
          <a:noFill/>
          <a:ln w="12700">
            <a:solidFill>
              <a:schemeClr val="accent4"/>
            </a:solidFill>
            <a:prstDash val="solid"/>
          </a:ln>
        </p:spPr>
      </p:sp>
      <p:sp>
        <p:nvSpPr>
          <p:cNvPr id="13" name="Text 11"/>
          <p:cNvSpPr txBox="1"/>
          <p:nvPr/>
        </p:nvSpPr>
        <p:spPr>
          <a:xfrm>
            <a:off x="4846320" y="5486400"/>
            <a:ext cx="731520" cy="228600"/>
          </a:xfrm>
          <a:prstGeom prst="rect">
            <a:avLst/>
          </a:prstGeom>
          <a:noFill/>
          <a:ln/>
        </p:spPr>
        <p:txBody>
          <a:bodyPr wrap="square" lIns="0" tIns="0" rIns="0" bIns="0" rtlCol="0" anchor="t"/>
          <a:lstStyle/>
          <a:p>
            <a:pPr algn="ctr" indent="0" marL="0">
              <a:buNone/>
            </a:pPr>
            <a:r>
              <a:rPr lang="en-US" sz="1100" dirty="0">
                <a:solidFill>
                  <a:schemeClr val="accent4"/>
                </a:solidFill>
              </a:rPr>
              <a:t>+0.04</a:t>
            </a:r>
            <a:endParaRPr lang="en-US" sz="1100" dirty="0"/>
          </a:p>
        </p:txBody>
      </p:sp>
      <p:sp>
        <p:nvSpPr>
          <p:cNvPr id="14" name="Shape 12"/>
          <p:cNvSpPr/>
          <p:nvPr/>
        </p:nvSpPr>
        <p:spPr>
          <a:xfrm>
            <a:off x="6400800" y="5394960"/>
            <a:ext cx="0" cy="64008"/>
          </a:xfrm>
          <a:prstGeom prst="line">
            <a:avLst/>
          </a:prstGeom>
          <a:noFill/>
          <a:ln w="12700">
            <a:solidFill>
              <a:schemeClr val="accent4"/>
            </a:solidFill>
            <a:prstDash val="solid"/>
          </a:ln>
        </p:spPr>
      </p:sp>
      <p:sp>
        <p:nvSpPr>
          <p:cNvPr id="15" name="Text 13"/>
          <p:cNvSpPr txBox="1"/>
          <p:nvPr/>
        </p:nvSpPr>
        <p:spPr>
          <a:xfrm>
            <a:off x="6035040" y="5486400"/>
            <a:ext cx="731520" cy="228600"/>
          </a:xfrm>
          <a:prstGeom prst="rect">
            <a:avLst/>
          </a:prstGeom>
          <a:noFill/>
          <a:ln/>
        </p:spPr>
        <p:txBody>
          <a:bodyPr wrap="square" lIns="0" tIns="0" rIns="0" bIns="0" rtlCol="0" anchor="t"/>
          <a:lstStyle/>
          <a:p>
            <a:pPr algn="ctr" indent="0" marL="0">
              <a:buNone/>
            </a:pPr>
            <a:r>
              <a:rPr lang="en-US" sz="1100" dirty="0">
                <a:solidFill>
                  <a:schemeClr val="accent4"/>
                </a:solidFill>
              </a:rPr>
              <a:t>+0.06</a:t>
            </a:r>
            <a:endParaRPr lang="en-US" sz="1100" dirty="0"/>
          </a:p>
        </p:txBody>
      </p:sp>
      <p:sp>
        <p:nvSpPr>
          <p:cNvPr id="16" name="Text 14"/>
          <p:cNvSpPr txBox="1"/>
          <p:nvPr/>
        </p:nvSpPr>
        <p:spPr>
          <a:xfrm>
            <a:off x="548640" y="2231136"/>
            <a:ext cx="1645920" cy="292608"/>
          </a:xfrm>
          <a:prstGeom prst="rect">
            <a:avLst/>
          </a:prstGeom>
          <a:noFill/>
          <a:ln/>
        </p:spPr>
        <p:txBody>
          <a:bodyPr wrap="square" lIns="0" tIns="0" rIns="0" bIns="0" rtlCol="0" anchor="ctr"/>
          <a:lstStyle/>
          <a:p>
            <a:pPr indent="0" marL="0">
              <a:buNone/>
            </a:pPr>
            <a:r>
              <a:rPr lang="en-US" sz="1300" dirty="0">
                <a:solidFill>
                  <a:schemeClr val="tx1"/>
                </a:solidFill>
              </a:rPr>
              <a:t>YOLO · FGSM</a:t>
            </a:r>
            <a:endParaRPr lang="en-US" sz="1300" dirty="0"/>
          </a:p>
        </p:txBody>
      </p:sp>
      <p:sp>
        <p:nvSpPr>
          <p:cNvPr id="17" name="Shape 15"/>
          <p:cNvSpPr/>
          <p:nvPr/>
        </p:nvSpPr>
        <p:spPr>
          <a:xfrm>
            <a:off x="4825746" y="2377440"/>
            <a:ext cx="1218438" cy="0"/>
          </a:xfrm>
          <a:prstGeom prst="line">
            <a:avLst/>
          </a:prstGeom>
          <a:noFill/>
          <a:ln w="38100">
            <a:solidFill>
              <a:schemeClr val="accent1"/>
            </a:solidFill>
            <a:prstDash val="solid"/>
          </a:ln>
        </p:spPr>
      </p:sp>
      <p:sp>
        <p:nvSpPr>
          <p:cNvPr id="18" name="Shape 16"/>
          <p:cNvSpPr/>
          <p:nvPr/>
        </p:nvSpPr>
        <p:spPr>
          <a:xfrm>
            <a:off x="5337810" y="2295144"/>
            <a:ext cx="164592" cy="164592"/>
          </a:xfrm>
          <a:prstGeom prst="ellipse">
            <a:avLst/>
          </a:prstGeom>
          <a:solidFill>
            <a:schemeClr val="accent1"/>
          </a:solidFill>
          <a:ln/>
        </p:spPr>
      </p:sp>
      <p:sp>
        <p:nvSpPr>
          <p:cNvPr id="19" name="Text 17"/>
          <p:cNvSpPr txBox="1"/>
          <p:nvPr/>
        </p:nvSpPr>
        <p:spPr>
          <a:xfrm>
            <a:off x="6583680" y="2231136"/>
            <a:ext cx="2103120" cy="292608"/>
          </a:xfrm>
          <a:prstGeom prst="rect">
            <a:avLst/>
          </a:prstGeom>
          <a:noFill/>
          <a:ln/>
        </p:spPr>
        <p:txBody>
          <a:bodyPr wrap="square" lIns="0" tIns="0" rIns="0" bIns="0" rtlCol="0" anchor="ctr"/>
          <a:lstStyle/>
          <a:p>
            <a:pPr indent="0" marL="0">
              <a:buNone/>
            </a:pPr>
            <a:r>
              <a:rPr lang="en-US" sz="1100" dirty="0">
                <a:solidFill>
                  <a:schemeClr val="accent1"/>
                </a:solidFill>
              </a:rPr>
              <a:t>+0.043 [+0.034, +0.054]</a:t>
            </a:r>
            <a:endParaRPr lang="en-US" sz="1100" dirty="0"/>
          </a:p>
        </p:txBody>
      </p:sp>
      <p:sp>
        <p:nvSpPr>
          <p:cNvPr id="20" name="Text 18"/>
          <p:cNvSpPr txBox="1"/>
          <p:nvPr/>
        </p:nvSpPr>
        <p:spPr>
          <a:xfrm>
            <a:off x="548640" y="2734056"/>
            <a:ext cx="1645920" cy="292608"/>
          </a:xfrm>
          <a:prstGeom prst="rect">
            <a:avLst/>
          </a:prstGeom>
          <a:noFill/>
          <a:ln/>
        </p:spPr>
        <p:txBody>
          <a:bodyPr wrap="square" lIns="0" tIns="0" rIns="0" bIns="0" rtlCol="0" anchor="ctr"/>
          <a:lstStyle/>
          <a:p>
            <a:pPr indent="0" marL="0">
              <a:buNone/>
            </a:pPr>
            <a:r>
              <a:rPr lang="en-US" sz="1300" dirty="0">
                <a:solidFill>
                  <a:schemeClr val="tx1"/>
                </a:solidFill>
              </a:rPr>
              <a:t>YOLO · PGD</a:t>
            </a:r>
            <a:endParaRPr lang="en-US" sz="1300" dirty="0"/>
          </a:p>
        </p:txBody>
      </p:sp>
      <p:sp>
        <p:nvSpPr>
          <p:cNvPr id="21" name="Shape 19"/>
          <p:cNvSpPr/>
          <p:nvPr/>
        </p:nvSpPr>
        <p:spPr>
          <a:xfrm>
            <a:off x="5128870" y="2880360"/>
            <a:ext cx="1194664" cy="0"/>
          </a:xfrm>
          <a:prstGeom prst="line">
            <a:avLst/>
          </a:prstGeom>
          <a:noFill/>
          <a:ln w="38100">
            <a:solidFill>
              <a:schemeClr val="accent1"/>
            </a:solidFill>
            <a:prstDash val="solid"/>
          </a:ln>
        </p:spPr>
      </p:sp>
      <p:sp>
        <p:nvSpPr>
          <p:cNvPr id="22" name="Shape 20"/>
          <p:cNvSpPr/>
          <p:nvPr/>
        </p:nvSpPr>
        <p:spPr>
          <a:xfrm>
            <a:off x="5658764" y="2798064"/>
            <a:ext cx="164592" cy="164592"/>
          </a:xfrm>
          <a:prstGeom prst="ellipse">
            <a:avLst/>
          </a:prstGeom>
          <a:solidFill>
            <a:schemeClr val="accent1"/>
          </a:solidFill>
          <a:ln/>
        </p:spPr>
      </p:sp>
      <p:sp>
        <p:nvSpPr>
          <p:cNvPr id="23" name="Text 21"/>
          <p:cNvSpPr txBox="1"/>
          <p:nvPr/>
        </p:nvSpPr>
        <p:spPr>
          <a:xfrm>
            <a:off x="6583680" y="2734056"/>
            <a:ext cx="2103120" cy="292608"/>
          </a:xfrm>
          <a:prstGeom prst="rect">
            <a:avLst/>
          </a:prstGeom>
          <a:noFill/>
          <a:ln/>
        </p:spPr>
        <p:txBody>
          <a:bodyPr wrap="square" lIns="0" tIns="0" rIns="0" bIns="0" rtlCol="0" anchor="ctr"/>
          <a:lstStyle/>
          <a:p>
            <a:pPr indent="0" marL="0">
              <a:buNone/>
            </a:pPr>
            <a:r>
              <a:rPr lang="en-US" sz="1100" dirty="0">
                <a:solidFill>
                  <a:schemeClr val="accent1"/>
                </a:solidFill>
              </a:rPr>
              <a:t>+0.049 [+0.039, +0.059]</a:t>
            </a:r>
            <a:endParaRPr lang="en-US" sz="1100" dirty="0"/>
          </a:p>
        </p:txBody>
      </p:sp>
      <p:sp>
        <p:nvSpPr>
          <p:cNvPr id="24" name="Text 22"/>
          <p:cNvSpPr txBox="1"/>
          <p:nvPr/>
        </p:nvSpPr>
        <p:spPr>
          <a:xfrm>
            <a:off x="548640" y="3236976"/>
            <a:ext cx="1645920" cy="292608"/>
          </a:xfrm>
          <a:prstGeom prst="rect">
            <a:avLst/>
          </a:prstGeom>
          <a:noFill/>
          <a:ln/>
        </p:spPr>
        <p:txBody>
          <a:bodyPr wrap="square" lIns="0" tIns="0" rIns="0" bIns="0" rtlCol="0" anchor="ctr"/>
          <a:lstStyle/>
          <a:p>
            <a:pPr indent="0" marL="0">
              <a:buNone/>
            </a:pPr>
            <a:r>
              <a:rPr lang="en-US" sz="1300" dirty="0">
                <a:solidFill>
                  <a:schemeClr val="tx1"/>
                </a:solidFill>
              </a:rPr>
              <a:t>YOLO · Patch</a:t>
            </a:r>
            <a:endParaRPr lang="en-US" sz="1300" dirty="0"/>
          </a:p>
        </p:txBody>
      </p:sp>
      <p:sp>
        <p:nvSpPr>
          <p:cNvPr id="25" name="Shape 23"/>
          <p:cNvSpPr/>
          <p:nvPr/>
        </p:nvSpPr>
        <p:spPr>
          <a:xfrm>
            <a:off x="2935681" y="3383280"/>
            <a:ext cx="855878" cy="0"/>
          </a:xfrm>
          <a:prstGeom prst="line">
            <a:avLst/>
          </a:prstGeom>
          <a:noFill/>
          <a:ln w="38100">
            <a:solidFill>
              <a:schemeClr val="accent1"/>
            </a:solidFill>
            <a:prstDash val="solid"/>
          </a:ln>
        </p:spPr>
      </p:sp>
      <p:sp>
        <p:nvSpPr>
          <p:cNvPr id="26" name="Shape 24"/>
          <p:cNvSpPr/>
          <p:nvPr/>
        </p:nvSpPr>
        <p:spPr>
          <a:xfrm>
            <a:off x="3364535" y="3300984"/>
            <a:ext cx="164592" cy="164592"/>
          </a:xfrm>
          <a:prstGeom prst="ellipse">
            <a:avLst/>
          </a:prstGeom>
          <a:solidFill>
            <a:schemeClr val="accent1"/>
          </a:solidFill>
          <a:ln/>
        </p:spPr>
      </p:sp>
      <p:sp>
        <p:nvSpPr>
          <p:cNvPr id="27" name="Text 25"/>
          <p:cNvSpPr txBox="1"/>
          <p:nvPr/>
        </p:nvSpPr>
        <p:spPr>
          <a:xfrm>
            <a:off x="6583680" y="3236976"/>
            <a:ext cx="2103120" cy="292608"/>
          </a:xfrm>
          <a:prstGeom prst="rect">
            <a:avLst/>
          </a:prstGeom>
          <a:noFill/>
          <a:ln/>
        </p:spPr>
        <p:txBody>
          <a:bodyPr wrap="square" lIns="0" tIns="0" rIns="0" bIns="0" rtlCol="0" anchor="ctr"/>
          <a:lstStyle/>
          <a:p>
            <a:pPr indent="0" marL="0">
              <a:buNone/>
            </a:pPr>
            <a:r>
              <a:rPr lang="en-US" sz="1100" dirty="0">
                <a:solidFill>
                  <a:schemeClr val="accent1"/>
                </a:solidFill>
              </a:rPr>
              <a:t>+0.010 [+0.002, +0.016]</a:t>
            </a:r>
            <a:endParaRPr lang="en-US" sz="1100" dirty="0"/>
          </a:p>
        </p:txBody>
      </p:sp>
      <p:sp>
        <p:nvSpPr>
          <p:cNvPr id="28" name="Text 26"/>
          <p:cNvSpPr txBox="1"/>
          <p:nvPr/>
        </p:nvSpPr>
        <p:spPr>
          <a:xfrm>
            <a:off x="548640" y="3877056"/>
            <a:ext cx="1645920" cy="292608"/>
          </a:xfrm>
          <a:prstGeom prst="rect">
            <a:avLst/>
          </a:prstGeom>
          <a:noFill/>
          <a:ln/>
        </p:spPr>
        <p:txBody>
          <a:bodyPr wrap="square" lIns="0" tIns="0" rIns="0" bIns="0" rtlCol="0" anchor="ctr"/>
          <a:lstStyle/>
          <a:p>
            <a:pPr indent="0" marL="0">
              <a:buNone/>
            </a:pPr>
            <a:r>
              <a:rPr lang="en-US" sz="1300" dirty="0">
                <a:solidFill>
                  <a:schemeClr val="tx1"/>
                </a:solidFill>
              </a:rPr>
              <a:t>Florence · FGSM</a:t>
            </a:r>
            <a:endParaRPr lang="en-US" sz="1300" dirty="0"/>
          </a:p>
        </p:txBody>
      </p:sp>
      <p:sp>
        <p:nvSpPr>
          <p:cNvPr id="29" name="Shape 27"/>
          <p:cNvSpPr/>
          <p:nvPr/>
        </p:nvSpPr>
        <p:spPr>
          <a:xfrm>
            <a:off x="2852471" y="4023360"/>
            <a:ext cx="1081735" cy="0"/>
          </a:xfrm>
          <a:prstGeom prst="line">
            <a:avLst/>
          </a:prstGeom>
          <a:noFill/>
          <a:ln w="38100">
            <a:solidFill>
              <a:schemeClr val="accent3"/>
            </a:solidFill>
            <a:prstDash val="solid"/>
          </a:ln>
        </p:spPr>
      </p:sp>
      <p:sp>
        <p:nvSpPr>
          <p:cNvPr id="30" name="Shape 28"/>
          <p:cNvSpPr/>
          <p:nvPr/>
        </p:nvSpPr>
        <p:spPr>
          <a:xfrm>
            <a:off x="3269437" y="3941064"/>
            <a:ext cx="164592" cy="164592"/>
          </a:xfrm>
          <a:prstGeom prst="ellipse">
            <a:avLst/>
          </a:prstGeom>
          <a:solidFill>
            <a:schemeClr val="accent3"/>
          </a:solidFill>
          <a:ln/>
        </p:spPr>
      </p:sp>
      <p:sp>
        <p:nvSpPr>
          <p:cNvPr id="31" name="Text 29"/>
          <p:cNvSpPr txBox="1"/>
          <p:nvPr/>
        </p:nvSpPr>
        <p:spPr>
          <a:xfrm>
            <a:off x="6583680" y="3877056"/>
            <a:ext cx="2103120" cy="292608"/>
          </a:xfrm>
          <a:prstGeom prst="rect">
            <a:avLst/>
          </a:prstGeom>
          <a:noFill/>
          <a:ln/>
        </p:spPr>
        <p:txBody>
          <a:bodyPr wrap="square" lIns="0" tIns="0" rIns="0" bIns="0" rtlCol="0" anchor="ctr"/>
          <a:lstStyle/>
          <a:p>
            <a:pPr indent="0" marL="0">
              <a:buNone/>
            </a:pPr>
            <a:r>
              <a:rPr lang="en-US" sz="1100" dirty="0">
                <a:solidFill>
                  <a:schemeClr val="accent3"/>
                </a:solidFill>
              </a:rPr>
              <a:t>+0.009 [+0.000, +0.018]</a:t>
            </a:r>
            <a:endParaRPr lang="en-US" sz="1100" dirty="0"/>
          </a:p>
        </p:txBody>
      </p:sp>
      <p:sp>
        <p:nvSpPr>
          <p:cNvPr id="32" name="Text 30"/>
          <p:cNvSpPr txBox="1"/>
          <p:nvPr/>
        </p:nvSpPr>
        <p:spPr>
          <a:xfrm>
            <a:off x="548640" y="4379976"/>
            <a:ext cx="1645920" cy="292608"/>
          </a:xfrm>
          <a:prstGeom prst="rect">
            <a:avLst/>
          </a:prstGeom>
          <a:noFill/>
          <a:ln/>
        </p:spPr>
        <p:txBody>
          <a:bodyPr wrap="square" lIns="0" tIns="0" rIns="0" bIns="0" rtlCol="0" anchor="ctr"/>
          <a:lstStyle/>
          <a:p>
            <a:pPr indent="0" marL="0">
              <a:buNone/>
            </a:pPr>
            <a:r>
              <a:rPr lang="en-US" sz="1300" dirty="0">
                <a:solidFill>
                  <a:schemeClr val="tx1"/>
                </a:solidFill>
              </a:rPr>
              <a:t>Florence · PGD</a:t>
            </a:r>
            <a:endParaRPr lang="en-US" sz="1300" dirty="0"/>
          </a:p>
        </p:txBody>
      </p:sp>
      <p:sp>
        <p:nvSpPr>
          <p:cNvPr id="33" name="Shape 31"/>
          <p:cNvSpPr/>
          <p:nvPr/>
        </p:nvSpPr>
        <p:spPr>
          <a:xfrm>
            <a:off x="2787091" y="4526280"/>
            <a:ext cx="939089" cy="0"/>
          </a:xfrm>
          <a:prstGeom prst="line">
            <a:avLst/>
          </a:prstGeom>
          <a:noFill/>
          <a:ln w="38100">
            <a:solidFill>
              <a:schemeClr val="accent4"/>
            </a:solidFill>
            <a:prstDash val="solid"/>
          </a:ln>
        </p:spPr>
      </p:sp>
      <p:sp>
        <p:nvSpPr>
          <p:cNvPr id="34" name="Shape 32"/>
          <p:cNvSpPr/>
          <p:nvPr/>
        </p:nvSpPr>
        <p:spPr>
          <a:xfrm>
            <a:off x="3031693" y="4443984"/>
            <a:ext cx="164592" cy="164592"/>
          </a:xfrm>
          <a:prstGeom prst="ellipse">
            <a:avLst/>
          </a:prstGeom>
          <a:solidFill>
            <a:schemeClr val="accent4"/>
          </a:solidFill>
          <a:ln/>
        </p:spPr>
      </p:sp>
      <p:sp>
        <p:nvSpPr>
          <p:cNvPr id="35" name="Text 33"/>
          <p:cNvSpPr txBox="1"/>
          <p:nvPr/>
        </p:nvSpPr>
        <p:spPr>
          <a:xfrm>
            <a:off x="6583680" y="4379976"/>
            <a:ext cx="2103120" cy="292608"/>
          </a:xfrm>
          <a:prstGeom prst="rect">
            <a:avLst/>
          </a:prstGeom>
          <a:noFill/>
          <a:ln/>
        </p:spPr>
        <p:txBody>
          <a:bodyPr wrap="square" lIns="0" tIns="0" rIns="0" bIns="0" rtlCol="0" anchor="ctr"/>
          <a:lstStyle/>
          <a:p>
            <a:pPr indent="0" marL="0">
              <a:buNone/>
            </a:pPr>
            <a:r>
              <a:rPr lang="en-US" sz="1100" dirty="0">
                <a:solidFill>
                  <a:schemeClr val="accent4"/>
                </a:solidFill>
              </a:rPr>
              <a:t>+0.005 [−0.001, +0.015]</a:t>
            </a:r>
            <a:endParaRPr lang="en-US" sz="1100" dirty="0"/>
          </a:p>
        </p:txBody>
      </p:sp>
      <p:sp>
        <p:nvSpPr>
          <p:cNvPr id="36" name="Text 34"/>
          <p:cNvSpPr txBox="1"/>
          <p:nvPr/>
        </p:nvSpPr>
        <p:spPr>
          <a:xfrm>
            <a:off x="548640" y="4882896"/>
            <a:ext cx="1645920" cy="292608"/>
          </a:xfrm>
          <a:prstGeom prst="rect">
            <a:avLst/>
          </a:prstGeom>
          <a:noFill/>
          <a:ln/>
        </p:spPr>
        <p:txBody>
          <a:bodyPr wrap="square" lIns="0" tIns="0" rIns="0" bIns="0" rtlCol="0" anchor="ctr"/>
          <a:lstStyle/>
          <a:p>
            <a:pPr indent="0" marL="0">
              <a:buNone/>
            </a:pPr>
            <a:r>
              <a:rPr lang="en-US" sz="1300" dirty="0">
                <a:solidFill>
                  <a:schemeClr val="tx1"/>
                </a:solidFill>
              </a:rPr>
              <a:t>Florence · Patch</a:t>
            </a:r>
            <a:endParaRPr lang="en-US" sz="1300" dirty="0"/>
          </a:p>
        </p:txBody>
      </p:sp>
      <p:sp>
        <p:nvSpPr>
          <p:cNvPr id="37" name="Shape 35"/>
          <p:cNvSpPr/>
          <p:nvPr/>
        </p:nvSpPr>
        <p:spPr>
          <a:xfrm>
            <a:off x="2501798" y="5029200"/>
            <a:ext cx="1408633" cy="0"/>
          </a:xfrm>
          <a:prstGeom prst="line">
            <a:avLst/>
          </a:prstGeom>
          <a:noFill/>
          <a:ln w="38100">
            <a:solidFill>
              <a:schemeClr val="accent4"/>
            </a:solidFill>
            <a:prstDash val="solid"/>
          </a:ln>
        </p:spPr>
      </p:sp>
      <p:sp>
        <p:nvSpPr>
          <p:cNvPr id="38" name="Shape 36"/>
          <p:cNvSpPr/>
          <p:nvPr/>
        </p:nvSpPr>
        <p:spPr>
          <a:xfrm>
            <a:off x="2966314" y="4946904"/>
            <a:ext cx="164592" cy="164592"/>
          </a:xfrm>
          <a:prstGeom prst="ellipse">
            <a:avLst/>
          </a:prstGeom>
          <a:solidFill>
            <a:schemeClr val="accent4"/>
          </a:solidFill>
          <a:ln/>
        </p:spPr>
      </p:sp>
      <p:sp>
        <p:nvSpPr>
          <p:cNvPr id="39" name="Text 37"/>
          <p:cNvSpPr txBox="1"/>
          <p:nvPr/>
        </p:nvSpPr>
        <p:spPr>
          <a:xfrm>
            <a:off x="6583680" y="4882896"/>
            <a:ext cx="2103120" cy="292608"/>
          </a:xfrm>
          <a:prstGeom prst="rect">
            <a:avLst/>
          </a:prstGeom>
          <a:noFill/>
          <a:ln/>
        </p:spPr>
        <p:txBody>
          <a:bodyPr wrap="square" lIns="0" tIns="0" rIns="0" bIns="0" rtlCol="0" anchor="ctr"/>
          <a:lstStyle/>
          <a:p>
            <a:pPr indent="0" marL="0">
              <a:buNone/>
            </a:pPr>
            <a:r>
              <a:rPr lang="en-US" sz="1100" dirty="0">
                <a:solidFill>
                  <a:schemeClr val="accent4"/>
                </a:solidFill>
              </a:rPr>
              <a:t>+0.004 [−0.006, +0.018]</a:t>
            </a:r>
            <a:endParaRPr lang="en-US" sz="1100" dirty="0"/>
          </a:p>
        </p:txBody>
      </p:sp>
      <p:sp>
        <p:nvSpPr>
          <p:cNvPr id="40" name="Shape 38"/>
          <p:cNvSpPr/>
          <p:nvPr/>
        </p:nvSpPr>
        <p:spPr>
          <a:xfrm>
            <a:off x="8869680" y="1417320"/>
            <a:ext cx="2770632" cy="4526280"/>
          </a:xfrm>
          <a:prstGeom prst="roundRect">
            <a:avLst>
              <a:gd name="adj" fmla="val 2640"/>
            </a:avLst>
          </a:prstGeom>
          <a:solidFill>
            <a:schemeClr val="bg2"/>
          </a:solidFill>
          <a:ln/>
          <a:effectLst>
            <a:outerShdw sx="100000" sy="100000" kx="0" ky="0" algn="bl" rotWithShape="0" blurRad="76200" dist="25400" dir="5400000">
              <a:srgbClr val="1B1F24">
                <a:alpha val="12000"/>
              </a:srgbClr>
            </a:outerShdw>
          </a:effectLst>
        </p:spPr>
      </p:sp>
      <p:sp>
        <p:nvSpPr>
          <p:cNvPr id="41" name="Shape 39"/>
          <p:cNvSpPr/>
          <p:nvPr/>
        </p:nvSpPr>
        <p:spPr>
          <a:xfrm>
            <a:off x="9098280" y="1645920"/>
            <a:ext cx="502920" cy="502920"/>
          </a:xfrm>
          <a:prstGeom prst="ellipse">
            <a:avLst/>
          </a:prstGeom>
          <a:solidFill>
            <a:schemeClr val="accent5"/>
          </a:solidFill>
          <a:ln/>
        </p:spPr>
      </p:sp>
      <p:pic>
        <p:nvPicPr>
          <p:cNvPr id="42" name="Image 0" descr="FaScaleBalanced">    </p:cNvPr>
          <p:cNvPicPr>
            <a:picLocks noChangeAspect="1"/>
          </p:cNvPicPr>
          <p:nvPr/>
        </p:nvPicPr>
        <p:blipFill>
          <a:blip r:embed="rId1"/>
          <a:stretch>
            <a:fillRect/>
          </a:stretch>
        </p:blipFill>
        <p:spPr>
          <a:xfrm>
            <a:off x="9218981" y="1766621"/>
            <a:ext cx="261518" cy="261518"/>
          </a:xfrm>
          <a:prstGeom prst="rect">
            <a:avLst/>
          </a:prstGeom>
        </p:spPr>
      </p:pic>
      <p:sp>
        <p:nvSpPr>
          <p:cNvPr id="43" name="Text 40"/>
          <p:cNvSpPr txBox="1"/>
          <p:nvPr/>
        </p:nvSpPr>
        <p:spPr>
          <a:xfrm>
            <a:off x="9098280" y="2331720"/>
            <a:ext cx="2377440" cy="3474720"/>
          </a:xfrm>
          <a:prstGeom prst="rect">
            <a:avLst/>
          </a:prstGeom>
          <a:noFill/>
          <a:ln/>
        </p:spPr>
        <p:txBody>
          <a:bodyPr wrap="square" lIns="0" tIns="0" rIns="0" bIns="0" rtlCol="0" anchor="t"/>
          <a:lstStyle/>
          <a:p>
            <a:pPr marL="177800" indent="-177800">
              <a:spcAft>
                <a:spcPts val="1000"/>
              </a:spcAft>
              <a:buSzPct val="100000"/>
              <a:buChar char="•"/>
            </a:pPr>
            <a:r>
              <a:rPr lang="en-US" sz="1400" b="1" dirty="0">
                <a:solidFill>
                  <a:schemeClr val="tx1"/>
                </a:solidFill>
              </a:rPr>
              <a:t>YOLO: </a:t>
            </a:r>
            <a:r>
              <a:rPr lang="en-US" sz="1400" dirty="0">
                <a:solidFill>
                  <a:schemeClr val="tx1"/>
                </a:solidFill>
              </a:rPr>
              <a:t>yes, +0.04 to +0.05 mAP under FGSM and PGD</a:t>
            </a:r>
            <a:endParaRPr lang="en-US" sz="1400" dirty="0"/>
          </a:p>
          <a:p>
            <a:pPr marL="177800" indent="-177800">
              <a:spcAft>
                <a:spcPts val="1000"/>
              </a:spcAft>
              <a:buSzPct val="100000"/>
              <a:buChar char="•"/>
            </a:pPr>
            <a:r>
              <a:rPr lang="en-US" sz="1400" b="1" dirty="0">
                <a:solidFill>
                  <a:schemeClr val="tx1"/>
                </a:solidFill>
              </a:rPr>
              <a:t>Florence: </a:t>
            </a:r>
            <a:r>
              <a:rPr lang="en-US" sz="1400" dirty="0">
                <a:solidFill>
                  <a:schemeClr val="tx1"/>
                </a:solidFill>
              </a:rPr>
              <a:t>the gain is within noise, so Median alone (one pass) may be enough</a:t>
            </a:r>
            <a:endParaRPr lang="en-US" sz="1400" dirty="0"/>
          </a:p>
          <a:p>
            <a:pPr marL="177800" indent="-177800">
              <a:spcAft>
                <a:spcPts val="1000"/>
              </a:spcAft>
              <a:buSzPct val="100000"/>
              <a:buChar char="•"/>
            </a:pPr>
            <a:r>
              <a:rPr lang="en-US" sz="1400" b="1" dirty="0">
                <a:solidFill>
                  <a:schemeClr val="tx1"/>
                </a:solidFill>
              </a:rPr>
              <a:t>For option C: </a:t>
            </a:r>
            <a:r>
              <a:rPr lang="en-US" sz="1400" dirty="0">
                <a:solidFill>
                  <a:schemeClr val="tx1"/>
                </a:solidFill>
              </a:rPr>
              <a:t>a cheaper block may suit some models</a:t>
            </a:r>
            <a:endParaRPr lang="en-US" sz="14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BACKUP</a:t>
            </a:r>
            <a:endParaRPr lang="en-US" sz="1200" dirty="0"/>
          </a:p>
        </p:txBody>
      </p:sp>
      <p:sp>
        <p:nvSpPr>
          <p:cNvPr id="3" name="Text 0"/>
          <p:cNvSpPr/>
          <p:nvPr>
            <p:ph idx="101"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Clean-image cost with 95% CIs</a:t>
            </a:r>
            <a:endParaRPr lang="en-US" sz="3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862072"/>
                <a:gridCol w="4114800"/>
                <a:gridCol w="4114800"/>
              </a:tblGrid>
              <a:tr h="411480">
                <a:tc>
                  <a:txBody>
                    <a:bodyPr/>
                    <a:lstStyle/>
                    <a:p>
                      <a:pPr indent="0" marL="0">
                        <a:buNone/>
                      </a:pPr>
                      <a:r>
                        <a:rPr lang="en-US" sz="1300" b="1" dirty="0">
                          <a:solidFill>
                            <a:schemeClr val="bg1"/>
                          </a:solidFill>
                        </a:rPr>
                        <a:t>Defense</a:t>
                      </a:r>
                      <a:endParaRPr lang="en-US" sz="1300" dirty="0"/>
                    </a:p>
                  </a:txBody>
                  <a:tcPr marL="91440" marR="91440" marT="27432" marB="27432"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YOLO-World: Δ mAP [95% CI]</a:t>
                      </a:r>
                      <a:endParaRPr lang="en-US" sz="1300" dirty="0"/>
                    </a:p>
                  </a:txBody>
                  <a:tcPr marL="91440" marR="91440" marT="27432" marB="27432"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Florence-2: Δ mAP [95% CI]</a:t>
                      </a:r>
                      <a:endParaRPr lang="en-US" sz="1300" dirty="0"/>
                    </a:p>
                  </a:txBody>
                  <a:tcPr marL="91440" marR="91440" marT="27432" marB="27432"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chemeClr val="tx2"/>
                    </a:solidFill>
                  </a:tcPr>
                </a:tc>
              </a:tr>
              <a:tr h="429768">
                <a:tc>
                  <a:txBody>
                    <a:bodyPr/>
                    <a:lstStyle/>
                    <a:p>
                      <a:pPr indent="0" marL="0">
                        <a:buNone/>
                      </a:pPr>
                      <a:r>
                        <a:rPr lang="en-US" sz="1400" b="1" dirty="0">
                          <a:solidFill>
                            <a:schemeClr val="tx1"/>
                          </a:solidFill>
                        </a:rPr>
                        <a:t>JPEG</a:t>
                      </a:r>
                      <a:endParaRPr lang="en-US" sz="1400" dirty="0"/>
                    </a:p>
                  </a:txBody>
                  <a:tcPr marL="91440" marR="91440" marT="27432" marB="27432"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400" dirty="0">
                          <a:solidFill>
                            <a:schemeClr val="tx1"/>
                          </a:solidFill>
                        </a:rPr>
                        <a:t>−0.024 [−0.033, −0.015]</a:t>
                      </a:r>
                      <a:endParaRPr lang="en-US" sz="1400" dirty="0"/>
                    </a:p>
                  </a:txBody>
                  <a:tcPr marL="91440" marR="91440" marT="27432" marB="27432"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6D5CC"/>
                    </a:solidFill>
                  </a:tcPr>
                </a:tc>
                <a:tc>
                  <a:txBody>
                    <a:bodyPr/>
                    <a:lstStyle/>
                    <a:p>
                      <a:pPr algn="ctr" indent="0" marL="0">
                        <a:buNone/>
                      </a:pPr>
                      <a:r>
                        <a:rPr lang="en-US" sz="1400" dirty="0">
                          <a:solidFill>
                            <a:schemeClr val="tx1"/>
                          </a:solidFill>
                        </a:rPr>
                        <a:t>−0.008 [−0.021, +0.004]</a:t>
                      </a:r>
                      <a:endParaRPr lang="en-US" sz="1400" dirty="0"/>
                    </a:p>
                  </a:txBody>
                  <a:tcPr marL="91440" marR="91440" marT="27432" marB="27432"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r>
              <a:tr h="429768">
                <a:tc>
                  <a:txBody>
                    <a:bodyPr/>
                    <a:lstStyle/>
                    <a:p>
                      <a:pPr indent="0" marL="0">
                        <a:buNone/>
                      </a:pPr>
                      <a:r>
                        <a:rPr lang="en-US" sz="1400" b="1" dirty="0">
                          <a:solidFill>
                            <a:schemeClr val="tx1"/>
                          </a:solidFill>
                        </a:rPr>
                        <a:t>Median</a:t>
                      </a:r>
                      <a:endParaRPr lang="en-US" sz="1400" dirty="0"/>
                    </a:p>
                  </a:txBody>
                  <a:tcPr marL="91440" marR="91440" marT="27432" marB="27432"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400" dirty="0">
                          <a:solidFill>
                            <a:schemeClr val="tx1"/>
                          </a:solidFill>
                        </a:rPr>
                        <a:t>−0.018 [−0.025, −0.010]</a:t>
                      </a:r>
                      <a:endParaRPr lang="en-US" sz="1400" dirty="0"/>
                    </a:p>
                  </a:txBody>
                  <a:tcPr marL="91440" marR="91440" marT="27432" marB="27432"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6D5CC"/>
                    </a:solidFill>
                  </a:tcPr>
                </a:tc>
                <a:tc>
                  <a:txBody>
                    <a:bodyPr/>
                    <a:lstStyle/>
                    <a:p>
                      <a:pPr algn="ctr" indent="0" marL="0">
                        <a:buNone/>
                      </a:pPr>
                      <a:r>
                        <a:rPr lang="en-US" sz="1400" dirty="0">
                          <a:solidFill>
                            <a:schemeClr val="tx1"/>
                          </a:solidFill>
                        </a:rPr>
                        <a:t>−0.008 [−0.021, +0.007]</a:t>
                      </a:r>
                      <a:endParaRPr lang="en-US" sz="1400" dirty="0"/>
                    </a:p>
                  </a:txBody>
                  <a:tcPr marL="91440" marR="91440" marT="27432" marB="27432"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r>
              <a:tr h="429768">
                <a:tc>
                  <a:txBody>
                    <a:bodyPr/>
                    <a:lstStyle/>
                    <a:p>
                      <a:pPr indent="0" marL="0">
                        <a:buNone/>
                      </a:pPr>
                      <a:r>
                        <a:rPr lang="en-US" sz="1400" b="1" dirty="0">
                          <a:solidFill>
                            <a:schemeClr val="tx1"/>
                          </a:solidFill>
                        </a:rPr>
                        <a:t>Gaussian</a:t>
                      </a:r>
                      <a:endParaRPr lang="en-US" sz="1400" dirty="0"/>
                    </a:p>
                  </a:txBody>
                  <a:tcPr marL="91440" marR="91440" marT="27432" marB="27432"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400" dirty="0">
                          <a:solidFill>
                            <a:schemeClr val="tx1"/>
                          </a:solidFill>
                        </a:rPr>
                        <a:t>−0.015 [−0.024, −0.007]</a:t>
                      </a:r>
                      <a:endParaRPr lang="en-US" sz="1400" dirty="0"/>
                    </a:p>
                  </a:txBody>
                  <a:tcPr marL="91440" marR="91440" marT="27432" marB="27432"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6D5CC"/>
                    </a:solidFill>
                  </a:tcPr>
                </a:tc>
                <a:tc>
                  <a:txBody>
                    <a:bodyPr/>
                    <a:lstStyle/>
                    <a:p>
                      <a:pPr algn="ctr" indent="0" marL="0">
                        <a:buNone/>
                      </a:pPr>
                      <a:r>
                        <a:rPr lang="en-US" sz="1400" dirty="0">
                          <a:solidFill>
                            <a:schemeClr val="tx1"/>
                          </a:solidFill>
                        </a:rPr>
                        <a:t>−0.069 [−0.085, −0.056]</a:t>
                      </a:r>
                      <a:endParaRPr lang="en-US" sz="1400" dirty="0"/>
                    </a:p>
                  </a:txBody>
                  <a:tcPr marL="91440" marR="91440" marT="27432" marB="27432"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6D5CC"/>
                    </a:solidFill>
                  </a:tcPr>
                </a:tc>
              </a:tr>
              <a:tr h="429768">
                <a:tc>
                  <a:txBody>
                    <a:bodyPr/>
                    <a:lstStyle/>
                    <a:p>
                      <a:pPr indent="0" marL="0">
                        <a:buNone/>
                      </a:pPr>
                      <a:r>
                        <a:rPr lang="en-US" sz="1400" b="1" dirty="0">
                          <a:solidFill>
                            <a:schemeClr val="tx1"/>
                          </a:solidFill>
                        </a:rPr>
                        <a:t>TVM</a:t>
                      </a:r>
                      <a:endParaRPr lang="en-US" sz="1400" dirty="0"/>
                    </a:p>
                  </a:txBody>
                  <a:tcPr marL="91440" marR="91440" marT="27432" marB="27432"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400" dirty="0">
                          <a:solidFill>
                            <a:schemeClr val="tx1"/>
                          </a:solidFill>
                        </a:rPr>
                        <a:t>−0.029 [−0.038, −0.021]</a:t>
                      </a:r>
                      <a:endParaRPr lang="en-US" sz="1400" dirty="0"/>
                    </a:p>
                  </a:txBody>
                  <a:tcPr marL="91440" marR="91440" marT="27432" marB="27432"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6D5CC"/>
                    </a:solidFill>
                  </a:tcPr>
                </a:tc>
                <a:tc>
                  <a:txBody>
                    <a:bodyPr/>
                    <a:lstStyle/>
                    <a:p>
                      <a:pPr algn="ctr" indent="0" marL="0">
                        <a:buNone/>
                      </a:pPr>
                      <a:r>
                        <a:rPr lang="en-US" sz="1400" dirty="0">
                          <a:solidFill>
                            <a:schemeClr val="tx1"/>
                          </a:solidFill>
                        </a:rPr>
                        <a:t>−0.071 [−0.088, −0.060]</a:t>
                      </a:r>
                      <a:endParaRPr lang="en-US" sz="1400" dirty="0"/>
                    </a:p>
                  </a:txBody>
                  <a:tcPr marL="91440" marR="91440" marT="27432" marB="27432"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6D5CC"/>
                    </a:solidFill>
                  </a:tcPr>
                </a:tc>
              </a:tr>
              <a:tr h="429768">
                <a:tc>
                  <a:txBody>
                    <a:bodyPr/>
                    <a:lstStyle/>
                    <a:p>
                      <a:pPr indent="0" marL="0">
                        <a:buNone/>
                      </a:pPr>
                      <a:r>
                        <a:rPr lang="en-US" sz="1400" b="1" dirty="0">
                          <a:solidFill>
                            <a:schemeClr val="tx1"/>
                          </a:solidFill>
                        </a:rPr>
                        <a:t>Blur+TVM</a:t>
                      </a:r>
                      <a:endParaRPr lang="en-US" sz="1400" dirty="0"/>
                    </a:p>
                  </a:txBody>
                  <a:tcPr marL="91440" marR="91440" marT="27432" marB="27432"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400" dirty="0">
                          <a:solidFill>
                            <a:schemeClr val="tx1"/>
                          </a:solidFill>
                        </a:rPr>
                        <a:t>−0.062 [−0.073, −0.050]</a:t>
                      </a:r>
                      <a:endParaRPr lang="en-US" sz="1400" dirty="0"/>
                    </a:p>
                  </a:txBody>
                  <a:tcPr marL="91440" marR="91440" marT="27432" marB="27432"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6D5CC"/>
                    </a:solidFill>
                  </a:tcPr>
                </a:tc>
                <a:tc>
                  <a:txBody>
                    <a:bodyPr/>
                    <a:lstStyle/>
                    <a:p>
                      <a:pPr algn="ctr" indent="0" marL="0">
                        <a:buNone/>
                      </a:pPr>
                      <a:r>
                        <a:rPr lang="en-US" sz="1400" dirty="0">
                          <a:solidFill>
                            <a:schemeClr val="tx1"/>
                          </a:solidFill>
                        </a:rPr>
                        <a:t>−0.095 [−0.115, −0.081]</a:t>
                      </a:r>
                      <a:endParaRPr lang="en-US" sz="1400" dirty="0"/>
                    </a:p>
                  </a:txBody>
                  <a:tcPr marL="91440" marR="91440" marT="27432" marB="27432"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6D5CC"/>
                    </a:solidFill>
                  </a:tcPr>
                </a:tc>
              </a:tr>
              <a:tr h="429768">
                <a:tc>
                  <a:txBody>
                    <a:bodyPr/>
                    <a:lstStyle/>
                    <a:p>
                      <a:pPr indent="0" marL="0">
                        <a:buNone/>
                      </a:pPr>
                      <a:r>
                        <a:rPr lang="en-US" sz="1400" b="1" dirty="0">
                          <a:solidFill>
                            <a:schemeClr val="tx1"/>
                          </a:solidFill>
                        </a:rPr>
                        <a:t>EnsJMG</a:t>
                      </a:r>
                      <a:endParaRPr lang="en-US" sz="1400" dirty="0"/>
                    </a:p>
                  </a:txBody>
                  <a:tcPr marL="91440" marR="91440" marT="27432" marB="27432"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400" dirty="0">
                          <a:solidFill>
                            <a:schemeClr val="tx1"/>
                          </a:solidFill>
                        </a:rPr>
                        <a:t>−0.011 [−0.018, −0.002]</a:t>
                      </a:r>
                      <a:endParaRPr lang="en-US" sz="1400" dirty="0"/>
                    </a:p>
                  </a:txBody>
                  <a:tcPr marL="91440" marR="91440" marT="27432" marB="27432"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6D5CC"/>
                    </a:solidFill>
                  </a:tcPr>
                </a:tc>
                <a:tc>
                  <a:txBody>
                    <a:bodyPr/>
                    <a:lstStyle/>
                    <a:p>
                      <a:pPr algn="ctr" indent="0" marL="0">
                        <a:buNone/>
                      </a:pPr>
                      <a:r>
                        <a:rPr lang="en-US" sz="1400" dirty="0">
                          <a:solidFill>
                            <a:schemeClr val="tx1"/>
                          </a:solidFill>
                        </a:rPr>
                        <a:t>−0.009 [−0.020, +0.008]</a:t>
                      </a:r>
                      <a:endParaRPr lang="en-US" sz="1400" dirty="0"/>
                    </a:p>
                  </a:txBody>
                  <a:tcPr marL="91440" marR="91440" marT="27432" marB="27432"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r>
              <a:tr h="429768">
                <a:tc>
                  <a:txBody>
                    <a:bodyPr/>
                    <a:lstStyle/>
                    <a:p>
                      <a:pPr indent="0" marL="0">
                        <a:buNone/>
                      </a:pPr>
                      <a:r>
                        <a:rPr lang="en-US" sz="1400" b="1" dirty="0">
                          <a:solidFill>
                            <a:schemeClr val="tx1"/>
                          </a:solidFill>
                        </a:rPr>
                        <a:t>EnsJMT</a:t>
                      </a:r>
                      <a:endParaRPr lang="en-US" sz="1400" dirty="0"/>
                    </a:p>
                  </a:txBody>
                  <a:tcPr marL="91440" marR="91440" marT="27432" marB="27432"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400" dirty="0">
                          <a:solidFill>
                            <a:schemeClr val="tx1"/>
                          </a:solidFill>
                        </a:rPr>
                        <a:t>−0.009 [−0.015, −0.002]</a:t>
                      </a:r>
                      <a:endParaRPr lang="en-US" sz="1400" dirty="0"/>
                    </a:p>
                  </a:txBody>
                  <a:tcPr marL="91440" marR="91440" marT="27432" marB="27432"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6D5CC"/>
                    </a:solidFill>
                  </a:tcPr>
                </a:tc>
                <a:tc>
                  <a:txBody>
                    <a:bodyPr/>
                    <a:lstStyle/>
                    <a:p>
                      <a:pPr algn="ctr" indent="0" marL="0">
                        <a:buNone/>
                      </a:pPr>
                      <a:r>
                        <a:rPr lang="en-US" sz="1400" dirty="0">
                          <a:solidFill>
                            <a:schemeClr val="tx1"/>
                          </a:solidFill>
                        </a:rPr>
                        <a:t>−0.004 [−0.015, +0.011]</a:t>
                      </a:r>
                      <a:endParaRPr lang="en-US" sz="1400" dirty="0"/>
                    </a:p>
                  </a:txBody>
                  <a:tcPr marL="91440" marR="91440" marT="27432" marB="27432"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r>
              <a:tr h="429768">
                <a:tc>
                  <a:txBody>
                    <a:bodyPr/>
                    <a:lstStyle/>
                    <a:p>
                      <a:pPr indent="0" marL="0">
                        <a:buNone/>
                      </a:pPr>
                      <a:r>
                        <a:rPr lang="en-US" sz="1400" b="1" dirty="0">
                          <a:solidFill>
                            <a:schemeClr val="tx1"/>
                          </a:solidFill>
                        </a:rPr>
                        <a:t>EnsBTC</a:t>
                      </a:r>
                      <a:endParaRPr lang="en-US" sz="1400" dirty="0"/>
                    </a:p>
                  </a:txBody>
                  <a:tcPr marL="91440" marR="91440" marT="27432" marB="27432"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EDF3F2"/>
                    </a:solidFill>
                  </a:tcPr>
                </a:tc>
                <a:tc>
                  <a:txBody>
                    <a:bodyPr/>
                    <a:lstStyle/>
                    <a:p>
                      <a:pPr algn="ctr" indent="0" marL="0">
                        <a:buNone/>
                      </a:pPr>
                      <a:r>
                        <a:rPr lang="en-US" sz="1400" dirty="0">
                          <a:solidFill>
                            <a:schemeClr val="tx1"/>
                          </a:solidFill>
                        </a:rPr>
                        <a:t>−0.012 [−0.020, −0.004]</a:t>
                      </a:r>
                      <a:endParaRPr lang="en-US" sz="1400" dirty="0"/>
                    </a:p>
                  </a:txBody>
                  <a:tcPr marL="91440" marR="91440" marT="27432" marB="27432"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6D5CC"/>
                    </a:solidFill>
                  </a:tcPr>
                </a:tc>
                <a:tc>
                  <a:txBody>
                    <a:bodyPr/>
                    <a:lstStyle/>
                    <a:p>
                      <a:pPr algn="ctr" indent="0" marL="0">
                        <a:buNone/>
                      </a:pPr>
                      <a:r>
                        <a:rPr lang="en-US" sz="1400" dirty="0">
                          <a:solidFill>
                            <a:schemeClr val="tx1"/>
                          </a:solidFill>
                        </a:rPr>
                        <a:t>−0.009 [−0.020, +0.009]</a:t>
                      </a:r>
                      <a:endParaRPr lang="en-US" sz="1400" dirty="0"/>
                    </a:p>
                  </a:txBody>
                  <a:tcPr marL="91440" marR="91440" marT="27432" marB="27432" anchor="ctr">
                    <a:lnL w="6350" cap="flat" cmpd="sng" algn="ctr">
                      <a:solidFill>
                        <a:srgbClr val="D5DDDC"/>
                      </a:solidFill>
                      <a:prstDash val="solid"/>
                      <a:round/>
                      <a:headEnd type="none" w="med" len="med"/>
                      <a:tailEnd type="none" w="med" len="med"/>
                    </a:lnL>
                    <a:lnR w="6350" cap="flat" cmpd="sng" algn="ctr">
                      <a:solidFill>
                        <a:srgbClr val="D5DDDC"/>
                      </a:solidFill>
                      <a:prstDash val="solid"/>
                      <a:round/>
                      <a:headEnd type="none" w="med" len="med"/>
                      <a:tailEnd type="none" w="med" len="med"/>
                    </a:lnR>
                    <a:lnT w="6350" cap="flat" cmpd="sng" algn="ctr">
                      <a:solidFill>
                        <a:srgbClr val="D5DDDC"/>
                      </a:solidFill>
                      <a:prstDash val="solid"/>
                      <a:round/>
                      <a:headEnd type="none" w="med" len="med"/>
                      <a:tailEnd type="none" w="med" len="med"/>
                    </a:lnT>
                    <a:lnB w="6350" cap="flat" cmpd="sng" algn="ctr">
                      <a:solidFill>
                        <a:srgbClr val="D5DDDC"/>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532120"/>
            <a:ext cx="274320" cy="228600"/>
          </a:xfrm>
          <a:prstGeom prst="rect">
            <a:avLst/>
          </a:prstGeom>
          <a:solidFill>
            <a:srgbClr val="F6D5CC"/>
          </a:solidFill>
          <a:ln w="6350">
            <a:solidFill>
              <a:srgbClr val="D5DDDC"/>
            </a:solidFill>
            <a:prstDash val="solid"/>
          </a:ln>
        </p:spPr>
      </p:sp>
      <p:sp>
        <p:nvSpPr>
          <p:cNvPr id="6" name="Text 3"/>
          <p:cNvSpPr txBox="1"/>
          <p:nvPr/>
        </p:nvSpPr>
        <p:spPr>
          <a:xfrm>
            <a:off x="914400" y="5513832"/>
            <a:ext cx="3840480" cy="274320"/>
          </a:xfrm>
          <a:prstGeom prst="rect">
            <a:avLst/>
          </a:prstGeom>
          <a:noFill/>
          <a:ln/>
        </p:spPr>
        <p:txBody>
          <a:bodyPr wrap="square" lIns="0" tIns="0" rIns="0" bIns="0" rtlCol="0" anchor="ctr"/>
          <a:lstStyle/>
          <a:p>
            <a:pPr indent="0" marL="0">
              <a:buNone/>
            </a:pPr>
            <a:r>
              <a:rPr lang="en-US" sz="1200" dirty="0">
                <a:solidFill>
                  <a:schemeClr val="tx1"/>
                </a:solidFill>
              </a:rPr>
              <a:t>CI below zero: a measurable cost</a:t>
            </a:r>
            <a:endParaRPr lang="en-US" sz="1200" dirty="0"/>
          </a:p>
        </p:txBody>
      </p:sp>
      <p:sp>
        <p:nvSpPr>
          <p:cNvPr id="7" name="Shape 4"/>
          <p:cNvSpPr/>
          <p:nvPr/>
        </p:nvSpPr>
        <p:spPr>
          <a:xfrm>
            <a:off x="4937760" y="5532120"/>
            <a:ext cx="274320" cy="228600"/>
          </a:xfrm>
          <a:prstGeom prst="rect">
            <a:avLst/>
          </a:prstGeom>
          <a:solidFill>
            <a:srgbClr val="FFFFFF"/>
          </a:solidFill>
          <a:ln w="6350">
            <a:solidFill>
              <a:srgbClr val="D5DDDC"/>
            </a:solidFill>
            <a:prstDash val="solid"/>
          </a:ln>
        </p:spPr>
      </p:sp>
      <p:sp>
        <p:nvSpPr>
          <p:cNvPr id="8" name="Text 5"/>
          <p:cNvSpPr txBox="1"/>
          <p:nvPr/>
        </p:nvSpPr>
        <p:spPr>
          <a:xfrm>
            <a:off x="5303520" y="5513832"/>
            <a:ext cx="4572000" cy="274320"/>
          </a:xfrm>
          <a:prstGeom prst="rect">
            <a:avLst/>
          </a:prstGeom>
          <a:noFill/>
          <a:ln/>
        </p:spPr>
        <p:txBody>
          <a:bodyPr wrap="square" lIns="0" tIns="0" rIns="0" bIns="0" rtlCol="0" anchor="ctr"/>
          <a:lstStyle/>
          <a:p>
            <a:pPr indent="0" marL="0">
              <a:buNone/>
            </a:pPr>
            <a:r>
              <a:rPr lang="en-US" sz="1200" dirty="0">
                <a:solidFill>
                  <a:schemeClr val="tx1"/>
                </a:solidFill>
              </a:rPr>
              <a:t>CI includes zero: no measurable cost</a:t>
            </a:r>
            <a:endParaRPr lang="en-US" sz="1200" dirty="0"/>
          </a:p>
        </p:txBody>
      </p:sp>
      <p:sp>
        <p:nvSpPr>
          <p:cNvPr id="9" name="Text 6"/>
          <p:cNvSpPr txBox="1"/>
          <p:nvPr/>
        </p:nvSpPr>
        <p:spPr>
          <a:xfrm>
            <a:off x="548640" y="5897880"/>
            <a:ext cx="11094415" cy="274320"/>
          </a:xfrm>
          <a:prstGeom prst="rect">
            <a:avLst/>
          </a:prstGeom>
          <a:noFill/>
          <a:ln/>
        </p:spPr>
        <p:txBody>
          <a:bodyPr wrap="square" lIns="0" tIns="0" rIns="0" bIns="0" rtlCol="0" anchor="t"/>
          <a:lstStyle/>
          <a:p>
            <a:pPr indent="0" marL="0">
              <a:buNone/>
            </a:pPr>
            <a:r>
              <a:rPr lang="en-US" sz="1100" dirty="0">
                <a:solidFill>
                  <a:schemeClr val="accent4"/>
                </a:solidFill>
              </a:rPr>
              <a:t>Defended minus undefended mAP on clean images, N = 1,000, paired bootstrap (B = 1,000).</a:t>
            </a:r>
            <a:endParaRPr lang="en-US" sz="11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BACKUP</a:t>
            </a:r>
            <a:endParaRPr lang="en-US" sz="1200" dirty="0"/>
          </a:p>
        </p:txBody>
      </p:sp>
      <p:sp>
        <p:nvSpPr>
          <p:cNvPr id="3" name="Text 0"/>
          <p:cNvSpPr/>
          <p:nvPr>
            <p:ph idx="101"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Attack details and budgets</a:t>
            </a:r>
            <a:endParaRPr lang="en-US" sz="3200" dirty="0"/>
          </a:p>
        </p:txBody>
      </p:sp>
      <p:pic>
        <p:nvPicPr>
          <p:cNvPr id="4" name="Image 0" descr="Original image, adversarial image at epsilon 0.03, and their difference magnified ten times">    </p:cNvPr>
          <p:cNvPicPr>
            <a:picLocks noChangeAspect="1"/>
          </p:cNvPicPr>
          <p:nvPr/>
        </p:nvPicPr>
        <p:blipFill>
          <a:blip r:embed="rId1"/>
          <a:stretch>
            <a:fillRect/>
          </a:stretch>
        </p:blipFill>
        <p:spPr>
          <a:xfrm>
            <a:off x="548640" y="1371600"/>
            <a:ext cx="11094415" cy="2652743"/>
          </a:xfrm>
          <a:prstGeom prst="rect">
            <a:avLst/>
          </a:prstGeom>
        </p:spPr>
      </p:pic>
      <p:sp>
        <p:nvSpPr>
          <p:cNvPr id="5" name="Text 2"/>
          <p:cNvSpPr txBox="1"/>
          <p:nvPr/>
        </p:nvSpPr>
        <p:spPr>
          <a:xfrm>
            <a:off x="548640" y="4070063"/>
            <a:ext cx="11094415" cy="274320"/>
          </a:xfrm>
          <a:prstGeom prst="rect">
            <a:avLst/>
          </a:prstGeom>
          <a:noFill/>
          <a:ln/>
        </p:spPr>
        <p:txBody>
          <a:bodyPr wrap="square" lIns="0" tIns="0" rIns="0" bIns="0" rtlCol="0" anchor="t"/>
          <a:lstStyle/>
          <a:p>
            <a:pPr indent="0" marL="0">
              <a:buNone/>
            </a:pPr>
            <a:r>
              <a:rPr lang="en-US" sz="1100" dirty="0">
                <a:solidFill>
                  <a:schemeClr val="accent4"/>
                </a:solidFill>
              </a:rPr>
              <a:t>FGSM example from our paper: original, adversarial (ε = 0.03), difference ×10.</a:t>
            </a:r>
            <a:endParaRPr lang="en-US" sz="1100" dirty="0"/>
          </a:p>
        </p:txBody>
      </p:sp>
      <p:sp>
        <p:nvSpPr>
          <p:cNvPr id="6" name="Shape 3"/>
          <p:cNvSpPr/>
          <p:nvPr/>
        </p:nvSpPr>
        <p:spPr>
          <a:xfrm>
            <a:off x="548640" y="4434840"/>
            <a:ext cx="5432908" cy="1783080"/>
          </a:xfrm>
          <a:prstGeom prst="roundRect">
            <a:avLst>
              <a:gd name="adj" fmla="val 4103"/>
            </a:avLst>
          </a:prstGeom>
          <a:solidFill>
            <a:schemeClr val="bg2"/>
          </a:solidFill>
          <a:ln/>
          <a:effectLst>
            <a:outerShdw sx="100000" sy="100000" kx="0" ky="0" algn="bl" rotWithShape="0" blurRad="76200" dist="25400" dir="5400000">
              <a:srgbClr val="1B1F24">
                <a:alpha val="12000"/>
              </a:srgbClr>
            </a:outerShdw>
          </a:effectLst>
        </p:spPr>
      </p:sp>
      <p:sp>
        <p:nvSpPr>
          <p:cNvPr id="7" name="Shape 4"/>
          <p:cNvSpPr/>
          <p:nvPr/>
        </p:nvSpPr>
        <p:spPr>
          <a:xfrm>
            <a:off x="777240" y="4617720"/>
            <a:ext cx="457200" cy="457200"/>
          </a:xfrm>
          <a:prstGeom prst="ellipse">
            <a:avLst/>
          </a:prstGeom>
          <a:solidFill>
            <a:schemeClr val="accent5"/>
          </a:solidFill>
          <a:ln/>
        </p:spPr>
      </p:sp>
      <p:pic>
        <p:nvPicPr>
          <p:cNvPr id="8" name="Image 1" descr="FaBrain">    </p:cNvPr>
          <p:cNvPicPr>
            <a:picLocks noChangeAspect="1"/>
          </p:cNvPicPr>
          <p:nvPr/>
        </p:nvPicPr>
        <p:blipFill>
          <a:blip r:embed="rId2"/>
          <a:stretch>
            <a:fillRect/>
          </a:stretch>
        </p:blipFill>
        <p:spPr>
          <a:xfrm>
            <a:off x="886968" y="4727448"/>
            <a:ext cx="237744" cy="237744"/>
          </a:xfrm>
          <a:prstGeom prst="rect">
            <a:avLst/>
          </a:prstGeom>
        </p:spPr>
      </p:pic>
      <p:sp>
        <p:nvSpPr>
          <p:cNvPr id="9" name="Text 5"/>
          <p:cNvSpPr txBox="1"/>
          <p:nvPr/>
        </p:nvSpPr>
        <p:spPr>
          <a:xfrm>
            <a:off x="1417320" y="4636008"/>
            <a:ext cx="4335628" cy="411480"/>
          </a:xfrm>
          <a:prstGeom prst="rect">
            <a:avLst/>
          </a:prstGeom>
          <a:noFill/>
          <a:ln/>
        </p:spPr>
        <p:txBody>
          <a:bodyPr wrap="square" lIns="0" tIns="0" rIns="0" bIns="0" rtlCol="0" anchor="ctr"/>
          <a:lstStyle/>
          <a:p>
            <a:pPr indent="0" marL="0">
              <a:buNone/>
            </a:pPr>
            <a:r>
              <a:rPr lang="en-US" sz="1600" b="1" dirty="0">
                <a:solidFill>
                  <a:schemeClr val="tx1"/>
                </a:solidFill>
              </a:rPr>
              <a:t>Florence-2</a:t>
            </a:r>
            <a:endParaRPr lang="en-US" sz="1600" dirty="0"/>
          </a:p>
        </p:txBody>
      </p:sp>
      <p:sp>
        <p:nvSpPr>
          <p:cNvPr id="10" name="Text 6"/>
          <p:cNvSpPr txBox="1"/>
          <p:nvPr/>
        </p:nvSpPr>
        <p:spPr>
          <a:xfrm>
            <a:off x="1417320" y="5120640"/>
            <a:ext cx="4335628" cy="1051560"/>
          </a:xfrm>
          <a:prstGeom prst="rect">
            <a:avLst/>
          </a:prstGeom>
          <a:noFill/>
          <a:ln/>
        </p:spPr>
        <p:txBody>
          <a:bodyPr wrap="square" lIns="0" tIns="0" rIns="0" bIns="0" rtlCol="0" anchor="t"/>
          <a:lstStyle/>
          <a:p>
            <a:pPr marL="177800" indent="-177800">
              <a:spcAft>
                <a:spcPts val="200"/>
              </a:spcAft>
              <a:buSzPct val="100000"/>
              <a:buChar char="•"/>
            </a:pPr>
            <a:r>
              <a:rPr lang="en-US" sz="1300" dirty="0">
                <a:solidFill>
                  <a:schemeClr val="tx1"/>
                </a:solidFill>
              </a:rPr>
              <a:t>Loss: token cross-entropy against its own clean output</a:t>
            </a:r>
            <a:endParaRPr lang="en-US" sz="1300" dirty="0"/>
          </a:p>
          <a:p>
            <a:pPr marL="177800" indent="-177800">
              <a:spcAft>
                <a:spcPts val="200"/>
              </a:spcAft>
              <a:buSzPct val="100000"/>
              <a:buChar char="•"/>
            </a:pPr>
            <a:r>
              <a:rPr lang="en-US" sz="1300" dirty="0">
                <a:solidFill>
                  <a:schemeClr val="tx1"/>
                </a:solidFill>
              </a:rPr>
              <a:t>Normalized space: ε = 0.03 ≈ 1.7/255 in pixels</a:t>
            </a:r>
            <a:endParaRPr lang="en-US" sz="1300" dirty="0"/>
          </a:p>
          <a:p>
            <a:pPr marL="177800" indent="-177800">
              <a:spcAft>
                <a:spcPts val="200"/>
              </a:spcAft>
              <a:buSzPct val="100000"/>
              <a:buChar char="•"/>
            </a:pPr>
            <a:r>
              <a:rPr lang="en-US" sz="1300" dirty="0">
                <a:solidFill>
                  <a:schemeClr val="tx1"/>
                </a:solidFill>
              </a:rPr>
              <a:t>PGD step α = ε/4 (5,000-image runs)</a:t>
            </a:r>
            <a:endParaRPr lang="en-US" sz="1300" dirty="0"/>
          </a:p>
        </p:txBody>
      </p:sp>
      <p:sp>
        <p:nvSpPr>
          <p:cNvPr id="11" name="Shape 7"/>
          <p:cNvSpPr/>
          <p:nvPr/>
        </p:nvSpPr>
        <p:spPr>
          <a:xfrm>
            <a:off x="6210148" y="4434840"/>
            <a:ext cx="5432908" cy="1783080"/>
          </a:xfrm>
          <a:prstGeom prst="roundRect">
            <a:avLst>
              <a:gd name="adj" fmla="val 4103"/>
            </a:avLst>
          </a:prstGeom>
          <a:solidFill>
            <a:schemeClr val="bg2"/>
          </a:solidFill>
          <a:ln/>
          <a:effectLst>
            <a:outerShdw sx="100000" sy="100000" kx="0" ky="0" algn="bl" rotWithShape="0" blurRad="76200" dist="25400" dir="5400000">
              <a:srgbClr val="1B1F24">
                <a:alpha val="12000"/>
              </a:srgbClr>
            </a:outerShdw>
          </a:effectLst>
        </p:spPr>
      </p:sp>
      <p:sp>
        <p:nvSpPr>
          <p:cNvPr id="12" name="Shape 8"/>
          <p:cNvSpPr/>
          <p:nvPr/>
        </p:nvSpPr>
        <p:spPr>
          <a:xfrm>
            <a:off x="6438748" y="4617720"/>
            <a:ext cx="457200" cy="457200"/>
          </a:xfrm>
          <a:prstGeom prst="ellipse">
            <a:avLst/>
          </a:prstGeom>
          <a:solidFill>
            <a:schemeClr val="accent2"/>
          </a:solidFill>
          <a:ln/>
        </p:spPr>
      </p:sp>
      <p:pic>
        <p:nvPicPr>
          <p:cNvPr id="13" name="Image 2" descr="FaBullseye">    </p:cNvPr>
          <p:cNvPicPr>
            <a:picLocks noChangeAspect="1"/>
          </p:cNvPicPr>
          <p:nvPr/>
        </p:nvPicPr>
        <p:blipFill>
          <a:blip r:embed="rId3"/>
          <a:stretch>
            <a:fillRect/>
          </a:stretch>
        </p:blipFill>
        <p:spPr>
          <a:xfrm>
            <a:off x="6548476" y="4727448"/>
            <a:ext cx="237744" cy="237744"/>
          </a:xfrm>
          <a:prstGeom prst="rect">
            <a:avLst/>
          </a:prstGeom>
        </p:spPr>
      </p:pic>
      <p:sp>
        <p:nvSpPr>
          <p:cNvPr id="14" name="Text 9"/>
          <p:cNvSpPr txBox="1"/>
          <p:nvPr/>
        </p:nvSpPr>
        <p:spPr>
          <a:xfrm>
            <a:off x="7078828" y="4636008"/>
            <a:ext cx="4335628" cy="411480"/>
          </a:xfrm>
          <a:prstGeom prst="rect">
            <a:avLst/>
          </a:prstGeom>
          <a:noFill/>
          <a:ln/>
        </p:spPr>
        <p:txBody>
          <a:bodyPr wrap="square" lIns="0" tIns="0" rIns="0" bIns="0" rtlCol="0" anchor="ctr"/>
          <a:lstStyle/>
          <a:p>
            <a:pPr indent="0" marL="0">
              <a:buNone/>
            </a:pPr>
            <a:r>
              <a:rPr lang="en-US" sz="1600" b="1" dirty="0">
                <a:solidFill>
                  <a:schemeClr val="tx1"/>
                </a:solidFill>
              </a:rPr>
              <a:t>YOLO-World</a:t>
            </a:r>
            <a:endParaRPr lang="en-US" sz="1600" dirty="0"/>
          </a:p>
        </p:txBody>
      </p:sp>
      <p:sp>
        <p:nvSpPr>
          <p:cNvPr id="15" name="Text 10"/>
          <p:cNvSpPr txBox="1"/>
          <p:nvPr/>
        </p:nvSpPr>
        <p:spPr>
          <a:xfrm>
            <a:off x="7078828" y="5120640"/>
            <a:ext cx="4335628" cy="1051560"/>
          </a:xfrm>
          <a:prstGeom prst="rect">
            <a:avLst/>
          </a:prstGeom>
          <a:noFill/>
          <a:ln/>
        </p:spPr>
        <p:txBody>
          <a:bodyPr wrap="square" lIns="0" tIns="0" rIns="0" bIns="0" rtlCol="0" anchor="t"/>
          <a:lstStyle/>
          <a:p>
            <a:pPr marL="177800" indent="-177800">
              <a:spcAft>
                <a:spcPts val="200"/>
              </a:spcAft>
              <a:buSzPct val="100000"/>
              <a:buChar char="•"/>
            </a:pPr>
            <a:r>
              <a:rPr lang="en-US" sz="1300" dirty="0">
                <a:solidFill>
                  <a:schemeClr val="tx1"/>
                </a:solidFill>
              </a:rPr>
              <a:t>Loss: lower the top-class confidence at all 8,400 anchors</a:t>
            </a:r>
            <a:endParaRPr lang="en-US" sz="1300" dirty="0"/>
          </a:p>
          <a:p>
            <a:pPr marL="177800" indent="-177800">
              <a:spcAft>
                <a:spcPts val="200"/>
              </a:spcAft>
              <a:buSzPct val="100000"/>
              <a:buChar char="•"/>
            </a:pPr>
            <a:r>
              <a:rPr lang="en-US" sz="1300" dirty="0">
                <a:solidFill>
                  <a:schemeClr val="tx1"/>
                </a:solidFill>
              </a:rPr>
              <a:t>Raw [0, 1]: ε = 0.03 = 7.65/255, ~4.4× Florence's budget</a:t>
            </a:r>
            <a:endParaRPr lang="en-US" sz="1300" dirty="0"/>
          </a:p>
          <a:p>
            <a:pPr marL="177800" indent="-177800">
              <a:spcAft>
                <a:spcPts val="200"/>
              </a:spcAft>
              <a:buSzPct val="100000"/>
              <a:buChar char="•"/>
            </a:pPr>
            <a:r>
              <a:rPr lang="en-US" sz="1300" dirty="0">
                <a:solidFill>
                  <a:schemeClr val="tx1"/>
                </a:solidFill>
              </a:rPr>
              <a:t>Patch: 35×35 at the centre, 100 Adam steps, lr 0.02</a:t>
            </a:r>
            <a:endParaRPr lang="en-US" sz="13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Robustness Review">
  <a:themeElements>
    <a:clrScheme name="Robustness Review">
      <a:dk1>
        <a:srgbClr val="1B1F24"/>
      </a:dk1>
      <a:lt1>
        <a:srgbClr val="FFFFFF"/>
      </a:lt1>
      <a:dk2>
        <a:srgbClr val="13303A"/>
      </a:dk2>
      <a:lt2>
        <a:srgbClr val="EDF3F2"/>
      </a:lt2>
      <a:accent1>
        <a:srgbClr val="0F7C78"/>
      </a:accent1>
      <a:accent2>
        <a:srgbClr val="D9482B"/>
      </a:accent2>
      <a:accent3>
        <a:srgbClr val="E9A23B"/>
      </a:accent3>
      <a:accent4>
        <a:srgbClr val="6B7785"/>
      </a:accent4>
      <a:accent5>
        <a:srgbClr val="1F4E5F"/>
      </a:accent5>
      <a:accent6>
        <a:srgbClr val="A8D0CB"/>
      </a:accent6>
      <a:hlink>
        <a:srgbClr val="0F7C78"/>
      </a:hlink>
      <a:folHlink>
        <a:srgbClr val="6B7785"/>
      </a:folHlink>
    </a:clrScheme>
    <a:fontScheme name="Robustness Review">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plug-and-play shield against adversarial attacks: research discussion</dc:title>
  <dc:subject>PptxGenJS Presentation</dc:subject>
  <dc:creator>PptxGenJS</dc:creator>
  <cp:lastModifiedBy>PptxGenJS</cp:lastModifiedBy>
  <cp:revision>1</cp:revision>
  <dcterms:created xsi:type="dcterms:W3CDTF">2026-10-26T11:14:25Z</dcterms:created>
  <dcterms:modified xsi:type="dcterms:W3CDTF">2026-10-26T11:14:25Z</dcterms:modified>
</cp:coreProperties>
</file>